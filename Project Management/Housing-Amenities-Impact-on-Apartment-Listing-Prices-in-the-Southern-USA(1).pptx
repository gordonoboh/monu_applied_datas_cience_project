
<file path=[Content_Types].xml><?xml version="1.0" encoding="utf-8"?>
<Types xmlns="http://schemas.openxmlformats.org/package/2006/content-types">
  <Default Extension="xml" ContentType="application/xml"/>
  <Default Extension="svg" ContentType="image/svg+xml"/>
  <Default Extension="jpg" ContentType="image/jpeg"/>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13.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slides/slide16.xml" ContentType="application/vnd.openxmlformats-officedocument.presentationml.slide+xml"/>
  <Override PartName="/ppt/slides/slide15.xml" ContentType="application/vnd.openxmlformats-officedocument.presentationml.slide+xml"/>
  <Override PartName="/ppt/notesSlides/notesSlide3.xml" ContentType="application/vnd.openxmlformats-officedocument.presentationml.notesSlide+xml"/>
  <Override PartName="/ppt/slides/slide14.xml" ContentType="application/vnd.openxmlformats-officedocument.presentationml.slide+xml"/>
  <Override PartName="/docProps/core.xml" ContentType="application/vnd.openxmlformats-package.core-properties+xml"/>
  <Override PartName="/ppt/slides/slide1.xml" ContentType="application/vnd.openxmlformats-officedocument.presentationml.slide+xml"/>
  <Override PartName="/ppt/slideMasters/slideMaster1.xml" ContentType="application/vnd.openxmlformats-officedocument.presentationml.slideMaster+xml"/>
  <Override PartName="/ppt/slides/slide2.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3.xml" ContentType="application/vnd.openxmlformats-officedocument.presentationml.slide+xml"/>
  <Override PartName="/ppt/theme/theme1.xml" ContentType="application/vnd.openxmlformats-officedocument.theme+xml"/>
  <Override PartName="/ppt/slides/slide13.xml" ContentType="application/vnd.openxmlformats-officedocument.presentationml.slide+xml"/>
  <Override PartName="/ppt/slides/slide6.xml" ContentType="application/vnd.openxmlformats-officedocument.presentationml.slide+xml"/>
  <Override PartName="/ppt/slides/slide11.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slideLayouts/slideLayout1.xml" ContentType="application/vnd.openxmlformats-officedocument.presentationml.slideLayout+xml"/>
  <Override PartName="/ppt/presProps.xml" ContentType="application/vnd.openxmlformats-officedocument.presentationml.presProps+xml"/>
  <Override PartName="/ppt/notesSlides/notesSlide17.xml" ContentType="application/vnd.openxmlformats-officedocument.presentationml.notesSlide+xml"/>
  <Override PartName="/ppt/slideLayouts/slideLayout2.xml" ContentType="application/vnd.openxmlformats-officedocument.presentationml.slideLayout+xml"/>
  <Override PartName="/ppt/viewProps.xml" ContentType="application/vnd.openxmlformats-officedocument.presentationml.viewProps+xml"/>
  <Override PartName="/ppt/slides/slide17.xml" ContentType="application/vnd.openxmlformats-officedocument.presentationml.slide+xml"/>
  <Override PartName="/docProps/app.xml" ContentType="application/vnd.openxmlformats-officedocument.extended-properties+xml"/>
  <Override PartName="/ppt/tableStyles.xml" ContentType="application/vnd.openxmlformats-officedocument.presentationml.tableStyles+xml"/>
  <Override PartName="/ppt/slides/slide4.xml" ContentType="application/vnd.openxmlformats-officedocument.presentationml.slide+xml"/>
  <Override PartName="/ppt/slides/slide5.xml" ContentType="application/vnd.openxmlformats-officedocument.presentationml.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slides/slide7.xml" ContentType="application/vnd.openxmlformats-officedocument.presentationml.slide+xml"/>
  <Override PartName="/ppt/notesSlides/notesSlide8.xml" ContentType="application/vnd.openxmlformats-officedocument.presentationml.notesSlide+xml"/>
  <Override PartName="/ppt/presentation.xml" ContentType="application/vnd.openxmlformats-officedocument.presentationml.presentation.main+xml"/>
  <Override PartName="/ppt/slides/slide8.xml" ContentType="application/vnd.openxmlformats-officedocument.presentationml.slide+xml"/>
  <Override PartName="/ppt/notesSlides/notesSlide1.xml" ContentType="application/vnd.openxmlformats-officedocument.presentationml.notesSlide+xml"/>
  <Override PartName="/ppt/slides/slide9.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embedTrueTypeFonts="1" saveSubsetFonts="1">
  <p:sldMasterIdLst>
    <p:sldMasterId id="2147483648" r:id="rId1"/>
  </p:sldMasterIdLst>
  <p:notesMasterIdLst>
    <p:notesMasterId r:id="rId20"/>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Lst>
  <p:sldSz cx="9144000" cy="5143500"/>
  <p:notesSz cx="5143500" cy="9144000"/>
  <p:defaultTextStyle>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36" d="100"/>
          <a:sy n="136" d="100"/>
        </p:scale>
        <p:origin x="216" y="312"/>
      </p:cViewPr>
      <p:guideLst>
        <p:guide pos="2880"/>
        <p:guide pos="1620" orient="horz"/>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notesMaster" Target="notesMasters/notesMaster1.xml"/><Relationship Id="rId21" Type="http://schemas.openxmlformats.org/officeDocument/2006/relationships/presProps" Target="presProps.xml" /><Relationship Id="rId22" Type="http://schemas.openxmlformats.org/officeDocument/2006/relationships/tableStyles" Target="tableStyles.xml" /><Relationship Id="rId23"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533659049"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2101315310"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5282F153-3F37-0F45-9E97-73ACFA13230C}" type="datetimeFigureOut">
              <a:rPr lang="en-US"/>
              <a:t>7/23/19</a:t>
            </a:fld>
            <a:endParaRPr lang="en-US"/>
          </a:p>
        </p:txBody>
      </p:sp>
      <p:sp>
        <p:nvSpPr>
          <p:cNvPr id="660545865"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468695116"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472432891"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128324268"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35291849" name="Slide Image Placeholder 1"/>
          <p:cNvSpPr>
            <a:spLocks noChangeAspect="1" noGrp="1" noRot="1"/>
          </p:cNvSpPr>
          <p:nvPr>
            <p:ph type="sldImg"/>
          </p:nvPr>
        </p:nvSpPr>
        <p:spPr bwMode="auto"/>
      </p:sp>
      <p:sp>
        <p:nvSpPr>
          <p:cNvPr id="1432506803" name="Notes Placeholder 2"/>
          <p:cNvSpPr>
            <a:spLocks noGrp="1"/>
          </p:cNvSpPr>
          <p:nvPr>
            <p:ph type="body" idx="1"/>
          </p:nvPr>
        </p:nvSpPr>
        <p:spPr bwMode="auto"/>
        <p:txBody>
          <a:bodyPr/>
          <a:lstStyle/>
          <a:p>
            <a:pPr>
              <a:defRPr/>
            </a:pPr>
            <a:endParaRPr lang="en-US"/>
          </a:p>
        </p:txBody>
      </p:sp>
      <p:sp>
        <p:nvSpPr>
          <p:cNvPr id="2139855522" name="Slide Number Placeholder 3"/>
          <p:cNvSpPr>
            <a:spLocks noGrp="1"/>
          </p:cNvSpPr>
          <p:nvPr>
            <p:ph type="sldNum" sz="quarter" idx="10"/>
          </p:nvPr>
        </p:nvSpPr>
        <p:spPr bwMode="auto"/>
        <p:txBody>
          <a:bodyPr/>
          <a:lstStyle/>
          <a:p>
            <a:pPr>
              <a:defRPr/>
            </a:pPr>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62192977" name="Slide Image Placeholder 1"/>
          <p:cNvSpPr>
            <a:spLocks noChangeAspect="1" noGrp="1" noRot="1"/>
          </p:cNvSpPr>
          <p:nvPr>
            <p:ph type="sldImg"/>
          </p:nvPr>
        </p:nvSpPr>
        <p:spPr bwMode="auto"/>
      </p:sp>
      <p:sp>
        <p:nvSpPr>
          <p:cNvPr id="280272457" name="Notes Placeholder 2"/>
          <p:cNvSpPr>
            <a:spLocks noGrp="1"/>
          </p:cNvSpPr>
          <p:nvPr>
            <p:ph type="body" idx="1"/>
          </p:nvPr>
        </p:nvSpPr>
        <p:spPr bwMode="auto"/>
        <p:txBody>
          <a:bodyPr/>
          <a:lstStyle/>
          <a:p>
            <a:pPr>
              <a:defRPr/>
            </a:pPr>
            <a:endParaRPr lang="en-US"/>
          </a:p>
        </p:txBody>
      </p:sp>
      <p:sp>
        <p:nvSpPr>
          <p:cNvPr id="458943065" name="Slide Number Placeholder 3"/>
          <p:cNvSpPr>
            <a:spLocks noGrp="1"/>
          </p:cNvSpPr>
          <p:nvPr>
            <p:ph type="sldNum" sz="quarter" idx="10"/>
          </p:nvPr>
        </p:nvSpPr>
        <p:spPr bwMode="auto"/>
        <p:txBody>
          <a:bodyPr/>
          <a:lstStyle/>
          <a:p>
            <a:pPr>
              <a:defRPr/>
            </a:pPr>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07181157" name="Slide Image Placeholder 1"/>
          <p:cNvSpPr>
            <a:spLocks noChangeAspect="1" noGrp="1" noRot="1"/>
          </p:cNvSpPr>
          <p:nvPr>
            <p:ph type="sldImg"/>
          </p:nvPr>
        </p:nvSpPr>
        <p:spPr bwMode="auto"/>
      </p:sp>
      <p:sp>
        <p:nvSpPr>
          <p:cNvPr id="962522949" name="Notes Placeholder 2"/>
          <p:cNvSpPr>
            <a:spLocks noGrp="1"/>
          </p:cNvSpPr>
          <p:nvPr>
            <p:ph type="body" idx="1"/>
          </p:nvPr>
        </p:nvSpPr>
        <p:spPr bwMode="auto"/>
        <p:txBody>
          <a:bodyPr/>
          <a:lstStyle/>
          <a:p>
            <a:pPr>
              <a:defRPr/>
            </a:pPr>
            <a:endParaRPr lang="en-US"/>
          </a:p>
        </p:txBody>
      </p:sp>
      <p:sp>
        <p:nvSpPr>
          <p:cNvPr id="1001942573" name="Slide Number Placeholder 3"/>
          <p:cNvSpPr>
            <a:spLocks noGrp="1"/>
          </p:cNvSpPr>
          <p:nvPr>
            <p:ph type="sldNum" sz="quarter" idx="10"/>
          </p:nvPr>
        </p:nvSpPr>
        <p:spPr bwMode="auto"/>
        <p:txBody>
          <a:bodyPr/>
          <a:lstStyle/>
          <a:p>
            <a:pPr>
              <a:defRPr/>
            </a:pPr>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3734144" name="Slide Image Placeholder 1"/>
          <p:cNvSpPr>
            <a:spLocks noChangeAspect="1" noGrp="1" noRot="1"/>
          </p:cNvSpPr>
          <p:nvPr>
            <p:ph type="sldImg"/>
          </p:nvPr>
        </p:nvSpPr>
        <p:spPr bwMode="auto"/>
      </p:sp>
      <p:sp>
        <p:nvSpPr>
          <p:cNvPr id="1022935102" name="Notes Placeholder 2"/>
          <p:cNvSpPr>
            <a:spLocks noGrp="1"/>
          </p:cNvSpPr>
          <p:nvPr>
            <p:ph type="body" idx="1"/>
          </p:nvPr>
        </p:nvSpPr>
        <p:spPr bwMode="auto"/>
        <p:txBody>
          <a:bodyPr/>
          <a:lstStyle/>
          <a:p>
            <a:pPr>
              <a:defRPr/>
            </a:pPr>
            <a:endParaRPr lang="en-US"/>
          </a:p>
        </p:txBody>
      </p:sp>
      <p:sp>
        <p:nvSpPr>
          <p:cNvPr id="2126548746" name="Slide Number Placeholder 3"/>
          <p:cNvSpPr>
            <a:spLocks noGrp="1"/>
          </p:cNvSpPr>
          <p:nvPr>
            <p:ph type="sldNum" sz="quarter" idx="10"/>
          </p:nvPr>
        </p:nvSpPr>
        <p:spPr bwMode="auto"/>
        <p:txBody>
          <a:bodyPr/>
          <a:lstStyle/>
          <a:p>
            <a:pPr>
              <a:defRPr/>
            </a:pPr>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51368758" name="Slide Image Placeholder 1"/>
          <p:cNvSpPr>
            <a:spLocks noChangeAspect="1" noGrp="1" noRot="1"/>
          </p:cNvSpPr>
          <p:nvPr>
            <p:ph type="sldImg"/>
          </p:nvPr>
        </p:nvSpPr>
        <p:spPr bwMode="auto"/>
      </p:sp>
      <p:sp>
        <p:nvSpPr>
          <p:cNvPr id="190976281" name="Notes Placeholder 2"/>
          <p:cNvSpPr>
            <a:spLocks noGrp="1"/>
          </p:cNvSpPr>
          <p:nvPr>
            <p:ph type="body" idx="1"/>
          </p:nvPr>
        </p:nvSpPr>
        <p:spPr bwMode="auto"/>
        <p:txBody>
          <a:bodyPr/>
          <a:lstStyle/>
          <a:p>
            <a:pPr>
              <a:defRPr/>
            </a:pPr>
            <a:endParaRPr lang="en-US"/>
          </a:p>
        </p:txBody>
      </p:sp>
      <p:sp>
        <p:nvSpPr>
          <p:cNvPr id="1615033384" name="Slide Number Placeholder 3"/>
          <p:cNvSpPr>
            <a:spLocks noGrp="1"/>
          </p:cNvSpPr>
          <p:nvPr>
            <p:ph type="sldNum" sz="quarter" idx="10"/>
          </p:nvPr>
        </p:nvSpPr>
        <p:spPr bwMode="auto"/>
        <p:txBody>
          <a:bodyPr/>
          <a:lstStyle/>
          <a:p>
            <a:pPr>
              <a:defRPr/>
            </a:pPr>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13127397" name="Slide Image Placeholder 1"/>
          <p:cNvSpPr>
            <a:spLocks noChangeAspect="1" noGrp="1" noRot="1"/>
          </p:cNvSpPr>
          <p:nvPr>
            <p:ph type="sldImg"/>
          </p:nvPr>
        </p:nvSpPr>
        <p:spPr bwMode="auto"/>
      </p:sp>
      <p:sp>
        <p:nvSpPr>
          <p:cNvPr id="1005319834" name="Notes Placeholder 2"/>
          <p:cNvSpPr>
            <a:spLocks noGrp="1"/>
          </p:cNvSpPr>
          <p:nvPr>
            <p:ph type="body" idx="1"/>
          </p:nvPr>
        </p:nvSpPr>
        <p:spPr bwMode="auto"/>
        <p:txBody>
          <a:bodyPr/>
          <a:lstStyle/>
          <a:p>
            <a:pPr>
              <a:defRPr/>
            </a:pPr>
            <a:endParaRPr lang="en-US"/>
          </a:p>
        </p:txBody>
      </p:sp>
      <p:sp>
        <p:nvSpPr>
          <p:cNvPr id="1491218449" name="Slide Number Placeholder 3"/>
          <p:cNvSpPr>
            <a:spLocks noGrp="1"/>
          </p:cNvSpPr>
          <p:nvPr>
            <p:ph type="sldNum" sz="quarter" idx="10"/>
          </p:nvPr>
        </p:nvSpPr>
        <p:spPr bwMode="auto"/>
        <p:txBody>
          <a:bodyPr/>
          <a:lstStyle/>
          <a:p>
            <a:pPr>
              <a:defRPr/>
            </a:pPr>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19202888" name="Slide Image Placeholder 1"/>
          <p:cNvSpPr>
            <a:spLocks noChangeAspect="1" noGrp="1" noRot="1"/>
          </p:cNvSpPr>
          <p:nvPr>
            <p:ph type="sldImg"/>
          </p:nvPr>
        </p:nvSpPr>
        <p:spPr bwMode="auto"/>
      </p:sp>
      <p:sp>
        <p:nvSpPr>
          <p:cNvPr id="1736898152" name="Notes Placeholder 2"/>
          <p:cNvSpPr>
            <a:spLocks noGrp="1"/>
          </p:cNvSpPr>
          <p:nvPr>
            <p:ph type="body" idx="1"/>
          </p:nvPr>
        </p:nvSpPr>
        <p:spPr bwMode="auto"/>
        <p:txBody>
          <a:bodyPr/>
          <a:lstStyle/>
          <a:p>
            <a:pPr>
              <a:defRPr/>
            </a:pPr>
            <a:endParaRPr lang="en-US"/>
          </a:p>
        </p:txBody>
      </p:sp>
      <p:sp>
        <p:nvSpPr>
          <p:cNvPr id="866611860" name="Slide Number Placeholder 3"/>
          <p:cNvSpPr>
            <a:spLocks noGrp="1"/>
          </p:cNvSpPr>
          <p:nvPr>
            <p:ph type="sldNum" sz="quarter" idx="10"/>
          </p:nvPr>
        </p:nvSpPr>
        <p:spPr bwMode="auto"/>
        <p:txBody>
          <a:bodyPr/>
          <a:lstStyle/>
          <a:p>
            <a:pPr>
              <a:defRPr/>
            </a:pPr>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47491583" name="Slide Image Placeholder 1"/>
          <p:cNvSpPr>
            <a:spLocks noChangeAspect="1" noGrp="1" noRot="1"/>
          </p:cNvSpPr>
          <p:nvPr>
            <p:ph type="sldImg"/>
          </p:nvPr>
        </p:nvSpPr>
        <p:spPr bwMode="auto"/>
      </p:sp>
      <p:sp>
        <p:nvSpPr>
          <p:cNvPr id="1717934100" name="Notes Placeholder 2"/>
          <p:cNvSpPr>
            <a:spLocks noGrp="1"/>
          </p:cNvSpPr>
          <p:nvPr>
            <p:ph type="body" idx="1"/>
          </p:nvPr>
        </p:nvSpPr>
        <p:spPr bwMode="auto"/>
        <p:txBody>
          <a:bodyPr/>
          <a:lstStyle/>
          <a:p>
            <a:pPr>
              <a:defRPr/>
            </a:pPr>
            <a:endParaRPr lang="en-US"/>
          </a:p>
        </p:txBody>
      </p:sp>
      <p:sp>
        <p:nvSpPr>
          <p:cNvPr id="735219993" name="Slide Number Placeholder 3"/>
          <p:cNvSpPr>
            <a:spLocks noGrp="1"/>
          </p:cNvSpPr>
          <p:nvPr>
            <p:ph type="sldNum" sz="quarter" idx="10"/>
          </p:nvPr>
        </p:nvSpPr>
        <p:spPr bwMode="auto"/>
        <p:txBody>
          <a:bodyPr/>
          <a:lstStyle/>
          <a:p>
            <a:pPr>
              <a:defRPr/>
            </a:pPr>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84831204" name="Slide Image Placeholder 1"/>
          <p:cNvSpPr>
            <a:spLocks noChangeAspect="1" noGrp="1" noRot="1"/>
          </p:cNvSpPr>
          <p:nvPr>
            <p:ph type="sldImg"/>
          </p:nvPr>
        </p:nvSpPr>
        <p:spPr bwMode="auto"/>
      </p:sp>
      <p:sp>
        <p:nvSpPr>
          <p:cNvPr id="224708240" name="Notes Placeholder 2"/>
          <p:cNvSpPr>
            <a:spLocks noGrp="1"/>
          </p:cNvSpPr>
          <p:nvPr>
            <p:ph type="body" idx="1"/>
          </p:nvPr>
        </p:nvSpPr>
        <p:spPr bwMode="auto"/>
        <p:txBody>
          <a:bodyPr/>
          <a:lstStyle/>
          <a:p>
            <a:pPr>
              <a:defRPr/>
            </a:pPr>
            <a:endParaRPr lang="en-US"/>
          </a:p>
        </p:txBody>
      </p:sp>
      <p:sp>
        <p:nvSpPr>
          <p:cNvPr id="1961465498" name="Slide Number Placeholder 3"/>
          <p:cNvSpPr>
            <a:spLocks noGrp="1"/>
          </p:cNvSpPr>
          <p:nvPr>
            <p:ph type="sldNum" sz="quarter" idx="10"/>
          </p:nvPr>
        </p:nvSpPr>
        <p:spPr bwMode="auto"/>
        <p:txBody>
          <a:bodyPr/>
          <a:lstStyle/>
          <a:p>
            <a:pPr>
              <a:defRPr/>
            </a:pPr>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58352543" name="Slide Image Placeholder 1"/>
          <p:cNvSpPr>
            <a:spLocks noChangeAspect="1" noGrp="1" noRot="1"/>
          </p:cNvSpPr>
          <p:nvPr>
            <p:ph type="sldImg"/>
          </p:nvPr>
        </p:nvSpPr>
        <p:spPr bwMode="auto"/>
      </p:sp>
      <p:sp>
        <p:nvSpPr>
          <p:cNvPr id="970333876" name="Notes Placeholder 2"/>
          <p:cNvSpPr>
            <a:spLocks noGrp="1"/>
          </p:cNvSpPr>
          <p:nvPr>
            <p:ph type="body" idx="1"/>
          </p:nvPr>
        </p:nvSpPr>
        <p:spPr bwMode="auto"/>
        <p:txBody>
          <a:bodyPr/>
          <a:lstStyle/>
          <a:p>
            <a:pPr>
              <a:defRPr/>
            </a:pPr>
            <a:endParaRPr lang="en-US"/>
          </a:p>
        </p:txBody>
      </p:sp>
      <p:sp>
        <p:nvSpPr>
          <p:cNvPr id="2051409451" name="Slide Number Placeholder 3"/>
          <p:cNvSpPr>
            <a:spLocks noGrp="1"/>
          </p:cNvSpPr>
          <p:nvPr>
            <p:ph type="sldNum" sz="quarter" idx="10"/>
          </p:nvPr>
        </p:nvSpPr>
        <p:spPr bwMode="auto"/>
        <p:txBody>
          <a:bodyPr/>
          <a:lstStyle/>
          <a:p>
            <a:pPr>
              <a:defRPr/>
            </a:pPr>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94493607" name="Slide Image Placeholder 1"/>
          <p:cNvSpPr>
            <a:spLocks noChangeAspect="1" noGrp="1" noRot="1"/>
          </p:cNvSpPr>
          <p:nvPr>
            <p:ph type="sldImg"/>
          </p:nvPr>
        </p:nvSpPr>
        <p:spPr bwMode="auto"/>
      </p:sp>
      <p:sp>
        <p:nvSpPr>
          <p:cNvPr id="1785813011" name="Notes Placeholder 2"/>
          <p:cNvSpPr>
            <a:spLocks noGrp="1"/>
          </p:cNvSpPr>
          <p:nvPr>
            <p:ph type="body" idx="1"/>
          </p:nvPr>
        </p:nvSpPr>
        <p:spPr bwMode="auto"/>
        <p:txBody>
          <a:bodyPr/>
          <a:lstStyle/>
          <a:p>
            <a:pPr>
              <a:defRPr/>
            </a:pPr>
            <a:endParaRPr lang="en-US"/>
          </a:p>
        </p:txBody>
      </p:sp>
      <p:sp>
        <p:nvSpPr>
          <p:cNvPr id="1072746304" name="Slide Number Placeholder 3"/>
          <p:cNvSpPr>
            <a:spLocks noGrp="1"/>
          </p:cNvSpPr>
          <p:nvPr>
            <p:ph type="sldNum" sz="quarter" idx="10"/>
          </p:nvPr>
        </p:nvSpPr>
        <p:spPr bwMode="auto"/>
        <p:txBody>
          <a:bodyPr/>
          <a:lstStyle/>
          <a:p>
            <a:pPr>
              <a:defRPr/>
            </a:pPr>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55947902" name="Slide Image Placeholder 1"/>
          <p:cNvSpPr>
            <a:spLocks noChangeAspect="1" noGrp="1" noRot="1"/>
          </p:cNvSpPr>
          <p:nvPr>
            <p:ph type="sldImg"/>
          </p:nvPr>
        </p:nvSpPr>
        <p:spPr bwMode="auto"/>
      </p:sp>
      <p:sp>
        <p:nvSpPr>
          <p:cNvPr id="597432194" name="Notes Placeholder 2"/>
          <p:cNvSpPr>
            <a:spLocks noGrp="1"/>
          </p:cNvSpPr>
          <p:nvPr>
            <p:ph type="body" idx="1"/>
          </p:nvPr>
        </p:nvSpPr>
        <p:spPr bwMode="auto"/>
        <p:txBody>
          <a:bodyPr/>
          <a:lstStyle/>
          <a:p>
            <a:pPr>
              <a:defRPr/>
            </a:pPr>
            <a:endParaRPr lang="en-US"/>
          </a:p>
        </p:txBody>
      </p:sp>
      <p:sp>
        <p:nvSpPr>
          <p:cNvPr id="1327228170" name="Slide Number Placeholder 3"/>
          <p:cNvSpPr>
            <a:spLocks noGrp="1"/>
          </p:cNvSpPr>
          <p:nvPr>
            <p:ph type="sldNum" sz="quarter" idx="10"/>
          </p:nvPr>
        </p:nvSpPr>
        <p:spPr bwMode="auto"/>
        <p:txBody>
          <a:bodyPr/>
          <a:lstStyle/>
          <a:p>
            <a:pPr>
              <a:defRPr/>
            </a:pPr>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65388855" name="Slide Image Placeholder 1"/>
          <p:cNvSpPr>
            <a:spLocks noChangeAspect="1" noGrp="1" noRot="1"/>
          </p:cNvSpPr>
          <p:nvPr>
            <p:ph type="sldImg"/>
          </p:nvPr>
        </p:nvSpPr>
        <p:spPr bwMode="auto"/>
      </p:sp>
      <p:sp>
        <p:nvSpPr>
          <p:cNvPr id="1950166119" name="Notes Placeholder 2"/>
          <p:cNvSpPr>
            <a:spLocks noGrp="1"/>
          </p:cNvSpPr>
          <p:nvPr>
            <p:ph type="body" idx="1"/>
          </p:nvPr>
        </p:nvSpPr>
        <p:spPr bwMode="auto"/>
        <p:txBody>
          <a:bodyPr/>
          <a:lstStyle/>
          <a:p>
            <a:pPr>
              <a:defRPr/>
            </a:pPr>
            <a:endParaRPr lang="en-US"/>
          </a:p>
        </p:txBody>
      </p:sp>
      <p:sp>
        <p:nvSpPr>
          <p:cNvPr id="1468276212" name="Slide Number Placeholder 3"/>
          <p:cNvSpPr>
            <a:spLocks noGrp="1"/>
          </p:cNvSpPr>
          <p:nvPr>
            <p:ph type="sldNum" sz="quarter" idx="10"/>
          </p:nvPr>
        </p:nvSpPr>
        <p:spPr bwMode="auto"/>
        <p:txBody>
          <a:bodyPr/>
          <a:lstStyle/>
          <a:p>
            <a:pPr>
              <a:defRPr/>
            </a:pPr>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68758694" name="Slide Image Placeholder 1"/>
          <p:cNvSpPr>
            <a:spLocks noChangeAspect="1" noGrp="1" noRot="1"/>
          </p:cNvSpPr>
          <p:nvPr>
            <p:ph type="sldImg"/>
          </p:nvPr>
        </p:nvSpPr>
        <p:spPr bwMode="auto"/>
      </p:sp>
      <p:sp>
        <p:nvSpPr>
          <p:cNvPr id="650638339" name="Notes Placeholder 2"/>
          <p:cNvSpPr>
            <a:spLocks noGrp="1"/>
          </p:cNvSpPr>
          <p:nvPr>
            <p:ph type="body" idx="1"/>
          </p:nvPr>
        </p:nvSpPr>
        <p:spPr bwMode="auto"/>
        <p:txBody>
          <a:bodyPr/>
          <a:lstStyle/>
          <a:p>
            <a:pPr>
              <a:defRPr/>
            </a:pPr>
            <a:endParaRPr lang="en-US"/>
          </a:p>
        </p:txBody>
      </p:sp>
      <p:sp>
        <p:nvSpPr>
          <p:cNvPr id="1928285790" name="Slide Number Placeholder 3"/>
          <p:cNvSpPr>
            <a:spLocks noGrp="1"/>
          </p:cNvSpPr>
          <p:nvPr>
            <p:ph type="sldNum" sz="quarter" idx="10"/>
          </p:nvPr>
        </p:nvSpPr>
        <p:spPr bwMode="auto"/>
        <p:txBody>
          <a:bodyPr/>
          <a:lstStyle/>
          <a:p>
            <a:pPr>
              <a:defRPr/>
            </a:pPr>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08957072" name="Slide Image Placeholder 1"/>
          <p:cNvSpPr>
            <a:spLocks noChangeAspect="1" noGrp="1" noRot="1"/>
          </p:cNvSpPr>
          <p:nvPr>
            <p:ph type="sldImg"/>
          </p:nvPr>
        </p:nvSpPr>
        <p:spPr bwMode="auto"/>
      </p:sp>
      <p:sp>
        <p:nvSpPr>
          <p:cNvPr id="1545020826" name="Notes Placeholder 2"/>
          <p:cNvSpPr>
            <a:spLocks noGrp="1"/>
          </p:cNvSpPr>
          <p:nvPr>
            <p:ph type="body" idx="1"/>
          </p:nvPr>
        </p:nvSpPr>
        <p:spPr bwMode="auto"/>
        <p:txBody>
          <a:bodyPr/>
          <a:lstStyle/>
          <a:p>
            <a:pPr>
              <a:defRPr/>
            </a:pPr>
            <a:endParaRPr lang="en-US"/>
          </a:p>
        </p:txBody>
      </p:sp>
      <p:sp>
        <p:nvSpPr>
          <p:cNvPr id="1105999496" name="Slide Number Placeholder 3"/>
          <p:cNvSpPr>
            <a:spLocks noGrp="1"/>
          </p:cNvSpPr>
          <p:nvPr>
            <p:ph type="sldNum" sz="quarter" idx="10"/>
          </p:nvPr>
        </p:nvSpPr>
        <p:spPr bwMode="auto"/>
        <p:txBody>
          <a:bodyPr/>
          <a:lstStyle/>
          <a:p>
            <a:pPr>
              <a:defRPr/>
            </a:pPr>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57781784" name="Slide Image Placeholder 1"/>
          <p:cNvSpPr>
            <a:spLocks noChangeAspect="1" noGrp="1" noRot="1"/>
          </p:cNvSpPr>
          <p:nvPr>
            <p:ph type="sldImg"/>
          </p:nvPr>
        </p:nvSpPr>
        <p:spPr bwMode="auto"/>
      </p:sp>
      <p:sp>
        <p:nvSpPr>
          <p:cNvPr id="1344962424" name="Notes Placeholder 2"/>
          <p:cNvSpPr>
            <a:spLocks noGrp="1"/>
          </p:cNvSpPr>
          <p:nvPr>
            <p:ph type="body" idx="1"/>
          </p:nvPr>
        </p:nvSpPr>
        <p:spPr bwMode="auto"/>
        <p:txBody>
          <a:bodyPr/>
          <a:lstStyle/>
          <a:p>
            <a:pPr>
              <a:defRPr/>
            </a:pPr>
            <a:endParaRPr lang="en-US"/>
          </a:p>
        </p:txBody>
      </p:sp>
      <p:sp>
        <p:nvSpPr>
          <p:cNvPr id="1547332271" name="Slide Number Placeholder 3"/>
          <p:cNvSpPr>
            <a:spLocks noGrp="1"/>
          </p:cNvSpPr>
          <p:nvPr>
            <p:ph type="sldNum" sz="quarter" idx="10"/>
          </p:nvPr>
        </p:nvSpPr>
        <p:spPr bwMode="auto"/>
        <p:txBody>
          <a:bodyPr/>
          <a:lstStyle/>
          <a:p>
            <a:pPr>
              <a:defRPr/>
            </a:pPr>
            <a:fld id="{F7021451-1387-4CA6-816F-3879F97B5CBC}"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789312" name="Slide Image Placeholder 1"/>
          <p:cNvSpPr>
            <a:spLocks noChangeAspect="1" noGrp="1" noRot="1"/>
          </p:cNvSpPr>
          <p:nvPr>
            <p:ph type="sldImg"/>
          </p:nvPr>
        </p:nvSpPr>
        <p:spPr bwMode="auto"/>
      </p:sp>
      <p:sp>
        <p:nvSpPr>
          <p:cNvPr id="1528716514" name="Notes Placeholder 2"/>
          <p:cNvSpPr>
            <a:spLocks noGrp="1"/>
          </p:cNvSpPr>
          <p:nvPr>
            <p:ph type="body" idx="1"/>
          </p:nvPr>
        </p:nvSpPr>
        <p:spPr bwMode="auto"/>
        <p:txBody>
          <a:bodyPr/>
          <a:lstStyle/>
          <a:p>
            <a:pPr>
              <a:defRPr/>
            </a:pPr>
            <a:endParaRPr lang="en-US"/>
          </a:p>
        </p:txBody>
      </p:sp>
      <p:sp>
        <p:nvSpPr>
          <p:cNvPr id="309347216" name="Slide Number Placeholder 3"/>
          <p:cNvSpPr>
            <a:spLocks noGrp="1"/>
          </p:cNvSpPr>
          <p:nvPr>
            <p:ph type="sldNum" sz="quarter" idx="10"/>
          </p:nvPr>
        </p:nvSpPr>
        <p:spPr bwMode="auto"/>
        <p:txBody>
          <a:bodyPr/>
          <a:lstStyle/>
          <a:p>
            <a:pPr>
              <a:defRPr/>
            </a:pPr>
            <a:fld id="{F7021451-1387-4CA6-816F-3879F97B5CBC}" type="slidenum">
              <a:rPr lang="en-US"/>
              <a:t>17</a:t>
            </a:fld>
            <a:endParaRPr lang="en-US"/>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DEFAULT">
    <p:bg>
      <p:bgRef idx="1001">
        <a:schemeClr val="bg1"/>
      </p:bgRef>
    </p:bg>
    <p:spTree>
      <p:nvGrpSpPr>
        <p:cNvPr id="1" name=""/>
        <p:cNvGrpSpPr/>
        <p:nvPr/>
      </p:nvGrpSpPr>
      <p:grpSpPr bwMode="auto">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Slide master 1">
    <p:spTree>
      <p:nvGrpSpPr>
        <p:cNvPr id="1" name=""/>
        <p:cNvGrpSpPr/>
        <p:nvPr/>
      </p:nvGrpSpPr>
      <p:grpSpPr bwMode="auto">
        <a:xfrm>
          <a:off x="0" y="0"/>
          <a:ext cx="0" cy="0"/>
          <a:chOff x="0" y="0"/>
          <a:chExt cx="0" cy="0"/>
        </a:xfrm>
      </p:grpSpPr>
      <p:pic>
        <p:nvPicPr>
          <p:cNvPr id="397533199" name="Image 0" descr="preencoded.png"/>
          <p:cNvPicPr>
            <a:picLocks noChangeAspect="1"/>
          </p:cNvPicPr>
          <p:nvPr/>
        </p:nvPicPr>
        <p:blipFill rotWithShape="1">
          <a:blip r:embed="rId2"/>
          <a:stretch/>
        </p:blipFill>
        <p:spPr bwMode="auto">
          <a:xfrm>
            <a:off x="0" y="0"/>
            <a:ext cx="9144000" cy="5143500"/>
          </a:xfrm>
          <a:prstGeom prst="rect">
            <a:avLst/>
          </a:prstGeom>
        </p:spPr>
      </p:pic>
      <p:sp>
        <p:nvSpPr>
          <p:cNvPr id="1387993525" name="Shape 0"/>
          <p:cNvSpPr/>
          <p:nvPr/>
        </p:nvSpPr>
        <p:spPr bwMode="auto">
          <a:xfrm>
            <a:off x="0" y="0"/>
            <a:ext cx="9144000" cy="5143500"/>
          </a:xfrm>
          <a:prstGeom prst="rect">
            <a:avLst/>
          </a:prstGeom>
          <a:solidFill>
            <a:srgbClr val="0A0A0A">
              <a:alpha val="95000"/>
            </a:srgbClr>
          </a:solidFill>
          <a:ln/>
        </p:spPr>
      </p:sp>
      <p:pic>
        <p:nvPicPr>
          <p:cNvPr id="233709988" name="Image 1" descr="preencoded.png">
            <a:hlinkClick r:id="rId3" tooltip=""/>
          </p:cNvPr>
          <p:cNvPicPr>
            <a:picLocks noChangeAspect="1"/>
          </p:cNvPicPr>
          <p:nvPr/>
        </p:nvPicPr>
        <p:blipFill rotWithShape="1">
          <a:blip r:embed="rId4"/>
          <a:stretch/>
        </p:blipFill>
        <p:spPr bwMode="auto">
          <a:xfrm>
            <a:off x="8029180" y="4844491"/>
            <a:ext cx="1071843" cy="256032"/>
          </a:xfrm>
          <a:prstGeom prst="rect">
            <a:avLst/>
          </a:prstGeom>
        </p:spPr>
      </p:pic>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dt="0" ftr="0" hdr="0" sldNum="0"/>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media1.svg"/><Relationship Id="rId5" Type="http://schemas.openxmlformats.org/officeDocument/2006/relationships/image" Target="../media/image5.png"/><Relationship Id="rId6" Type="http://schemas.openxmlformats.org/officeDocument/2006/relationships/image" Target="../media/media2.sv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www.kaggle.com/datasets/austinreese/usa-housing-listings" TargetMode="Externa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jpg"/><Relationship Id="rId4" Type="http://schemas.openxmlformats.org/officeDocument/2006/relationships/image" Target="../media/image7.jp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jpg"/><Relationship Id="rId4" Type="http://schemas.openxmlformats.org/officeDocument/2006/relationships/image" Target="../media/image9.jp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0.jpg"/><Relationship Id="rId4" Type="http://schemas.openxmlformats.org/officeDocument/2006/relationships/image" Target="../media/image11.jpg"/><Relationship Id="rId5" Type="http://schemas.openxmlformats.org/officeDocument/2006/relationships/image" Target="../media/image12.jpg"/><Relationship Id="rId6" Type="http://schemas.openxmlformats.org/officeDocument/2006/relationships/image" Target="../media/image13.jp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4.jpg"/><Relationship Id="rId4" Type="http://schemas.openxmlformats.org/officeDocument/2006/relationships/image" Target="../media/image15.jpg"/><Relationship Id="rId5" Type="http://schemas.openxmlformats.org/officeDocument/2006/relationships/image" Target="../media/image16.jp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7.jpg"/><Relationship Id="rId4" Type="http://schemas.openxmlformats.org/officeDocument/2006/relationships/image" Target="../media/image18.jpg"/><Relationship Id="rId5" Type="http://schemas.openxmlformats.org/officeDocument/2006/relationships/image" Target="../media/image19.jp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0.png"/><Relationship Id="rId4" Type="http://schemas.openxmlformats.org/officeDocument/2006/relationships/image" Target="../media/media3.svg"/><Relationship Id="rId5" Type="http://schemas.openxmlformats.org/officeDocument/2006/relationships/image" Target="../media/image21.png"/><Relationship Id="rId6" Type="http://schemas.openxmlformats.org/officeDocument/2006/relationships/image" Target="../media/media4.svg"/><Relationship Id="rId7" Type="http://schemas.openxmlformats.org/officeDocument/2006/relationships/image" Target="../media/image22.png"/><Relationship Id="rId8" Type="http://schemas.openxmlformats.org/officeDocument/2006/relationships/image" Target="../media/media5.sv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
    <p:spTree>
      <p:nvGrpSpPr>
        <p:cNvPr id="1" name=""/>
        <p:cNvGrpSpPr/>
        <p:nvPr/>
      </p:nvGrpSpPr>
      <p:grpSpPr bwMode="auto">
        <a:xfrm>
          <a:off x="0" y="0"/>
          <a:ext cx="0" cy="0"/>
          <a:chOff x="0" y="0"/>
          <a:chExt cx="0" cy="0"/>
        </a:xfrm>
      </p:grpSpPr>
      <p:pic>
        <p:nvPicPr>
          <p:cNvPr id="1125134188" name="Image 0" descr="preencoded.png"/>
          <p:cNvPicPr>
            <a:picLocks noChangeAspect="1"/>
          </p:cNvPicPr>
          <p:nvPr/>
        </p:nvPicPr>
        <p:blipFill rotWithShape="1">
          <a:blip r:embed="rId3"/>
          <a:stretch/>
        </p:blipFill>
        <p:spPr bwMode="auto">
          <a:xfrm>
            <a:off x="5715000" y="0"/>
            <a:ext cx="3429000" cy="5143500"/>
          </a:xfrm>
          <a:prstGeom prst="rect">
            <a:avLst/>
          </a:prstGeom>
        </p:spPr>
      </p:pic>
      <p:sp>
        <p:nvSpPr>
          <p:cNvPr id="1440220133" name="Text 0"/>
          <p:cNvSpPr/>
          <p:nvPr/>
        </p:nvSpPr>
        <p:spPr bwMode="auto">
          <a:xfrm>
            <a:off x="473943" y="1577950"/>
            <a:ext cx="4767114" cy="1068884"/>
          </a:xfrm>
          <a:prstGeom prst="rect">
            <a:avLst/>
          </a:prstGeom>
          <a:noFill/>
          <a:ln/>
        </p:spPr>
        <p:txBody>
          <a:bodyPr wrap="square" lIns="0" tIns="0" rIns="0" bIns="0" rtlCol="0" anchor="t">
            <a:normAutofit/>
          </a:bodyPr>
          <a:lstStyle/>
          <a:p>
            <a:pPr marL="0" indent="0" algn="l">
              <a:lnSpc>
                <a:spcPct val="104000"/>
              </a:lnSpc>
              <a:buNone/>
              <a:defRPr/>
            </a:pPr>
            <a:r>
              <a:rPr lang="en-US" sz="2200">
                <a:solidFill>
                  <a:srgbClr val="FAEBEB"/>
                </a:solidFill>
                <a:latin typeface="Dela Gothic One"/>
                <a:ea typeface="Dela Gothic One"/>
                <a:cs typeface="Dela Gothic One"/>
              </a:rPr>
              <a:t>Housing Amenities Impact on Apartment Listing Prices in the Southern USA</a:t>
            </a:r>
            <a:endParaRPr lang="en-US" sz="2200"/>
          </a:p>
        </p:txBody>
      </p:sp>
      <p:sp>
        <p:nvSpPr>
          <p:cNvPr id="63664442" name="Text 1"/>
          <p:cNvSpPr/>
          <p:nvPr/>
        </p:nvSpPr>
        <p:spPr bwMode="auto">
          <a:xfrm>
            <a:off x="473943" y="2849910"/>
            <a:ext cx="5224314" cy="216694"/>
          </a:xfrm>
          <a:prstGeom prst="rect">
            <a:avLst/>
          </a:prstGeom>
          <a:noFill/>
          <a:ln/>
        </p:spPr>
        <p:txBody>
          <a:bodyPr wrap="none" lIns="0" tIns="0" rIns="0" bIns="0" rtlCol="0" anchor="t"/>
          <a:lstStyle/>
          <a:p>
            <a:pPr marL="0" indent="0" algn="l">
              <a:lnSpc>
                <a:spcPct val="133000"/>
              </a:lnSpc>
              <a:buNone/>
              <a:defRPr/>
            </a:pPr>
            <a:r>
              <a:rPr lang="en-US" sz="1050" b="1">
                <a:solidFill>
                  <a:srgbClr val="FFE5E5"/>
                </a:solidFill>
                <a:latin typeface="DM Sans Bold"/>
                <a:ea typeface="DM Sans Bold"/>
                <a:cs typeface="DM Sans Bold"/>
              </a:rPr>
              <a:t>Final Presentation</a:t>
            </a:r>
            <a:endParaRPr lang="en-US" sz="1050"/>
          </a:p>
        </p:txBody>
      </p:sp>
      <p:sp>
        <p:nvSpPr>
          <p:cNvPr id="228861715" name="Text 2"/>
          <p:cNvSpPr/>
          <p:nvPr/>
        </p:nvSpPr>
        <p:spPr bwMode="auto">
          <a:xfrm>
            <a:off x="473943" y="3218929"/>
            <a:ext cx="4767114" cy="346621"/>
          </a:xfrm>
          <a:prstGeom prst="rect">
            <a:avLst/>
          </a:prstGeom>
          <a:noFill/>
          <a:ln/>
        </p:spPr>
        <p:txBody>
          <a:bodyPr wrap="square" lIns="0" tIns="0" rIns="0" bIns="0" rtlCol="0" anchor="t">
            <a:normAutofit/>
          </a:bodyPr>
          <a:lstStyle/>
          <a:p>
            <a:pPr marL="0" indent="0" algn="r">
              <a:lnSpc>
                <a:spcPct val="133000"/>
              </a:lnSpc>
              <a:buNone/>
              <a:defRPr/>
            </a:pPr>
            <a:r>
              <a:rPr lang="en-US" sz="850">
                <a:solidFill>
                  <a:srgbClr val="FFE5E5"/>
                </a:solidFill>
                <a:latin typeface="DM Sans"/>
                <a:ea typeface="DM Sans"/>
                <a:cs typeface="DM Sans"/>
              </a:rPr>
              <a:t>Submitted by Gordon Oboh</a:t>
            </a:r>
            <a:endParaRPr lang="en-US" sz="850"/>
          </a:p>
          <a:p>
            <a:pPr marL="0" indent="0" algn="r">
              <a:lnSpc>
                <a:spcPct val="133000"/>
              </a:lnSpc>
              <a:buNone/>
              <a:defRPr/>
            </a:pPr>
            <a:r>
              <a:rPr lang="en-US" sz="850">
                <a:solidFill>
                  <a:srgbClr val="FFE5E5"/>
                </a:solidFill>
                <a:latin typeface="DM Sans"/>
                <a:ea typeface="DM Sans"/>
                <a:cs typeface="DM Sans"/>
              </a:rPr>
              <a:t>July 25, 2026</a:t>
            </a:r>
            <a:endParaRPr lang="en-US" sz="8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
    <p:spTree>
      <p:nvGrpSpPr>
        <p:cNvPr id="1" name=""/>
        <p:cNvGrpSpPr/>
        <p:nvPr/>
      </p:nvGrpSpPr>
      <p:grpSpPr bwMode="auto">
        <a:xfrm>
          <a:off x="0" y="0"/>
          <a:ext cx="0" cy="0"/>
          <a:chOff x="0" y="0"/>
          <a:chExt cx="0" cy="0"/>
        </a:xfrm>
      </p:grpSpPr>
      <p:sp>
        <p:nvSpPr>
          <p:cNvPr id="141813434" name="Text 0"/>
          <p:cNvSpPr/>
          <p:nvPr/>
        </p:nvSpPr>
        <p:spPr bwMode="auto">
          <a:xfrm>
            <a:off x="473943" y="481980"/>
            <a:ext cx="8196114" cy="438448"/>
          </a:xfrm>
          <a:prstGeom prst="rect">
            <a:avLst/>
          </a:prstGeom>
          <a:noFill/>
          <a:ln/>
        </p:spPr>
        <p:txBody>
          <a:bodyPr wrap="none" lIns="0" tIns="0" rIns="0" bIns="0" rtlCol="0" anchor="t"/>
          <a:lstStyle/>
          <a:p>
            <a:pPr marL="0" indent="0" algn="l">
              <a:lnSpc>
                <a:spcPct val="104000"/>
              </a:lnSpc>
              <a:buNone/>
              <a:defRPr/>
            </a:pPr>
            <a:r>
              <a:rPr lang="en-US" sz="2750">
                <a:solidFill>
                  <a:srgbClr val="FAEBEB"/>
                </a:solidFill>
                <a:latin typeface="Dela Gothic One"/>
                <a:ea typeface="Dela Gothic One"/>
                <a:cs typeface="Dela Gothic One"/>
              </a:rPr>
              <a:t>1. Project Overview</a:t>
            </a:r>
            <a:endParaRPr lang="en-US" sz="2750"/>
          </a:p>
        </p:txBody>
      </p:sp>
      <p:pic>
        <p:nvPicPr>
          <p:cNvPr id="1375097348" name="Image 0" descr="preencoded.png"/>
          <p:cNvPicPr>
            <a:picLocks noChangeAspect="1"/>
          </p:cNvPicPr>
          <p:nvPr/>
        </p:nvPicPr>
        <p:blipFill rotWithShape="1">
          <a:blip r:embed="rId3">
            <a:extLst>
              <a:ext uri="{96DAC541-7B7A-43D3-8B79-37D633B846F1}">
                <asvg:svgBlip xmlns:asvg="http://schemas.microsoft.com/office/drawing/2016/SVG/main" r:embed="rId4"/>
              </a:ext>
            </a:extLst>
          </a:blip>
          <a:stretch/>
        </p:blipFill>
        <p:spPr bwMode="auto">
          <a:xfrm>
            <a:off x="473943" y="1182812"/>
            <a:ext cx="4032424" cy="1439242"/>
          </a:xfrm>
          <a:prstGeom prst="rect">
            <a:avLst/>
          </a:prstGeom>
        </p:spPr>
      </p:pic>
      <p:sp>
        <p:nvSpPr>
          <p:cNvPr id="1043910274" name="Text 1"/>
          <p:cNvSpPr/>
          <p:nvPr/>
        </p:nvSpPr>
        <p:spPr bwMode="auto">
          <a:xfrm>
            <a:off x="678656" y="1330375"/>
            <a:ext cx="3680147" cy="219224"/>
          </a:xfrm>
          <a:prstGeom prst="rect">
            <a:avLst/>
          </a:prstGeom>
          <a:noFill/>
          <a:ln/>
        </p:spPr>
        <p:txBody>
          <a:bodyPr wrap="none" lIns="0" tIns="0" rIns="0" bIns="0" rtlCol="0" anchor="t"/>
          <a:lstStyle/>
          <a:p>
            <a:pPr marL="0" indent="0" algn="l">
              <a:lnSpc>
                <a:spcPct val="104000"/>
              </a:lnSpc>
              <a:buNone/>
              <a:defRPr/>
            </a:pPr>
            <a:r>
              <a:rPr lang="en-US" sz="1350">
                <a:solidFill>
                  <a:srgbClr val="FFE5E5"/>
                </a:solidFill>
                <a:latin typeface="Dela Gothic One"/>
                <a:ea typeface="Dela Gothic One"/>
                <a:cs typeface="Dela Gothic One"/>
              </a:rPr>
              <a:t>Business Problem</a:t>
            </a:r>
            <a:endParaRPr lang="en-US" sz="1350"/>
          </a:p>
        </p:txBody>
      </p:sp>
      <p:sp>
        <p:nvSpPr>
          <p:cNvPr id="1948637061" name="Text 2"/>
          <p:cNvSpPr/>
          <p:nvPr/>
        </p:nvSpPr>
        <p:spPr bwMode="auto">
          <a:xfrm>
            <a:off x="678656" y="1628253"/>
            <a:ext cx="3680147" cy="846236"/>
          </a:xfrm>
          <a:prstGeom prst="rect">
            <a:avLst/>
          </a:prstGeom>
          <a:noFill/>
          <a:ln/>
        </p:spPr>
        <p:txBody>
          <a:bodyPr wrap="square" lIns="0" tIns="0" rIns="0" bIns="0" rtlCol="0" anchor="t">
            <a:normAutofit/>
          </a:bodyPr>
          <a:lstStyle/>
          <a:p>
            <a:pPr marL="0" indent="0" algn="l">
              <a:lnSpc>
                <a:spcPct val="132000"/>
              </a:lnSpc>
              <a:buNone/>
              <a:defRPr/>
            </a:pPr>
            <a:r>
              <a:rPr lang="en-US" sz="1000">
                <a:solidFill>
                  <a:srgbClr val="FFE5E5"/>
                </a:solidFill>
                <a:latin typeface="DM Sans"/>
                <a:ea typeface="DM Sans"/>
                <a:cs typeface="DM Sans"/>
              </a:rPr>
              <a:t>Renters and property stakeholders in the Southern US lack clarity on which amenities and features truly drive rental pricing, making it difficult to price listings competitively or decide which property improvements yield the best return.</a:t>
            </a:r>
            <a:endParaRPr lang="en-US" sz="1000"/>
          </a:p>
        </p:txBody>
      </p:sp>
      <p:pic>
        <p:nvPicPr>
          <p:cNvPr id="431973750" name="Image 1" descr="preencoded.png"/>
          <p:cNvPicPr>
            <a:picLocks noChangeAspect="1"/>
          </p:cNvPicPr>
          <p:nvPr/>
        </p:nvPicPr>
        <p:blipFill rotWithShape="1">
          <a:blip r:embed="rId3"/>
          <a:stretch/>
        </p:blipFill>
        <p:spPr bwMode="auto">
          <a:xfrm>
            <a:off x="4637558" y="1182812"/>
            <a:ext cx="4032498" cy="1439242"/>
          </a:xfrm>
          <a:prstGeom prst="rect">
            <a:avLst/>
          </a:prstGeom>
        </p:spPr>
      </p:pic>
      <p:sp>
        <p:nvSpPr>
          <p:cNvPr id="1215559432" name="Text 3"/>
          <p:cNvSpPr/>
          <p:nvPr/>
        </p:nvSpPr>
        <p:spPr bwMode="auto">
          <a:xfrm>
            <a:off x="4842272" y="1330375"/>
            <a:ext cx="3680222" cy="219224"/>
          </a:xfrm>
          <a:prstGeom prst="rect">
            <a:avLst/>
          </a:prstGeom>
          <a:noFill/>
          <a:ln/>
        </p:spPr>
        <p:txBody>
          <a:bodyPr wrap="none" lIns="0" tIns="0" rIns="0" bIns="0" rtlCol="0" anchor="t"/>
          <a:lstStyle/>
          <a:p>
            <a:pPr marL="0" indent="0" algn="l">
              <a:lnSpc>
                <a:spcPct val="104000"/>
              </a:lnSpc>
              <a:buNone/>
              <a:defRPr/>
            </a:pPr>
            <a:r>
              <a:rPr lang="en-US" sz="1350">
                <a:solidFill>
                  <a:srgbClr val="FFE5E5"/>
                </a:solidFill>
                <a:latin typeface="Dela Gothic One"/>
                <a:ea typeface="Dela Gothic One"/>
                <a:cs typeface="Dela Gothic One"/>
              </a:rPr>
              <a:t>Business Goal</a:t>
            </a:r>
            <a:endParaRPr lang="en-US" sz="1350"/>
          </a:p>
        </p:txBody>
      </p:sp>
      <p:sp>
        <p:nvSpPr>
          <p:cNvPr id="1611831162" name="Text 4"/>
          <p:cNvSpPr/>
          <p:nvPr/>
        </p:nvSpPr>
        <p:spPr bwMode="auto">
          <a:xfrm>
            <a:off x="4842272" y="1628253"/>
            <a:ext cx="3680222" cy="846236"/>
          </a:xfrm>
          <a:prstGeom prst="rect">
            <a:avLst/>
          </a:prstGeom>
          <a:noFill/>
          <a:ln/>
        </p:spPr>
        <p:txBody>
          <a:bodyPr wrap="square" lIns="0" tIns="0" rIns="0" bIns="0" rtlCol="0" anchor="t">
            <a:normAutofit/>
          </a:bodyPr>
          <a:lstStyle/>
          <a:p>
            <a:pPr marL="0" indent="0" algn="l">
              <a:lnSpc>
                <a:spcPct val="132000"/>
              </a:lnSpc>
              <a:buNone/>
              <a:defRPr/>
            </a:pPr>
            <a:r>
              <a:rPr lang="en-US" sz="1000">
                <a:solidFill>
                  <a:srgbClr val="FFE5E5"/>
                </a:solidFill>
                <a:latin typeface="DM Sans"/>
                <a:ea typeface="DM Sans"/>
                <a:cs typeface="DM Sans"/>
              </a:rPr>
              <a:t>Identify the key features that influence rental prices for apartments in the Southern USA so that landlords, property managers, and renters can make data-informed pricing and investment decisions.</a:t>
            </a:r>
            <a:endParaRPr lang="en-US" sz="1000"/>
          </a:p>
        </p:txBody>
      </p:sp>
      <p:pic>
        <p:nvPicPr>
          <p:cNvPr id="17605875" name="Image 2" descr="preencoded.png"/>
          <p:cNvPicPr>
            <a:picLocks noChangeAspect="1"/>
          </p:cNvPicPr>
          <p:nvPr/>
        </p:nvPicPr>
        <p:blipFill rotWithShape="1">
          <a:blip r:embed="rId5">
            <a:extLst>
              <a:ext uri="{96DAC541-7B7A-43D3-8B79-37D633B846F1}">
                <asvg:svgBlip xmlns:asvg="http://schemas.microsoft.com/office/drawing/2016/SVG/main" r:embed="rId6"/>
              </a:ext>
            </a:extLst>
          </a:blip>
          <a:stretch/>
        </p:blipFill>
        <p:spPr bwMode="auto">
          <a:xfrm>
            <a:off x="473943" y="2753246"/>
            <a:ext cx="4032424" cy="1908274"/>
          </a:xfrm>
          <a:prstGeom prst="rect">
            <a:avLst/>
          </a:prstGeom>
        </p:spPr>
      </p:pic>
      <p:sp>
        <p:nvSpPr>
          <p:cNvPr id="1163837089" name="Text 5"/>
          <p:cNvSpPr/>
          <p:nvPr/>
        </p:nvSpPr>
        <p:spPr bwMode="auto">
          <a:xfrm>
            <a:off x="678656" y="2900809"/>
            <a:ext cx="3680147" cy="219224"/>
          </a:xfrm>
          <a:prstGeom prst="rect">
            <a:avLst/>
          </a:prstGeom>
          <a:noFill/>
          <a:ln/>
        </p:spPr>
        <p:txBody>
          <a:bodyPr wrap="none" lIns="0" tIns="0" rIns="0" bIns="0" rtlCol="0" anchor="t"/>
          <a:lstStyle/>
          <a:p>
            <a:pPr marL="0" indent="0" algn="l">
              <a:lnSpc>
                <a:spcPct val="104000"/>
              </a:lnSpc>
              <a:buNone/>
              <a:defRPr/>
            </a:pPr>
            <a:r>
              <a:rPr lang="en-US" sz="1350">
                <a:solidFill>
                  <a:srgbClr val="FFE5E5"/>
                </a:solidFill>
                <a:latin typeface="Dela Gothic One"/>
                <a:ea typeface="Dela Gothic One"/>
                <a:cs typeface="Dela Gothic One"/>
              </a:rPr>
              <a:t>Data Mining Goals</a:t>
            </a:r>
            <a:endParaRPr lang="en-US" sz="1350"/>
          </a:p>
        </p:txBody>
      </p:sp>
      <p:sp>
        <p:nvSpPr>
          <p:cNvPr id="685470732" name="Text 6"/>
          <p:cNvSpPr/>
          <p:nvPr/>
        </p:nvSpPr>
        <p:spPr bwMode="auto">
          <a:xfrm>
            <a:off x="678656" y="3198688"/>
            <a:ext cx="3680147" cy="1315269"/>
          </a:xfrm>
          <a:prstGeom prst="rect">
            <a:avLst/>
          </a:prstGeom>
          <a:noFill/>
          <a:ln/>
        </p:spPr>
        <p:txBody>
          <a:bodyPr wrap="square" lIns="0" tIns="0" rIns="0" bIns="0" rtlCol="0" anchor="t">
            <a:normAutofit/>
          </a:bodyPr>
          <a:lstStyle/>
          <a:p>
            <a:pPr marL="203200" indent="-203200" algn="l">
              <a:lnSpc>
                <a:spcPct val="132000"/>
              </a:lnSpc>
              <a:buSzPct val="100000"/>
              <a:buChar char="•"/>
              <a:defRPr/>
            </a:pPr>
            <a:r>
              <a:rPr lang="en-US" sz="1000">
                <a:solidFill>
                  <a:srgbClr val="FFE5E5"/>
                </a:solidFill>
                <a:latin typeface="DM Sans"/>
                <a:ea typeface="DM Sans"/>
                <a:cs typeface="DM Sans"/>
              </a:rPr>
              <a:t>Build and compare three ensemble regression models (Random Forest, HistGradientBoosting, XGBoost) to predict rental price from property features</a:t>
            </a:r>
            <a:endParaRPr lang="en-US" sz="1000"/>
          </a:p>
          <a:p>
            <a:pPr marL="203200" indent="-203200" algn="l">
              <a:lnSpc>
                <a:spcPct val="132000"/>
              </a:lnSpc>
              <a:buSzPct val="100000"/>
              <a:buChar char="•"/>
              <a:defRPr/>
            </a:pPr>
            <a:r>
              <a:rPr lang="en-US" sz="1000">
                <a:solidFill>
                  <a:srgbClr val="FFE5E5"/>
                </a:solidFill>
                <a:latin typeface="DM Sans"/>
                <a:ea typeface="DM Sans"/>
                <a:cs typeface="DM Sans"/>
              </a:rPr>
              <a:t>Determine the relative importance of each amenity feature in driving predicted price, producing an actionable ranking for investors and property managers</a:t>
            </a:r>
            <a:endParaRPr lang="en-US" sz="1000"/>
          </a:p>
        </p:txBody>
      </p:sp>
      <p:pic>
        <p:nvPicPr>
          <p:cNvPr id="482665116" name="Image 3" descr="preencoded.png"/>
          <p:cNvPicPr>
            <a:picLocks noChangeAspect="1"/>
          </p:cNvPicPr>
          <p:nvPr/>
        </p:nvPicPr>
        <p:blipFill rotWithShape="1">
          <a:blip r:embed="rId5"/>
          <a:stretch/>
        </p:blipFill>
        <p:spPr bwMode="auto">
          <a:xfrm>
            <a:off x="4637558" y="2753246"/>
            <a:ext cx="4032498" cy="1908274"/>
          </a:xfrm>
          <a:prstGeom prst="rect">
            <a:avLst/>
          </a:prstGeom>
        </p:spPr>
      </p:pic>
      <p:sp>
        <p:nvSpPr>
          <p:cNvPr id="1372651831" name="Text 7"/>
          <p:cNvSpPr/>
          <p:nvPr/>
        </p:nvSpPr>
        <p:spPr bwMode="auto">
          <a:xfrm>
            <a:off x="4842272" y="2900809"/>
            <a:ext cx="3680222" cy="219224"/>
          </a:xfrm>
          <a:prstGeom prst="rect">
            <a:avLst/>
          </a:prstGeom>
          <a:noFill/>
          <a:ln/>
        </p:spPr>
        <p:txBody>
          <a:bodyPr wrap="none" lIns="0" tIns="0" rIns="0" bIns="0" rtlCol="0" anchor="t"/>
          <a:lstStyle/>
          <a:p>
            <a:pPr marL="0" indent="0" algn="l">
              <a:lnSpc>
                <a:spcPct val="104000"/>
              </a:lnSpc>
              <a:buNone/>
              <a:defRPr/>
            </a:pPr>
            <a:r>
              <a:rPr lang="en-US" sz="1350">
                <a:solidFill>
                  <a:srgbClr val="FFE5E5"/>
                </a:solidFill>
                <a:latin typeface="Dela Gothic One"/>
                <a:ea typeface="Dela Gothic One"/>
                <a:cs typeface="Dela Gothic One"/>
              </a:rPr>
              <a:t>Background</a:t>
            </a:r>
            <a:endParaRPr lang="en-US" sz="1350"/>
          </a:p>
        </p:txBody>
      </p:sp>
      <p:sp>
        <p:nvSpPr>
          <p:cNvPr id="1415176113" name="Text 8"/>
          <p:cNvSpPr/>
          <p:nvPr/>
        </p:nvSpPr>
        <p:spPr bwMode="auto">
          <a:xfrm>
            <a:off x="4842272" y="3198688"/>
            <a:ext cx="3680222" cy="846236"/>
          </a:xfrm>
          <a:prstGeom prst="rect">
            <a:avLst/>
          </a:prstGeom>
          <a:noFill/>
          <a:ln/>
        </p:spPr>
        <p:txBody>
          <a:bodyPr wrap="square" lIns="0" tIns="0" rIns="0" bIns="0" rtlCol="0" anchor="t">
            <a:normAutofit/>
          </a:bodyPr>
          <a:lstStyle/>
          <a:p>
            <a:pPr marL="0" indent="0" algn="l">
              <a:lnSpc>
                <a:spcPct val="132000"/>
              </a:lnSpc>
              <a:buNone/>
              <a:defRPr/>
            </a:pPr>
            <a:r>
              <a:rPr lang="en-US" sz="1000">
                <a:solidFill>
                  <a:srgbClr val="FFE5E5"/>
                </a:solidFill>
                <a:latin typeface="DM Sans"/>
                <a:ea typeface="DM Sans"/>
                <a:cs typeface="DM Sans"/>
              </a:rPr>
              <a:t>~385K Craigslist rental listings across 50 US states, filtered to ~150K apartment listings in 17 Southern states. The rental market is opaque — this analysis brings data-driven transparency.</a:t>
            </a:r>
            <a:endParaRPr lang="en-US" sz="1000"/>
          </a:p>
        </p:txBody>
      </p:sp>
      <p:sp>
        <p:nvSpPr>
          <p:cNvPr id="1827077733" name=""/>
          <p:cNvSpPr/>
          <p:nvPr/>
        </p:nvSpPr>
        <p:spPr bwMode="auto">
          <a:xfrm rot="0" flipH="0" flipV="0">
            <a:off x="7950422" y="4762499"/>
            <a:ext cx="1144143" cy="352010"/>
          </a:xfrm>
          <a:prstGeom prst="rect">
            <a:avLst/>
          </a:prstGeom>
          <a:solidFill>
            <a:srgbClr val="0A0909"/>
          </a:solidFill>
          <a:ln w="12700" cap="flat" cmpd="sng" algn="ctr">
            <a:solidFill>
              <a:srgbClr val="0A0909"/>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
    <p:spTree>
      <p:nvGrpSpPr>
        <p:cNvPr id="1" name=""/>
        <p:cNvGrpSpPr/>
        <p:nvPr/>
      </p:nvGrpSpPr>
      <p:grpSpPr bwMode="auto">
        <a:xfrm>
          <a:off x="0" y="0"/>
          <a:ext cx="0" cy="0"/>
          <a:chOff x="0" y="0"/>
          <a:chExt cx="0" cy="0"/>
        </a:xfrm>
      </p:grpSpPr>
      <p:sp>
        <p:nvSpPr>
          <p:cNvPr id="855409887" name="Text 0"/>
          <p:cNvSpPr/>
          <p:nvPr/>
        </p:nvSpPr>
        <p:spPr bwMode="auto">
          <a:xfrm>
            <a:off x="473943" y="812974"/>
            <a:ext cx="8196114" cy="445443"/>
          </a:xfrm>
          <a:prstGeom prst="rect">
            <a:avLst/>
          </a:prstGeom>
          <a:noFill/>
          <a:ln/>
        </p:spPr>
        <p:txBody>
          <a:bodyPr wrap="none" lIns="0" tIns="0" rIns="0" bIns="0" rtlCol="0" anchor="t"/>
          <a:lstStyle/>
          <a:p>
            <a:pPr marL="0" indent="0" algn="l">
              <a:lnSpc>
                <a:spcPct val="104000"/>
              </a:lnSpc>
              <a:buNone/>
              <a:defRPr/>
            </a:pPr>
            <a:r>
              <a:rPr lang="en-US" sz="2800">
                <a:solidFill>
                  <a:srgbClr val="FAEBEB"/>
                </a:solidFill>
                <a:latin typeface="Dela Gothic One"/>
                <a:ea typeface="Dela Gothic One"/>
                <a:cs typeface="Dela Gothic One"/>
              </a:rPr>
              <a:t>2. Summary of Each Phase</a:t>
            </a:r>
            <a:endParaRPr lang="en-US" sz="2800"/>
          </a:p>
        </p:txBody>
      </p:sp>
      <p:sp>
        <p:nvSpPr>
          <p:cNvPr id="1189669677" name="Text 1"/>
          <p:cNvSpPr/>
          <p:nvPr/>
        </p:nvSpPr>
        <p:spPr bwMode="auto">
          <a:xfrm>
            <a:off x="913953" y="1529209"/>
            <a:ext cx="7756103" cy="222647"/>
          </a:xfrm>
          <a:prstGeom prst="rect">
            <a:avLst/>
          </a:prstGeom>
          <a:noFill/>
          <a:ln/>
        </p:spPr>
        <p:txBody>
          <a:bodyPr wrap="none" lIns="0" tIns="0" rIns="0" bIns="0" rtlCol="0" anchor="t"/>
          <a:lstStyle/>
          <a:p>
            <a:pPr marL="0" indent="0" algn="l">
              <a:lnSpc>
                <a:spcPct val="104000"/>
              </a:lnSpc>
              <a:buNone/>
              <a:defRPr/>
            </a:pPr>
            <a:r>
              <a:rPr lang="en-US" sz="1400">
                <a:solidFill>
                  <a:srgbClr val="FFE5E5"/>
                </a:solidFill>
                <a:latin typeface="Dela Gothic One"/>
                <a:ea typeface="Dela Gothic One"/>
                <a:cs typeface="Dela Gothic One"/>
              </a:rPr>
              <a:t>Phase 1 — Business Understanding</a:t>
            </a:r>
            <a:endParaRPr lang="en-US" sz="1400"/>
          </a:p>
        </p:txBody>
      </p:sp>
      <p:sp>
        <p:nvSpPr>
          <p:cNvPr id="1853881062" name="Text 2"/>
          <p:cNvSpPr/>
          <p:nvPr/>
        </p:nvSpPr>
        <p:spPr bwMode="auto">
          <a:xfrm>
            <a:off x="913953" y="1833042"/>
            <a:ext cx="7756103" cy="961430"/>
          </a:xfrm>
          <a:prstGeom prst="rect">
            <a:avLst/>
          </a:prstGeom>
          <a:noFill/>
          <a:ln/>
        </p:spPr>
        <p:txBody>
          <a:bodyPr wrap="square" lIns="0" tIns="0" rIns="0" bIns="0" rtlCol="0" anchor="t">
            <a:normAutofit/>
          </a:bodyPr>
          <a:lstStyle/>
          <a:p>
            <a:pPr marL="213360" indent="-213360" algn="l">
              <a:lnSpc>
                <a:spcPct val="133000"/>
              </a:lnSpc>
              <a:buSzPct val="100000"/>
              <a:buChar char="•"/>
              <a:defRPr/>
            </a:pPr>
            <a:r>
              <a:rPr lang="en-US" sz="1050">
                <a:solidFill>
                  <a:srgbClr val="FFE5E5"/>
                </a:solidFill>
                <a:latin typeface="DM Sans"/>
                <a:ea typeface="DM Sans"/>
                <a:cs typeface="DM Sans"/>
              </a:rPr>
              <a:t>Defined the business problem: what drives apartment rental prices in the Southern US?</a:t>
            </a:r>
            <a:endParaRPr lang="en-US" sz="1050"/>
          </a:p>
          <a:p>
            <a:pPr marL="213360" indent="-213360" algn="l">
              <a:lnSpc>
                <a:spcPct val="133000"/>
              </a:lnSpc>
              <a:buSzPct val="100000"/>
              <a:buChar char="•"/>
              <a:defRPr/>
            </a:pPr>
            <a:r>
              <a:rPr lang="en-US" sz="1050">
                <a:solidFill>
                  <a:srgbClr val="FFE5E5"/>
                </a:solidFill>
                <a:latin typeface="DM Sans"/>
                <a:ea typeface="DM Sans"/>
                <a:cs typeface="DM Sans"/>
              </a:rPr>
              <a:t>Established success criteria: model can identify the top amenity drivers of rental price, producing rankings actionable for renovation prioritization and pricing strategy</a:t>
            </a:r>
            <a:endParaRPr lang="en-US" sz="1050"/>
          </a:p>
          <a:p>
            <a:pPr marL="213360" indent="-213360" algn="l">
              <a:lnSpc>
                <a:spcPct val="133000"/>
              </a:lnSpc>
              <a:buSzPct val="100000"/>
              <a:buChar char="•"/>
              <a:defRPr/>
            </a:pPr>
            <a:r>
              <a:rPr lang="en-US" sz="1050">
                <a:solidFill>
                  <a:srgbClr val="FFE5E5"/>
                </a:solidFill>
                <a:latin typeface="DM Sans"/>
                <a:ea typeface="DM Sans"/>
                <a:cs typeface="DM Sans"/>
              </a:rPr>
              <a:t>Created project plan with timeline across all 6 CRISP-DM phases</a:t>
            </a:r>
            <a:endParaRPr lang="en-US" sz="1050"/>
          </a:p>
        </p:txBody>
      </p:sp>
      <p:sp>
        <p:nvSpPr>
          <p:cNvPr id="2123945632" name="Text 3"/>
          <p:cNvSpPr/>
          <p:nvPr/>
        </p:nvSpPr>
        <p:spPr bwMode="auto">
          <a:xfrm>
            <a:off x="913953" y="3065264"/>
            <a:ext cx="7756103" cy="222647"/>
          </a:xfrm>
          <a:prstGeom prst="rect">
            <a:avLst/>
          </a:prstGeom>
          <a:noFill/>
          <a:ln/>
        </p:spPr>
        <p:txBody>
          <a:bodyPr wrap="none" lIns="0" tIns="0" rIns="0" bIns="0" rtlCol="0" anchor="t"/>
          <a:lstStyle/>
          <a:p>
            <a:pPr marL="0" indent="0" algn="l">
              <a:lnSpc>
                <a:spcPct val="104000"/>
              </a:lnSpc>
              <a:buNone/>
              <a:defRPr/>
            </a:pPr>
            <a:r>
              <a:rPr lang="en-US" sz="1400">
                <a:solidFill>
                  <a:srgbClr val="FFE5E5"/>
                </a:solidFill>
                <a:latin typeface="Dela Gothic One"/>
                <a:ea typeface="Dela Gothic One"/>
                <a:cs typeface="Dela Gothic One"/>
              </a:rPr>
              <a:t>Phase 2 — Data Understanding</a:t>
            </a:r>
            <a:endParaRPr lang="en-US" sz="1400"/>
          </a:p>
        </p:txBody>
      </p:sp>
      <p:sp>
        <p:nvSpPr>
          <p:cNvPr id="671961444" name="Text 4"/>
          <p:cNvSpPr/>
          <p:nvPr/>
        </p:nvSpPr>
        <p:spPr bwMode="auto">
          <a:xfrm>
            <a:off x="913953" y="3369097"/>
            <a:ext cx="7756103" cy="961430"/>
          </a:xfrm>
          <a:prstGeom prst="rect">
            <a:avLst/>
          </a:prstGeom>
          <a:noFill/>
          <a:ln/>
        </p:spPr>
        <p:txBody>
          <a:bodyPr wrap="square" lIns="0" tIns="0" rIns="0" bIns="0" rtlCol="0" anchor="t">
            <a:normAutofit/>
          </a:bodyPr>
          <a:lstStyle/>
          <a:p>
            <a:pPr marL="213360" indent="-213360" algn="l">
              <a:lnSpc>
                <a:spcPct val="133000"/>
              </a:lnSpc>
              <a:buSzPct val="100000"/>
              <a:buChar char="•"/>
              <a:defRPr/>
            </a:pPr>
            <a:r>
              <a:rPr lang="en-US" sz="1050">
                <a:solidFill>
                  <a:srgbClr val="FFE5E5"/>
                </a:solidFill>
                <a:latin typeface="DM Sans"/>
                <a:ea typeface="DM Sans"/>
                <a:cs typeface="DM Sans"/>
              </a:rPr>
              <a:t>Collected ~385K Craigslist listings from </a:t>
            </a:r>
            <a:r>
              <a:rPr lang="en-US" sz="1050" b="1" u="sng">
                <a:solidFill>
                  <a:srgbClr val="C91313"/>
                </a:solidFill>
                <a:latin typeface="DM Sans Bold"/>
                <a:ea typeface="DM Sans Bold"/>
                <a:cs typeface="DM Sans Bold"/>
                <a:hlinkClick r:id="rId3" tooltip=""/>
              </a:rPr>
              <a:t>Kaggle (Austin Reese dataset)</a:t>
            </a:r>
            <a:endParaRPr lang="en-US" sz="1050"/>
          </a:p>
          <a:p>
            <a:pPr marL="213360" indent="-213360" algn="l">
              <a:lnSpc>
                <a:spcPct val="133000"/>
              </a:lnSpc>
              <a:buSzPct val="100000"/>
              <a:buChar char="•"/>
              <a:defRPr/>
            </a:pPr>
            <a:r>
              <a:rPr lang="en-US" sz="1050">
                <a:solidFill>
                  <a:srgbClr val="FFE5E5"/>
                </a:solidFill>
                <a:latin typeface="DM Sans"/>
                <a:ea typeface="DM Sans"/>
                <a:cs typeface="DM Sans"/>
              </a:rPr>
              <a:t>Explored distributions of price, sqft, beds, baths; mapped geographic spread</a:t>
            </a:r>
            <a:endParaRPr lang="en-US" sz="1050"/>
          </a:p>
          <a:p>
            <a:pPr marL="213360" indent="-213360" algn="l">
              <a:lnSpc>
                <a:spcPct val="133000"/>
              </a:lnSpc>
              <a:buSzPct val="100000"/>
              <a:buChar char="•"/>
              <a:defRPr/>
            </a:pPr>
            <a:r>
              <a:rPr lang="en-US" sz="1050">
                <a:solidFill>
                  <a:srgbClr val="FFE5E5"/>
                </a:solidFill>
                <a:latin typeface="DM Sans"/>
                <a:ea typeface="DM Sans"/>
                <a:cs typeface="DM Sans"/>
              </a:rPr>
              <a:t>Identified data quality issues: missing values in amenity columns, geographic outliers (non-US coordinates), extreme price outliers</a:t>
            </a:r>
            <a:endParaRPr lang="en-US" sz="1050"/>
          </a:p>
        </p:txBody>
      </p:sp>
      <p:sp>
        <p:nvSpPr>
          <p:cNvPr id="966595840" name=""/>
          <p:cNvSpPr/>
          <p:nvPr/>
        </p:nvSpPr>
        <p:spPr bwMode="auto">
          <a:xfrm rot="0" flipH="0" flipV="0">
            <a:off x="7950421" y="4762499"/>
            <a:ext cx="1144143" cy="352009"/>
          </a:xfrm>
          <a:prstGeom prst="rect">
            <a:avLst/>
          </a:prstGeom>
          <a:solidFill>
            <a:srgbClr val="0A0909"/>
          </a:solidFill>
          <a:ln w="12700" cap="flat" cmpd="sng" algn="ctr">
            <a:solidFill>
              <a:srgbClr val="0A0909"/>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
    <p:spTree>
      <p:nvGrpSpPr>
        <p:cNvPr id="1" name=""/>
        <p:cNvGrpSpPr/>
        <p:nvPr/>
      </p:nvGrpSpPr>
      <p:grpSpPr bwMode="auto">
        <a:xfrm>
          <a:off x="0" y="0"/>
          <a:ext cx="0" cy="0"/>
          <a:chOff x="0" y="0"/>
          <a:chExt cx="0" cy="0"/>
        </a:xfrm>
      </p:grpSpPr>
      <p:sp>
        <p:nvSpPr>
          <p:cNvPr id="105004234" name="Text 0"/>
          <p:cNvSpPr/>
          <p:nvPr/>
        </p:nvSpPr>
        <p:spPr bwMode="auto">
          <a:xfrm>
            <a:off x="473943" y="525289"/>
            <a:ext cx="8196114" cy="445443"/>
          </a:xfrm>
          <a:prstGeom prst="rect">
            <a:avLst/>
          </a:prstGeom>
          <a:noFill/>
          <a:ln/>
        </p:spPr>
        <p:txBody>
          <a:bodyPr wrap="none" lIns="0" tIns="0" rIns="0" bIns="0" rtlCol="0" anchor="t"/>
          <a:lstStyle/>
          <a:p>
            <a:pPr marL="0" indent="0" algn="l">
              <a:lnSpc>
                <a:spcPct val="104000"/>
              </a:lnSpc>
              <a:buNone/>
              <a:defRPr/>
            </a:pPr>
            <a:r>
              <a:rPr lang="en-US" sz="2800">
                <a:solidFill>
                  <a:srgbClr val="FAEBEB"/>
                </a:solidFill>
                <a:latin typeface="Dela Gothic One"/>
                <a:ea typeface="Dela Gothic One"/>
                <a:cs typeface="Dela Gothic One"/>
              </a:rPr>
              <a:t>2. Summary of Each Phase</a:t>
            </a:r>
            <a:endParaRPr lang="en-US" sz="2800"/>
          </a:p>
        </p:txBody>
      </p:sp>
      <p:sp>
        <p:nvSpPr>
          <p:cNvPr id="235133254" name="Text 1"/>
          <p:cNvSpPr/>
          <p:nvPr/>
        </p:nvSpPr>
        <p:spPr bwMode="auto">
          <a:xfrm>
            <a:off x="913953" y="1241524"/>
            <a:ext cx="7756103" cy="222647"/>
          </a:xfrm>
          <a:prstGeom prst="rect">
            <a:avLst/>
          </a:prstGeom>
          <a:noFill/>
          <a:ln/>
        </p:spPr>
        <p:txBody>
          <a:bodyPr wrap="none" lIns="0" tIns="0" rIns="0" bIns="0" rtlCol="0" anchor="t"/>
          <a:lstStyle/>
          <a:p>
            <a:pPr marL="0" indent="0" algn="l">
              <a:lnSpc>
                <a:spcPct val="104000"/>
              </a:lnSpc>
              <a:buNone/>
              <a:defRPr/>
            </a:pPr>
            <a:r>
              <a:rPr lang="en-US" sz="1400">
                <a:solidFill>
                  <a:srgbClr val="FFE5E5"/>
                </a:solidFill>
                <a:latin typeface="Dela Gothic One"/>
                <a:ea typeface="Dela Gothic One"/>
                <a:cs typeface="Dela Gothic One"/>
              </a:rPr>
              <a:t>Phase 3 — Data Preparation</a:t>
            </a:r>
            <a:endParaRPr lang="en-US" sz="1400"/>
          </a:p>
        </p:txBody>
      </p:sp>
      <p:sp>
        <p:nvSpPr>
          <p:cNvPr id="338740479" name="Text 2"/>
          <p:cNvSpPr/>
          <p:nvPr/>
        </p:nvSpPr>
        <p:spPr bwMode="auto">
          <a:xfrm>
            <a:off x="913953" y="1545357"/>
            <a:ext cx="7756103" cy="1753493"/>
          </a:xfrm>
          <a:prstGeom prst="rect">
            <a:avLst/>
          </a:prstGeom>
          <a:noFill/>
          <a:ln/>
        </p:spPr>
        <p:txBody>
          <a:bodyPr wrap="square" lIns="0" tIns="0" rIns="0" bIns="0" rtlCol="0" anchor="t">
            <a:normAutofit/>
          </a:bodyPr>
          <a:lstStyle/>
          <a:p>
            <a:pPr marL="213360" indent="-213360" algn="l">
              <a:lnSpc>
                <a:spcPct val="133000"/>
              </a:lnSpc>
              <a:buSzPct val="100000"/>
              <a:buChar char="•"/>
              <a:defRPr/>
            </a:pPr>
            <a:r>
              <a:rPr lang="en-US" sz="1050">
                <a:solidFill>
                  <a:srgbClr val="FFE5E5"/>
                </a:solidFill>
                <a:latin typeface="DM Sans"/>
                <a:ea typeface="DM Sans"/>
                <a:cs typeface="DM Sans"/>
              </a:rPr>
              <a:t>Filtered to Southern states per Census Bureau definition (17 states: AL, AR, DC, DE, FL, GA, KY, LA, MD, MS, NC, OK, SC, TN, TX, VA, WV) plus lat/lon bounding box</a:t>
            </a:r>
            <a:endParaRPr lang="en-US" sz="1050"/>
          </a:p>
          <a:p>
            <a:pPr marL="213360" indent="-213360" algn="l">
              <a:lnSpc>
                <a:spcPct val="133000"/>
              </a:lnSpc>
              <a:buSzPct val="100000"/>
              <a:buChar char="•"/>
              <a:defRPr/>
            </a:pPr>
            <a:r>
              <a:rPr lang="en-US" sz="1050">
                <a:solidFill>
                  <a:srgbClr val="FFE5E5"/>
                </a:solidFill>
                <a:latin typeface="DM Sans"/>
                <a:ea typeface="DM Sans"/>
                <a:cs typeface="DM Sans"/>
              </a:rPr>
              <a:t>Dropped irrelevant columns (id, url, image_url, description)</a:t>
            </a:r>
            <a:endParaRPr lang="en-US" sz="1050"/>
          </a:p>
          <a:p>
            <a:pPr marL="213360" indent="-213360" algn="l">
              <a:lnSpc>
                <a:spcPct val="133000"/>
              </a:lnSpc>
              <a:buSzPct val="100000"/>
              <a:buChar char="•"/>
              <a:defRPr/>
            </a:pPr>
            <a:r>
              <a:rPr lang="en-US" sz="1050">
                <a:solidFill>
                  <a:srgbClr val="FFE5E5"/>
                </a:solidFill>
                <a:latin typeface="DM Sans"/>
                <a:ea typeface="DM Sans"/>
                <a:cs typeface="DM Sans"/>
              </a:rPr>
              <a:t>IQR-based price filtering per region to remove extreme outliers</a:t>
            </a:r>
            <a:endParaRPr lang="en-US" sz="1050"/>
          </a:p>
          <a:p>
            <a:pPr marL="213360" indent="-213360" algn="l">
              <a:lnSpc>
                <a:spcPct val="133000"/>
              </a:lnSpc>
              <a:buSzPct val="100000"/>
              <a:buChar char="•"/>
              <a:defRPr/>
            </a:pPr>
            <a:r>
              <a:rPr lang="en-US" sz="1050">
                <a:solidFill>
                  <a:srgbClr val="FFE5E5"/>
                </a:solidFill>
                <a:latin typeface="DM Sans"/>
                <a:ea typeface="DM Sans"/>
                <a:cs typeface="DM Sans"/>
              </a:rPr>
              <a:t>Target encoding for high-cardinality categoricals (state, region, laundry/parking options)</a:t>
            </a:r>
            <a:endParaRPr lang="en-US" sz="1050"/>
          </a:p>
          <a:p>
            <a:pPr marL="213360" indent="-213360" algn="l">
              <a:lnSpc>
                <a:spcPct val="133000"/>
              </a:lnSpc>
              <a:buSzPct val="100000"/>
              <a:buChar char="•"/>
              <a:defRPr/>
            </a:pPr>
            <a:r>
              <a:rPr lang="en-US" sz="1050">
                <a:solidFill>
                  <a:srgbClr val="FFE5E5"/>
                </a:solidFill>
                <a:latin typeface="DM Sans"/>
                <a:ea typeface="DM Sans"/>
                <a:cs typeface="DM Sans"/>
              </a:rPr>
              <a:t>K-Means clustering on lat/lon (148 clusters) to capture micro-location effects</a:t>
            </a:r>
            <a:endParaRPr lang="en-US" sz="1050"/>
          </a:p>
          <a:p>
            <a:pPr marL="213360" indent="-213360" algn="l">
              <a:lnSpc>
                <a:spcPct val="133000"/>
              </a:lnSpc>
              <a:buSzPct val="100000"/>
              <a:buChar char="•"/>
              <a:defRPr/>
            </a:pPr>
            <a:r>
              <a:rPr lang="en-US" sz="1050">
                <a:solidFill>
                  <a:srgbClr val="FFE5E5"/>
                </a:solidFill>
                <a:latin typeface="DM Sans"/>
                <a:ea typeface="DM Sans"/>
                <a:cs typeface="DM Sans"/>
              </a:rPr>
              <a:t>Final dataset: ~150K apartment listings with engineered features</a:t>
            </a:r>
            <a:endParaRPr lang="en-US" sz="1050"/>
          </a:p>
        </p:txBody>
      </p:sp>
      <p:sp>
        <p:nvSpPr>
          <p:cNvPr id="2115741503" name="Text 3"/>
          <p:cNvSpPr/>
          <p:nvPr/>
        </p:nvSpPr>
        <p:spPr bwMode="auto">
          <a:xfrm>
            <a:off x="913953" y="3569643"/>
            <a:ext cx="7756103" cy="222647"/>
          </a:xfrm>
          <a:prstGeom prst="rect">
            <a:avLst/>
          </a:prstGeom>
          <a:noFill/>
          <a:ln/>
        </p:spPr>
        <p:txBody>
          <a:bodyPr wrap="none" lIns="0" tIns="0" rIns="0" bIns="0" rtlCol="0" anchor="t"/>
          <a:lstStyle/>
          <a:p>
            <a:pPr marL="0" indent="0" algn="l">
              <a:lnSpc>
                <a:spcPct val="104000"/>
              </a:lnSpc>
              <a:buNone/>
              <a:defRPr/>
            </a:pPr>
            <a:r>
              <a:rPr lang="en-US" sz="1400">
                <a:solidFill>
                  <a:srgbClr val="FFE5E5"/>
                </a:solidFill>
                <a:latin typeface="Dela Gothic One"/>
                <a:ea typeface="Dela Gothic One"/>
                <a:cs typeface="Dela Gothic One"/>
              </a:rPr>
              <a:t>Phase 4 — Modeling</a:t>
            </a:r>
            <a:endParaRPr lang="en-US" sz="1400"/>
          </a:p>
        </p:txBody>
      </p:sp>
      <p:sp>
        <p:nvSpPr>
          <p:cNvPr id="1124932215" name="Text 4"/>
          <p:cNvSpPr/>
          <p:nvPr/>
        </p:nvSpPr>
        <p:spPr bwMode="auto">
          <a:xfrm>
            <a:off x="913953" y="3873475"/>
            <a:ext cx="7756103" cy="744736"/>
          </a:xfrm>
          <a:prstGeom prst="rect">
            <a:avLst/>
          </a:prstGeom>
          <a:noFill/>
          <a:ln/>
        </p:spPr>
        <p:txBody>
          <a:bodyPr wrap="square" lIns="0" tIns="0" rIns="0" bIns="0" rtlCol="0" anchor="t">
            <a:normAutofit/>
          </a:bodyPr>
          <a:lstStyle/>
          <a:p>
            <a:pPr marL="213360" indent="-213360" algn="l">
              <a:lnSpc>
                <a:spcPct val="133000"/>
              </a:lnSpc>
              <a:buSzPct val="100000"/>
              <a:buChar char="•"/>
              <a:defRPr/>
            </a:pPr>
            <a:r>
              <a:rPr lang="en-US" sz="1050">
                <a:solidFill>
                  <a:srgbClr val="FFE5E5"/>
                </a:solidFill>
                <a:latin typeface="DM Sans"/>
                <a:ea typeface="DM Sans"/>
                <a:cs typeface="DM Sans"/>
              </a:rPr>
              <a:t>Three ensemble regressors: Random Forest, HistGradientBoosting, XGBoost</a:t>
            </a:r>
            <a:endParaRPr lang="en-US" sz="1050"/>
          </a:p>
          <a:p>
            <a:pPr marL="213360" indent="-213360" algn="l">
              <a:lnSpc>
                <a:spcPct val="133000"/>
              </a:lnSpc>
              <a:buSzPct val="100000"/>
              <a:buChar char="•"/>
              <a:defRPr/>
            </a:pPr>
            <a:r>
              <a:rPr lang="en-US" sz="1050">
                <a:solidFill>
                  <a:srgbClr val="FFE5E5"/>
                </a:solidFill>
                <a:latin typeface="DM Sans"/>
                <a:ea typeface="DM Sans"/>
                <a:cs typeface="DM Sans"/>
              </a:rPr>
              <a:t>80/20 train/test split</a:t>
            </a:r>
            <a:endParaRPr lang="en-US" sz="1050"/>
          </a:p>
          <a:p>
            <a:pPr marL="213360" indent="-213360" algn="l">
              <a:lnSpc>
                <a:spcPct val="133000"/>
              </a:lnSpc>
              <a:buSzPct val="100000"/>
              <a:buChar char="•"/>
              <a:defRPr/>
            </a:pPr>
            <a:r>
              <a:rPr lang="en-US" sz="1050">
                <a:solidFill>
                  <a:srgbClr val="FFE5E5"/>
                </a:solidFill>
                <a:latin typeface="DM Sans"/>
                <a:ea typeface="DM Sans"/>
                <a:cs typeface="DM Sans"/>
              </a:rPr>
              <a:t>Final models: all achieved R² &gt; 0.93</a:t>
            </a:r>
            <a:endParaRPr lang="en-US" sz="1050"/>
          </a:p>
        </p:txBody>
      </p:sp>
      <p:sp>
        <p:nvSpPr>
          <p:cNvPr id="10123738" name=""/>
          <p:cNvSpPr/>
          <p:nvPr/>
        </p:nvSpPr>
        <p:spPr bwMode="auto">
          <a:xfrm rot="0" flipH="0" flipV="0">
            <a:off x="7950421" y="4762499"/>
            <a:ext cx="1144143" cy="352009"/>
          </a:xfrm>
          <a:prstGeom prst="rect">
            <a:avLst/>
          </a:prstGeom>
          <a:solidFill>
            <a:srgbClr val="0A0909"/>
          </a:solidFill>
          <a:ln w="12700" cap="flat" cmpd="sng" algn="ctr">
            <a:solidFill>
              <a:srgbClr val="0A0909"/>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
    <p:spTree>
      <p:nvGrpSpPr>
        <p:cNvPr id="1" name=""/>
        <p:cNvGrpSpPr/>
        <p:nvPr/>
      </p:nvGrpSpPr>
      <p:grpSpPr bwMode="auto">
        <a:xfrm>
          <a:off x="0" y="0"/>
          <a:ext cx="0" cy="0"/>
          <a:chOff x="0" y="0"/>
          <a:chExt cx="0" cy="0"/>
        </a:xfrm>
      </p:grpSpPr>
      <p:sp>
        <p:nvSpPr>
          <p:cNvPr id="1732073952" name="Text 0"/>
          <p:cNvSpPr/>
          <p:nvPr/>
        </p:nvSpPr>
        <p:spPr bwMode="auto">
          <a:xfrm>
            <a:off x="473943" y="897657"/>
            <a:ext cx="8196114" cy="445443"/>
          </a:xfrm>
          <a:prstGeom prst="rect">
            <a:avLst/>
          </a:prstGeom>
          <a:noFill/>
          <a:ln/>
        </p:spPr>
        <p:txBody>
          <a:bodyPr wrap="none" lIns="0" tIns="0" rIns="0" bIns="0" rtlCol="0" anchor="t"/>
          <a:lstStyle/>
          <a:p>
            <a:pPr marL="0" indent="0" algn="l">
              <a:lnSpc>
                <a:spcPct val="104000"/>
              </a:lnSpc>
              <a:buNone/>
              <a:defRPr/>
            </a:pPr>
            <a:r>
              <a:rPr lang="en-US" sz="2800">
                <a:solidFill>
                  <a:srgbClr val="FAEBEB"/>
                </a:solidFill>
                <a:latin typeface="Dela Gothic One"/>
                <a:ea typeface="Dela Gothic One"/>
                <a:cs typeface="Dela Gothic One"/>
              </a:rPr>
              <a:t>2. Summary of Each Phase</a:t>
            </a:r>
            <a:endParaRPr lang="en-US" sz="2800"/>
          </a:p>
        </p:txBody>
      </p:sp>
      <p:sp>
        <p:nvSpPr>
          <p:cNvPr id="2113381362" name="Text 1"/>
          <p:cNvSpPr/>
          <p:nvPr/>
        </p:nvSpPr>
        <p:spPr bwMode="auto">
          <a:xfrm>
            <a:off x="913953" y="1613892"/>
            <a:ext cx="7756103" cy="222647"/>
          </a:xfrm>
          <a:prstGeom prst="rect">
            <a:avLst/>
          </a:prstGeom>
          <a:noFill/>
          <a:ln/>
        </p:spPr>
        <p:txBody>
          <a:bodyPr wrap="none" lIns="0" tIns="0" rIns="0" bIns="0" rtlCol="0" anchor="t"/>
          <a:lstStyle/>
          <a:p>
            <a:pPr marL="0" indent="0" algn="l">
              <a:lnSpc>
                <a:spcPct val="104000"/>
              </a:lnSpc>
              <a:buNone/>
              <a:defRPr/>
            </a:pPr>
            <a:r>
              <a:rPr lang="en-US" sz="1400">
                <a:solidFill>
                  <a:srgbClr val="FFE5E5"/>
                </a:solidFill>
                <a:latin typeface="Dela Gothic One"/>
                <a:ea typeface="Dela Gothic One"/>
                <a:cs typeface="Dela Gothic One"/>
              </a:rPr>
              <a:t>Phase 5 — Evaluation</a:t>
            </a:r>
            <a:endParaRPr lang="en-US" sz="1400"/>
          </a:p>
        </p:txBody>
      </p:sp>
      <p:sp>
        <p:nvSpPr>
          <p:cNvPr id="1133032766" name="Text 2"/>
          <p:cNvSpPr/>
          <p:nvPr/>
        </p:nvSpPr>
        <p:spPr bwMode="auto">
          <a:xfrm>
            <a:off x="913953" y="1917725"/>
            <a:ext cx="7756103" cy="1272778"/>
          </a:xfrm>
          <a:prstGeom prst="rect">
            <a:avLst/>
          </a:prstGeom>
          <a:noFill/>
          <a:ln/>
        </p:spPr>
        <p:txBody>
          <a:bodyPr wrap="square" lIns="0" tIns="0" rIns="0" bIns="0" rtlCol="0" anchor="t">
            <a:normAutofit/>
          </a:bodyPr>
          <a:lstStyle/>
          <a:p>
            <a:pPr marL="213360" indent="-213360" algn="l">
              <a:lnSpc>
                <a:spcPct val="133000"/>
              </a:lnSpc>
              <a:buSzPct val="100000"/>
              <a:buChar char="•"/>
              <a:defRPr/>
            </a:pPr>
            <a:r>
              <a:rPr lang="en-US" sz="1050">
                <a:solidFill>
                  <a:srgbClr val="FFE5E5"/>
                </a:solidFill>
                <a:latin typeface="DM Sans"/>
                <a:ea typeface="DM Sans"/>
                <a:cs typeface="DM Sans"/>
              </a:rPr>
              <a:t>Random Forest best overall: R² = 0.946, MAE = $35.58, RMSE = $77.32</a:t>
            </a:r>
            <a:endParaRPr lang="en-US" sz="1050"/>
          </a:p>
          <a:p>
            <a:pPr marL="213360" indent="-213360" algn="l">
              <a:lnSpc>
                <a:spcPct val="133000"/>
              </a:lnSpc>
              <a:buSzPct val="100000"/>
              <a:buChar char="•"/>
              <a:defRPr/>
            </a:pPr>
            <a:r>
              <a:rPr lang="en-US" sz="1050">
                <a:solidFill>
                  <a:srgbClr val="FFE5E5"/>
                </a:solidFill>
                <a:latin typeface="DM Sans"/>
                <a:ea typeface="DM Sans"/>
                <a:cs typeface="DM Sans"/>
              </a:rPr>
              <a:t>HistGradientBoosting: R² = 0.934, MAE = $47.07, RMSE = $85.70</a:t>
            </a:r>
            <a:endParaRPr lang="en-US" sz="1050"/>
          </a:p>
          <a:p>
            <a:pPr marL="213360" indent="-213360" algn="l">
              <a:lnSpc>
                <a:spcPct val="133000"/>
              </a:lnSpc>
              <a:buSzPct val="100000"/>
              <a:buChar char="•"/>
              <a:defRPr/>
            </a:pPr>
            <a:r>
              <a:rPr lang="en-US" sz="1050">
                <a:solidFill>
                  <a:srgbClr val="FFE5E5"/>
                </a:solidFill>
                <a:latin typeface="DM Sans"/>
                <a:ea typeface="DM Sans"/>
                <a:cs typeface="DM Sans"/>
              </a:rPr>
              <a:t>XGBoost: R² = 0.939, MAE = $46.47, RMSE = $82.58</a:t>
            </a:r>
            <a:endParaRPr lang="en-US" sz="1050"/>
          </a:p>
          <a:p>
            <a:pPr marL="213360" indent="-213360" algn="l">
              <a:lnSpc>
                <a:spcPct val="133000"/>
              </a:lnSpc>
              <a:buSzPct val="100000"/>
              <a:buChar char="•"/>
              <a:defRPr/>
            </a:pPr>
            <a:r>
              <a:rPr lang="en-US" sz="1050">
                <a:solidFill>
                  <a:srgbClr val="FFE5E5"/>
                </a:solidFill>
                <a:latin typeface="DM Sans"/>
                <a:ea typeface="DM Sans"/>
                <a:cs typeface="DM Sans"/>
              </a:rPr>
              <a:t>All models consistently identified location, square footage, beds, baths as top predictors</a:t>
            </a:r>
            <a:endParaRPr lang="en-US" sz="1050"/>
          </a:p>
          <a:p>
            <a:pPr marL="213360" indent="-213360" algn="l">
              <a:lnSpc>
                <a:spcPct val="133000"/>
              </a:lnSpc>
              <a:buSzPct val="100000"/>
              <a:buChar char="•"/>
              <a:defRPr/>
            </a:pPr>
            <a:r>
              <a:rPr lang="en-US" sz="1050">
                <a:solidFill>
                  <a:srgbClr val="FFE5E5"/>
                </a:solidFill>
                <a:latin typeface="DM Sans"/>
                <a:ea typeface="DM Sans"/>
                <a:cs typeface="DM Sans"/>
              </a:rPr>
              <a:t>Assessed against business goals — all success criteria met</a:t>
            </a:r>
            <a:endParaRPr lang="en-US" sz="1050"/>
          </a:p>
        </p:txBody>
      </p:sp>
      <p:sp>
        <p:nvSpPr>
          <p:cNvPr id="325689338" name="Text 3"/>
          <p:cNvSpPr/>
          <p:nvPr/>
        </p:nvSpPr>
        <p:spPr bwMode="auto">
          <a:xfrm>
            <a:off x="913953" y="3461296"/>
            <a:ext cx="7756103" cy="222647"/>
          </a:xfrm>
          <a:prstGeom prst="rect">
            <a:avLst/>
          </a:prstGeom>
          <a:noFill/>
          <a:ln/>
        </p:spPr>
        <p:txBody>
          <a:bodyPr wrap="none" lIns="0" tIns="0" rIns="0" bIns="0" rtlCol="0" anchor="t"/>
          <a:lstStyle/>
          <a:p>
            <a:pPr marL="0" indent="0" algn="l">
              <a:lnSpc>
                <a:spcPct val="104000"/>
              </a:lnSpc>
              <a:buNone/>
              <a:defRPr/>
            </a:pPr>
            <a:r>
              <a:rPr lang="en-US" sz="1400">
                <a:solidFill>
                  <a:srgbClr val="FFE5E5"/>
                </a:solidFill>
                <a:latin typeface="Dela Gothic One"/>
                <a:ea typeface="Dela Gothic One"/>
                <a:cs typeface="Dela Gothic One"/>
              </a:rPr>
              <a:t>Phase 6 — Deployment</a:t>
            </a:r>
            <a:endParaRPr lang="en-US" sz="1400"/>
          </a:p>
        </p:txBody>
      </p:sp>
      <p:sp>
        <p:nvSpPr>
          <p:cNvPr id="1984141272" name="Text 4"/>
          <p:cNvSpPr/>
          <p:nvPr/>
        </p:nvSpPr>
        <p:spPr bwMode="auto">
          <a:xfrm>
            <a:off x="913953" y="3765128"/>
            <a:ext cx="7756103" cy="480715"/>
          </a:xfrm>
          <a:prstGeom prst="rect">
            <a:avLst/>
          </a:prstGeom>
          <a:noFill/>
          <a:ln/>
        </p:spPr>
        <p:txBody>
          <a:bodyPr wrap="square" lIns="0" tIns="0" rIns="0" bIns="0" rtlCol="0" anchor="t">
            <a:normAutofit/>
          </a:bodyPr>
          <a:lstStyle/>
          <a:p>
            <a:pPr marL="213360" indent="-213360" algn="l">
              <a:lnSpc>
                <a:spcPct val="133000"/>
              </a:lnSpc>
              <a:buSzPct val="100000"/>
              <a:buChar char="•"/>
              <a:defRPr/>
            </a:pPr>
            <a:r>
              <a:rPr lang="en-US" sz="1050">
                <a:solidFill>
                  <a:srgbClr val="FFE5E5"/>
                </a:solidFill>
                <a:latin typeface="DM Sans"/>
                <a:ea typeface="DM Sans"/>
                <a:cs typeface="DM Sans"/>
              </a:rPr>
              <a:t>Documented deployment plan, monitoring and maintenance strategy</a:t>
            </a:r>
            <a:endParaRPr lang="en-US" sz="1050"/>
          </a:p>
          <a:p>
            <a:pPr marL="213360" indent="-213360" algn="l">
              <a:lnSpc>
                <a:spcPct val="133000"/>
              </a:lnSpc>
              <a:buSzPct val="100000"/>
              <a:buChar char="•"/>
              <a:defRPr/>
            </a:pPr>
            <a:r>
              <a:rPr lang="en-US" sz="1050">
                <a:solidFill>
                  <a:srgbClr val="FFE5E5"/>
                </a:solidFill>
                <a:latin typeface="DM Sans"/>
                <a:ea typeface="DM Sans"/>
                <a:cs typeface="DM Sans"/>
              </a:rPr>
              <a:t>Final presentation and report delivered</a:t>
            </a:r>
            <a:endParaRPr lang="en-US" sz="1050"/>
          </a:p>
        </p:txBody>
      </p:sp>
      <p:sp>
        <p:nvSpPr>
          <p:cNvPr id="696148487" name=""/>
          <p:cNvSpPr/>
          <p:nvPr/>
        </p:nvSpPr>
        <p:spPr bwMode="auto">
          <a:xfrm rot="0" flipH="0" flipV="0">
            <a:off x="7950421" y="4762499"/>
            <a:ext cx="1144143" cy="352009"/>
          </a:xfrm>
          <a:prstGeom prst="rect">
            <a:avLst/>
          </a:prstGeom>
          <a:solidFill>
            <a:srgbClr val="0A0909"/>
          </a:solidFill>
          <a:ln w="12700" cap="flat" cmpd="sng" algn="ctr">
            <a:solidFill>
              <a:srgbClr val="0A0909"/>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6">
    <p:spTree>
      <p:nvGrpSpPr>
        <p:cNvPr id="1" name=""/>
        <p:cNvGrpSpPr/>
        <p:nvPr/>
      </p:nvGrpSpPr>
      <p:grpSpPr bwMode="auto">
        <a:xfrm>
          <a:off x="0" y="0"/>
          <a:ext cx="0" cy="0"/>
          <a:chOff x="0" y="0"/>
          <a:chExt cx="0" cy="0"/>
        </a:xfrm>
      </p:grpSpPr>
      <p:sp>
        <p:nvSpPr>
          <p:cNvPr id="1573452135" name="Text 0"/>
          <p:cNvSpPr/>
          <p:nvPr/>
        </p:nvSpPr>
        <p:spPr bwMode="auto">
          <a:xfrm>
            <a:off x="473943" y="396924"/>
            <a:ext cx="8196114" cy="368871"/>
          </a:xfrm>
          <a:prstGeom prst="rect">
            <a:avLst/>
          </a:prstGeom>
          <a:noFill/>
          <a:ln/>
        </p:spPr>
        <p:txBody>
          <a:bodyPr wrap="none" lIns="0" tIns="0" rIns="0" bIns="0" rtlCol="0" anchor="t"/>
          <a:lstStyle/>
          <a:p>
            <a:pPr marL="0" indent="0" algn="l">
              <a:lnSpc>
                <a:spcPct val="104000"/>
              </a:lnSpc>
              <a:buNone/>
              <a:defRPr/>
            </a:pPr>
            <a:r>
              <a:rPr lang="en-US" sz="2300">
                <a:solidFill>
                  <a:srgbClr val="FAEBEB"/>
                </a:solidFill>
                <a:latin typeface="Dela Gothic One"/>
                <a:ea typeface="Dela Gothic One"/>
                <a:cs typeface="Dela Gothic One"/>
              </a:rPr>
              <a:t>3. Data Cleansing</a:t>
            </a:r>
            <a:endParaRPr lang="en-US" sz="2300"/>
          </a:p>
        </p:txBody>
      </p:sp>
      <p:sp>
        <p:nvSpPr>
          <p:cNvPr id="981257307" name="Shape 1"/>
          <p:cNvSpPr/>
          <p:nvPr/>
        </p:nvSpPr>
        <p:spPr bwMode="auto">
          <a:xfrm>
            <a:off x="473943" y="951457"/>
            <a:ext cx="2670125" cy="1476375"/>
          </a:xfrm>
          <a:prstGeom prst="roundRect">
            <a:avLst>
              <a:gd name="adj" fmla="val 3190"/>
            </a:avLst>
          </a:prstGeom>
          <a:solidFill>
            <a:srgbClr val="0A0A0A">
              <a:alpha val="95000"/>
            </a:srgbClr>
          </a:solidFill>
          <a:ln w="14288">
            <a:solidFill>
              <a:srgbClr val="8D2424"/>
            </a:solidFill>
            <a:prstDash val="solid"/>
          </a:ln>
        </p:spPr>
      </p:sp>
      <p:sp>
        <p:nvSpPr>
          <p:cNvPr id="743323581" name="Text 2"/>
          <p:cNvSpPr/>
          <p:nvPr/>
        </p:nvSpPr>
        <p:spPr bwMode="auto">
          <a:xfrm>
            <a:off x="600298" y="1077813"/>
            <a:ext cx="2417415" cy="184398"/>
          </a:xfrm>
          <a:prstGeom prst="rect">
            <a:avLst/>
          </a:prstGeom>
          <a:noFill/>
          <a:ln/>
        </p:spPr>
        <p:txBody>
          <a:bodyPr wrap="none" lIns="0" tIns="0" rIns="0" bIns="0" rtlCol="0" anchor="t"/>
          <a:lstStyle/>
          <a:p>
            <a:pPr marL="0" indent="0" algn="l">
              <a:lnSpc>
                <a:spcPct val="104000"/>
              </a:lnSpc>
              <a:buNone/>
              <a:defRPr/>
            </a:pPr>
            <a:r>
              <a:rPr lang="en-US" sz="1150">
                <a:solidFill>
                  <a:srgbClr val="FFE5E5"/>
                </a:solidFill>
                <a:latin typeface="Dela Gothic One"/>
                <a:ea typeface="Dela Gothic One"/>
                <a:cs typeface="Dela Gothic One"/>
              </a:rPr>
              <a:t>Geographic bounding box</a:t>
            </a:r>
            <a:endParaRPr lang="en-US" sz="1150"/>
          </a:p>
        </p:txBody>
      </p:sp>
      <p:sp>
        <p:nvSpPr>
          <p:cNvPr id="72477793" name="Text 3"/>
          <p:cNvSpPr/>
          <p:nvPr/>
        </p:nvSpPr>
        <p:spPr bwMode="auto">
          <a:xfrm>
            <a:off x="600298" y="1317873"/>
            <a:ext cx="2417415" cy="983605"/>
          </a:xfrm>
          <a:prstGeom prst="rect">
            <a:avLst/>
          </a:prstGeom>
          <a:noFill/>
          <a:ln/>
        </p:spPr>
        <p:txBody>
          <a:bodyPr wrap="square" lIns="0" tIns="0" rIns="0" bIns="0" rtlCol="0" anchor="t">
            <a:normAutofit/>
          </a:bodyPr>
          <a:lstStyle/>
          <a:p>
            <a:pPr marL="0" indent="0" algn="l">
              <a:lnSpc>
                <a:spcPct val="122000"/>
              </a:lnSpc>
              <a:buNone/>
              <a:defRPr/>
            </a:pPr>
            <a:r>
              <a:rPr lang="en-US" sz="850">
                <a:solidFill>
                  <a:srgbClr val="FFE5E5"/>
                </a:solidFill>
                <a:latin typeface="DM Sans"/>
                <a:ea typeface="DM Sans"/>
                <a:cs typeface="DM Sans"/>
              </a:rPr>
              <a:t>Applied Southern US lat/lon range (lat 24.55–40.64, lon -106.65–-75.0) to remove listings outside the target region, then filtered to the 17 Census Bureau Southern states: AL, AR, DC, DE, FL, GA, KY, LA, MD, MS, NC, OK, SC, TN, TX, VA, WV</a:t>
            </a:r>
            <a:endParaRPr lang="en-US" sz="850"/>
          </a:p>
        </p:txBody>
      </p:sp>
      <p:sp>
        <p:nvSpPr>
          <p:cNvPr id="1316644948" name="Shape 4"/>
          <p:cNvSpPr/>
          <p:nvPr/>
        </p:nvSpPr>
        <p:spPr bwMode="auto">
          <a:xfrm>
            <a:off x="3236863" y="951457"/>
            <a:ext cx="2670200" cy="1476375"/>
          </a:xfrm>
          <a:prstGeom prst="roundRect">
            <a:avLst>
              <a:gd name="adj" fmla="val 3190"/>
            </a:avLst>
          </a:prstGeom>
          <a:solidFill>
            <a:srgbClr val="0A0A0A">
              <a:alpha val="95000"/>
            </a:srgbClr>
          </a:solidFill>
          <a:ln w="14288">
            <a:solidFill>
              <a:srgbClr val="8D2424"/>
            </a:solidFill>
            <a:prstDash val="solid"/>
          </a:ln>
        </p:spPr>
      </p:sp>
      <p:sp>
        <p:nvSpPr>
          <p:cNvPr id="590779152" name="Text 5"/>
          <p:cNvSpPr/>
          <p:nvPr/>
        </p:nvSpPr>
        <p:spPr bwMode="auto">
          <a:xfrm>
            <a:off x="3363218" y="1077813"/>
            <a:ext cx="2417490" cy="184398"/>
          </a:xfrm>
          <a:prstGeom prst="rect">
            <a:avLst/>
          </a:prstGeom>
          <a:noFill/>
          <a:ln/>
        </p:spPr>
        <p:txBody>
          <a:bodyPr wrap="none" lIns="0" tIns="0" rIns="0" bIns="0" rtlCol="0" anchor="t"/>
          <a:lstStyle/>
          <a:p>
            <a:pPr marL="0" indent="0" algn="l">
              <a:lnSpc>
                <a:spcPct val="104000"/>
              </a:lnSpc>
              <a:buNone/>
              <a:defRPr/>
            </a:pPr>
            <a:r>
              <a:rPr lang="en-US" sz="1150">
                <a:solidFill>
                  <a:srgbClr val="FFE5E5"/>
                </a:solidFill>
                <a:latin typeface="Dela Gothic One"/>
                <a:ea typeface="Dela Gothic One"/>
                <a:cs typeface="Dela Gothic One"/>
              </a:rPr>
              <a:t>Duplicate removal</a:t>
            </a:r>
            <a:endParaRPr lang="en-US" sz="1150"/>
          </a:p>
        </p:txBody>
      </p:sp>
      <p:sp>
        <p:nvSpPr>
          <p:cNvPr id="1367023508" name="Text 6"/>
          <p:cNvSpPr/>
          <p:nvPr/>
        </p:nvSpPr>
        <p:spPr bwMode="auto">
          <a:xfrm>
            <a:off x="3363218" y="1317873"/>
            <a:ext cx="2417490" cy="163934"/>
          </a:xfrm>
          <a:prstGeom prst="rect">
            <a:avLst/>
          </a:prstGeom>
          <a:noFill/>
          <a:ln/>
        </p:spPr>
        <p:txBody>
          <a:bodyPr wrap="none" lIns="0" tIns="0" rIns="0" bIns="0" rtlCol="0" anchor="t"/>
          <a:lstStyle/>
          <a:p>
            <a:pPr marL="0" indent="0" algn="l">
              <a:lnSpc>
                <a:spcPct val="122000"/>
              </a:lnSpc>
              <a:buNone/>
              <a:defRPr/>
            </a:pPr>
            <a:r>
              <a:rPr lang="en-US" sz="850">
                <a:solidFill>
                  <a:srgbClr val="FFE5E5"/>
                </a:solidFill>
                <a:latin typeface="DM Sans"/>
                <a:ea typeface="DM Sans"/>
                <a:cs typeface="DM Sans"/>
              </a:rPr>
              <a:t>Dropped duplicate rows and duplicate IDs</a:t>
            </a:r>
            <a:endParaRPr lang="en-US" sz="850"/>
          </a:p>
        </p:txBody>
      </p:sp>
      <p:sp>
        <p:nvSpPr>
          <p:cNvPr id="270815050" name="Shape 7"/>
          <p:cNvSpPr/>
          <p:nvPr/>
        </p:nvSpPr>
        <p:spPr bwMode="auto">
          <a:xfrm>
            <a:off x="5999857" y="951457"/>
            <a:ext cx="2670200" cy="1476375"/>
          </a:xfrm>
          <a:prstGeom prst="roundRect">
            <a:avLst>
              <a:gd name="adj" fmla="val 3190"/>
            </a:avLst>
          </a:prstGeom>
          <a:solidFill>
            <a:srgbClr val="0A0A0A">
              <a:alpha val="95000"/>
            </a:srgbClr>
          </a:solidFill>
          <a:ln w="14288">
            <a:solidFill>
              <a:srgbClr val="8D2424"/>
            </a:solidFill>
            <a:prstDash val="solid"/>
          </a:ln>
        </p:spPr>
      </p:sp>
      <p:sp>
        <p:nvSpPr>
          <p:cNvPr id="1127975937" name="Text 8"/>
          <p:cNvSpPr/>
          <p:nvPr/>
        </p:nvSpPr>
        <p:spPr bwMode="auto">
          <a:xfrm>
            <a:off x="6126212" y="1077813"/>
            <a:ext cx="2417490" cy="184398"/>
          </a:xfrm>
          <a:prstGeom prst="rect">
            <a:avLst/>
          </a:prstGeom>
          <a:noFill/>
          <a:ln/>
        </p:spPr>
        <p:txBody>
          <a:bodyPr wrap="none" lIns="0" tIns="0" rIns="0" bIns="0" rtlCol="0" anchor="t"/>
          <a:lstStyle/>
          <a:p>
            <a:pPr marL="0" indent="0" algn="l">
              <a:lnSpc>
                <a:spcPct val="104000"/>
              </a:lnSpc>
              <a:buNone/>
              <a:defRPr/>
            </a:pPr>
            <a:r>
              <a:rPr lang="en-US" sz="1150">
                <a:solidFill>
                  <a:srgbClr val="FFE5E5"/>
                </a:solidFill>
                <a:latin typeface="Dela Gothic One"/>
                <a:ea typeface="Dela Gothic One"/>
                <a:cs typeface="Dela Gothic One"/>
              </a:rPr>
              <a:t>Column selection</a:t>
            </a:r>
            <a:endParaRPr lang="en-US" sz="1150"/>
          </a:p>
        </p:txBody>
      </p:sp>
      <p:sp>
        <p:nvSpPr>
          <p:cNvPr id="325165176" name="Text 9"/>
          <p:cNvSpPr/>
          <p:nvPr/>
        </p:nvSpPr>
        <p:spPr bwMode="auto">
          <a:xfrm>
            <a:off x="6126212" y="1317873"/>
            <a:ext cx="2417490" cy="327868"/>
          </a:xfrm>
          <a:prstGeom prst="rect">
            <a:avLst/>
          </a:prstGeom>
          <a:noFill/>
          <a:ln/>
        </p:spPr>
        <p:txBody>
          <a:bodyPr wrap="square" lIns="0" tIns="0" rIns="0" bIns="0" rtlCol="0" anchor="t">
            <a:normAutofit/>
          </a:bodyPr>
          <a:lstStyle/>
          <a:p>
            <a:pPr marL="0" indent="0" algn="l">
              <a:lnSpc>
                <a:spcPct val="122000"/>
              </a:lnSpc>
              <a:buNone/>
              <a:defRPr/>
            </a:pPr>
            <a:r>
              <a:rPr lang="en-US" sz="850">
                <a:solidFill>
                  <a:srgbClr val="FFE5E5"/>
                </a:solidFill>
                <a:latin typeface="DM Sans"/>
                <a:ea typeface="DM Sans"/>
                <a:cs typeface="DM Sans"/>
              </a:rPr>
              <a:t>Removed uninformative columns (id, url, image_url, description)</a:t>
            </a:r>
            <a:endParaRPr lang="en-US" sz="850"/>
          </a:p>
        </p:txBody>
      </p:sp>
      <p:sp>
        <p:nvSpPr>
          <p:cNvPr id="593609123" name="Shape 10"/>
          <p:cNvSpPr/>
          <p:nvPr/>
        </p:nvSpPr>
        <p:spPr bwMode="auto">
          <a:xfrm>
            <a:off x="473943" y="2520628"/>
            <a:ext cx="2670125" cy="1312441"/>
          </a:xfrm>
          <a:prstGeom prst="roundRect">
            <a:avLst>
              <a:gd name="adj" fmla="val 3589"/>
            </a:avLst>
          </a:prstGeom>
          <a:solidFill>
            <a:srgbClr val="0A0A0A">
              <a:alpha val="95000"/>
            </a:srgbClr>
          </a:solidFill>
          <a:ln w="14288">
            <a:solidFill>
              <a:srgbClr val="8D2424"/>
            </a:solidFill>
            <a:prstDash val="solid"/>
          </a:ln>
        </p:spPr>
      </p:sp>
      <p:sp>
        <p:nvSpPr>
          <p:cNvPr id="1381987290" name="Text 11"/>
          <p:cNvSpPr/>
          <p:nvPr/>
        </p:nvSpPr>
        <p:spPr bwMode="auto">
          <a:xfrm>
            <a:off x="600298" y="2646983"/>
            <a:ext cx="2417415" cy="184398"/>
          </a:xfrm>
          <a:prstGeom prst="rect">
            <a:avLst/>
          </a:prstGeom>
          <a:noFill/>
          <a:ln/>
        </p:spPr>
        <p:txBody>
          <a:bodyPr wrap="none" lIns="0" tIns="0" rIns="0" bIns="0" rtlCol="0" anchor="t"/>
          <a:lstStyle/>
          <a:p>
            <a:pPr marL="0" indent="0" algn="l">
              <a:lnSpc>
                <a:spcPct val="104000"/>
              </a:lnSpc>
              <a:buNone/>
              <a:defRPr/>
            </a:pPr>
            <a:r>
              <a:rPr lang="en-US" sz="1150">
                <a:solidFill>
                  <a:srgbClr val="FFE5E5"/>
                </a:solidFill>
                <a:latin typeface="Dela Gothic One"/>
                <a:ea typeface="Dela Gothic One"/>
                <a:cs typeface="Dela Gothic One"/>
              </a:rPr>
              <a:t>Outlier treatment</a:t>
            </a:r>
            <a:endParaRPr lang="en-US" sz="1150"/>
          </a:p>
        </p:txBody>
      </p:sp>
      <p:sp>
        <p:nvSpPr>
          <p:cNvPr id="1949382118" name="Text 12"/>
          <p:cNvSpPr/>
          <p:nvPr/>
        </p:nvSpPr>
        <p:spPr bwMode="auto">
          <a:xfrm>
            <a:off x="600298" y="2887042"/>
            <a:ext cx="2417415" cy="819671"/>
          </a:xfrm>
          <a:prstGeom prst="rect">
            <a:avLst/>
          </a:prstGeom>
          <a:noFill/>
          <a:ln/>
        </p:spPr>
        <p:txBody>
          <a:bodyPr wrap="square" lIns="0" tIns="0" rIns="0" bIns="0" rtlCol="0" anchor="t">
            <a:normAutofit/>
          </a:bodyPr>
          <a:lstStyle/>
          <a:p>
            <a:pPr marL="0" indent="0" algn="l">
              <a:lnSpc>
                <a:spcPct val="122000"/>
              </a:lnSpc>
              <a:buNone/>
              <a:defRPr/>
            </a:pPr>
            <a:r>
              <a:rPr lang="en-US" sz="850">
                <a:solidFill>
                  <a:srgbClr val="FFE5E5"/>
                </a:solidFill>
                <a:latin typeface="DM Sans"/>
                <a:ea typeface="DM Sans"/>
                <a:cs typeface="DM Sans"/>
              </a:rPr>
              <a:t>IQR-based price filtering per region — removed listings where price fell outside 1.5× IQR below Q1 or above Q3, computed separately for each region to account for local market differences</a:t>
            </a:r>
            <a:endParaRPr lang="en-US" sz="850"/>
          </a:p>
        </p:txBody>
      </p:sp>
      <p:sp>
        <p:nvSpPr>
          <p:cNvPr id="1255452405" name="Shape 13"/>
          <p:cNvSpPr/>
          <p:nvPr/>
        </p:nvSpPr>
        <p:spPr bwMode="auto">
          <a:xfrm>
            <a:off x="3236863" y="2520628"/>
            <a:ext cx="2670200" cy="1312441"/>
          </a:xfrm>
          <a:prstGeom prst="roundRect">
            <a:avLst>
              <a:gd name="adj" fmla="val 3589"/>
            </a:avLst>
          </a:prstGeom>
          <a:solidFill>
            <a:srgbClr val="0A0A0A">
              <a:alpha val="95000"/>
            </a:srgbClr>
          </a:solidFill>
          <a:ln w="14288">
            <a:solidFill>
              <a:srgbClr val="8D2424"/>
            </a:solidFill>
            <a:prstDash val="solid"/>
          </a:ln>
        </p:spPr>
      </p:sp>
      <p:sp>
        <p:nvSpPr>
          <p:cNvPr id="50851180" name="Text 14"/>
          <p:cNvSpPr/>
          <p:nvPr/>
        </p:nvSpPr>
        <p:spPr bwMode="auto">
          <a:xfrm>
            <a:off x="3363218" y="2646983"/>
            <a:ext cx="2417490" cy="184398"/>
          </a:xfrm>
          <a:prstGeom prst="rect">
            <a:avLst/>
          </a:prstGeom>
          <a:noFill/>
          <a:ln/>
        </p:spPr>
        <p:txBody>
          <a:bodyPr wrap="none" lIns="0" tIns="0" rIns="0" bIns="0" rtlCol="0" anchor="t"/>
          <a:lstStyle/>
          <a:p>
            <a:pPr marL="0" indent="0" algn="l">
              <a:lnSpc>
                <a:spcPct val="104000"/>
              </a:lnSpc>
              <a:buNone/>
              <a:defRPr/>
            </a:pPr>
            <a:r>
              <a:rPr lang="en-US" sz="1150">
                <a:solidFill>
                  <a:srgbClr val="FFE5E5"/>
                </a:solidFill>
                <a:latin typeface="Dela Gothic One"/>
                <a:ea typeface="Dela Gothic One"/>
                <a:cs typeface="Dela Gothic One"/>
              </a:rPr>
              <a:t>Apartment-only filter</a:t>
            </a:r>
            <a:endParaRPr lang="en-US" sz="1150"/>
          </a:p>
        </p:txBody>
      </p:sp>
      <p:sp>
        <p:nvSpPr>
          <p:cNvPr id="62778762" name="Text 15"/>
          <p:cNvSpPr/>
          <p:nvPr/>
        </p:nvSpPr>
        <p:spPr bwMode="auto">
          <a:xfrm>
            <a:off x="3363218" y="2887042"/>
            <a:ext cx="2417490" cy="327868"/>
          </a:xfrm>
          <a:prstGeom prst="rect">
            <a:avLst/>
          </a:prstGeom>
          <a:noFill/>
          <a:ln/>
        </p:spPr>
        <p:txBody>
          <a:bodyPr wrap="square" lIns="0" tIns="0" rIns="0" bIns="0" rtlCol="0" anchor="t">
            <a:normAutofit/>
          </a:bodyPr>
          <a:lstStyle/>
          <a:p>
            <a:pPr marL="0" indent="0" algn="l">
              <a:lnSpc>
                <a:spcPct val="122000"/>
              </a:lnSpc>
              <a:buNone/>
              <a:defRPr/>
            </a:pPr>
            <a:r>
              <a:rPr lang="en-US" sz="850">
                <a:solidFill>
                  <a:srgbClr val="FFE5E5"/>
                </a:solidFill>
                <a:latin typeface="DM Sans"/>
                <a:ea typeface="DM Sans"/>
                <a:cs typeface="DM Sans"/>
              </a:rPr>
              <a:t>Narrowed to type == 'apartment' (~150K rows) for a focused, homogeneous analysis</a:t>
            </a:r>
            <a:endParaRPr lang="en-US" sz="850"/>
          </a:p>
        </p:txBody>
      </p:sp>
      <p:sp>
        <p:nvSpPr>
          <p:cNvPr id="1245821119" name="Shape 16"/>
          <p:cNvSpPr/>
          <p:nvPr/>
        </p:nvSpPr>
        <p:spPr bwMode="auto">
          <a:xfrm>
            <a:off x="5999857" y="2520628"/>
            <a:ext cx="2670200" cy="1312441"/>
          </a:xfrm>
          <a:prstGeom prst="roundRect">
            <a:avLst>
              <a:gd name="adj" fmla="val 3589"/>
            </a:avLst>
          </a:prstGeom>
          <a:solidFill>
            <a:srgbClr val="0A0A0A">
              <a:alpha val="95000"/>
            </a:srgbClr>
          </a:solidFill>
          <a:ln w="14288">
            <a:solidFill>
              <a:srgbClr val="8D2424"/>
            </a:solidFill>
            <a:prstDash val="solid"/>
          </a:ln>
        </p:spPr>
      </p:sp>
      <p:sp>
        <p:nvSpPr>
          <p:cNvPr id="5305900" name="Text 17"/>
          <p:cNvSpPr/>
          <p:nvPr/>
        </p:nvSpPr>
        <p:spPr bwMode="auto">
          <a:xfrm>
            <a:off x="6126212" y="2646983"/>
            <a:ext cx="2417490" cy="184398"/>
          </a:xfrm>
          <a:prstGeom prst="rect">
            <a:avLst/>
          </a:prstGeom>
          <a:noFill/>
          <a:ln/>
        </p:spPr>
        <p:txBody>
          <a:bodyPr wrap="none" lIns="0" tIns="0" rIns="0" bIns="0" rtlCol="0" anchor="t"/>
          <a:lstStyle/>
          <a:p>
            <a:pPr marL="0" indent="0" algn="l">
              <a:lnSpc>
                <a:spcPct val="104000"/>
              </a:lnSpc>
              <a:buNone/>
              <a:defRPr/>
            </a:pPr>
            <a:r>
              <a:rPr lang="en-US" sz="1150">
                <a:solidFill>
                  <a:srgbClr val="FFE5E5"/>
                </a:solidFill>
                <a:latin typeface="Dela Gothic One"/>
                <a:ea typeface="Dela Gothic One"/>
                <a:cs typeface="Dela Gothic One"/>
              </a:rPr>
              <a:t>Missing values</a:t>
            </a:r>
            <a:endParaRPr lang="en-US" sz="1150"/>
          </a:p>
        </p:txBody>
      </p:sp>
      <p:sp>
        <p:nvSpPr>
          <p:cNvPr id="660501032" name="Text 18"/>
          <p:cNvSpPr/>
          <p:nvPr/>
        </p:nvSpPr>
        <p:spPr bwMode="auto">
          <a:xfrm>
            <a:off x="6126212" y="2887042"/>
            <a:ext cx="2417490" cy="819671"/>
          </a:xfrm>
          <a:prstGeom prst="rect">
            <a:avLst/>
          </a:prstGeom>
          <a:noFill/>
          <a:ln/>
        </p:spPr>
        <p:txBody>
          <a:bodyPr wrap="square" lIns="0" tIns="0" rIns="0" bIns="0" rtlCol="0" anchor="t">
            <a:normAutofit/>
          </a:bodyPr>
          <a:lstStyle/>
          <a:p>
            <a:pPr marL="0" indent="0" algn="l">
              <a:lnSpc>
                <a:spcPct val="122000"/>
              </a:lnSpc>
              <a:buNone/>
              <a:defRPr/>
            </a:pPr>
            <a:r>
              <a:rPr lang="en-US" sz="850">
                <a:solidFill>
                  <a:srgbClr val="FFE5E5"/>
                </a:solidFill>
                <a:latin typeface="DM Sans"/>
                <a:ea typeface="DM Sans"/>
                <a:cs typeface="DM Sans"/>
              </a:rPr>
              <a:t>Numeric columns (sqfeet, beds, baths, lat, long, and boolean amenities) imputed with median; laundry/parking options missing treated as explicit "Missing" category; state and region had no missing values</a:t>
            </a:r>
            <a:endParaRPr lang="en-US" sz="850"/>
          </a:p>
        </p:txBody>
      </p:sp>
      <p:sp>
        <p:nvSpPr>
          <p:cNvPr id="448308008" name="Shape 19"/>
          <p:cNvSpPr/>
          <p:nvPr/>
        </p:nvSpPr>
        <p:spPr bwMode="auto">
          <a:xfrm>
            <a:off x="473943" y="3925863"/>
            <a:ext cx="8196114" cy="820638"/>
          </a:xfrm>
          <a:prstGeom prst="roundRect">
            <a:avLst>
              <a:gd name="adj" fmla="val 5739"/>
            </a:avLst>
          </a:prstGeom>
          <a:solidFill>
            <a:srgbClr val="0A0A0A">
              <a:alpha val="95000"/>
            </a:srgbClr>
          </a:solidFill>
          <a:ln w="14288">
            <a:solidFill>
              <a:srgbClr val="8D2424"/>
            </a:solidFill>
            <a:prstDash val="solid"/>
          </a:ln>
        </p:spPr>
      </p:sp>
      <p:sp>
        <p:nvSpPr>
          <p:cNvPr id="1005552643" name="Text 20"/>
          <p:cNvSpPr/>
          <p:nvPr/>
        </p:nvSpPr>
        <p:spPr bwMode="auto">
          <a:xfrm>
            <a:off x="600298" y="4052218"/>
            <a:ext cx="7943404" cy="184398"/>
          </a:xfrm>
          <a:prstGeom prst="rect">
            <a:avLst/>
          </a:prstGeom>
          <a:noFill/>
          <a:ln/>
        </p:spPr>
        <p:txBody>
          <a:bodyPr wrap="none" lIns="0" tIns="0" rIns="0" bIns="0" rtlCol="0" anchor="t"/>
          <a:lstStyle/>
          <a:p>
            <a:pPr marL="0" indent="0" algn="l">
              <a:lnSpc>
                <a:spcPct val="104000"/>
              </a:lnSpc>
              <a:buNone/>
              <a:defRPr/>
            </a:pPr>
            <a:r>
              <a:rPr lang="en-US" sz="1150">
                <a:solidFill>
                  <a:srgbClr val="FFE5E5"/>
                </a:solidFill>
                <a:latin typeface="Dela Gothic One"/>
                <a:ea typeface="Dela Gothic One"/>
                <a:cs typeface="Dela Gothic One"/>
              </a:rPr>
              <a:t>Feature engineering</a:t>
            </a:r>
            <a:endParaRPr lang="en-US" sz="1150"/>
          </a:p>
        </p:txBody>
      </p:sp>
      <p:sp>
        <p:nvSpPr>
          <p:cNvPr id="251375192" name="Text 21"/>
          <p:cNvSpPr/>
          <p:nvPr/>
        </p:nvSpPr>
        <p:spPr bwMode="auto">
          <a:xfrm>
            <a:off x="600298" y="4292278"/>
            <a:ext cx="7943404" cy="327868"/>
          </a:xfrm>
          <a:prstGeom prst="rect">
            <a:avLst/>
          </a:prstGeom>
          <a:noFill/>
          <a:ln/>
        </p:spPr>
        <p:txBody>
          <a:bodyPr wrap="square" lIns="0" tIns="0" rIns="0" bIns="0" rtlCol="0" anchor="t">
            <a:normAutofit/>
          </a:bodyPr>
          <a:lstStyle/>
          <a:p>
            <a:pPr marL="0" indent="0" algn="l">
              <a:lnSpc>
                <a:spcPct val="122000"/>
              </a:lnSpc>
              <a:buNone/>
              <a:defRPr/>
            </a:pPr>
            <a:r>
              <a:rPr lang="en-US" sz="850">
                <a:solidFill>
                  <a:srgbClr val="FFE5E5"/>
                </a:solidFill>
                <a:latin typeface="DM Sans"/>
                <a:ea typeface="DM Sans"/>
                <a:cs typeface="DM Sans"/>
              </a:rPr>
              <a:t>K-Means location clustering (148 clusters) to capture neighborhood-level price variation; target encoding for categoricals to convert text labels into numeric representations based on their relationship with price</a:t>
            </a:r>
            <a:endParaRPr lang="en-US" sz="850"/>
          </a:p>
        </p:txBody>
      </p:sp>
      <p:sp>
        <p:nvSpPr>
          <p:cNvPr id="1938065172" name=""/>
          <p:cNvSpPr/>
          <p:nvPr/>
        </p:nvSpPr>
        <p:spPr bwMode="auto">
          <a:xfrm rot="0" flipH="0" flipV="0">
            <a:off x="7950421" y="4853547"/>
            <a:ext cx="1144143" cy="260962"/>
          </a:xfrm>
          <a:prstGeom prst="rect">
            <a:avLst/>
          </a:prstGeom>
          <a:solidFill>
            <a:srgbClr val="0A0909"/>
          </a:solidFill>
          <a:ln w="12700" cap="flat" cmpd="sng" algn="ctr">
            <a:solidFill>
              <a:srgbClr val="0A0909"/>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7">
    <p:spTree>
      <p:nvGrpSpPr>
        <p:cNvPr id="1" name=""/>
        <p:cNvGrpSpPr/>
        <p:nvPr/>
      </p:nvGrpSpPr>
      <p:grpSpPr bwMode="auto">
        <a:xfrm>
          <a:off x="0" y="0"/>
          <a:ext cx="0" cy="0"/>
          <a:chOff x="0" y="0"/>
          <a:chExt cx="0" cy="0"/>
        </a:xfrm>
      </p:grpSpPr>
      <p:sp>
        <p:nvSpPr>
          <p:cNvPr id="530563303" name="Text 0"/>
          <p:cNvSpPr/>
          <p:nvPr/>
        </p:nvSpPr>
        <p:spPr bwMode="auto">
          <a:xfrm>
            <a:off x="473943" y="1253207"/>
            <a:ext cx="8196114" cy="445443"/>
          </a:xfrm>
          <a:prstGeom prst="rect">
            <a:avLst/>
          </a:prstGeom>
          <a:noFill/>
          <a:ln/>
        </p:spPr>
        <p:txBody>
          <a:bodyPr wrap="none" lIns="0" tIns="0" rIns="0" bIns="0" rtlCol="0" anchor="t"/>
          <a:lstStyle/>
          <a:p>
            <a:pPr marL="0" indent="0" algn="l">
              <a:lnSpc>
                <a:spcPct val="104000"/>
              </a:lnSpc>
              <a:buNone/>
              <a:defRPr/>
            </a:pPr>
            <a:r>
              <a:rPr lang="en-US" sz="2800">
                <a:solidFill>
                  <a:srgbClr val="FAEBEB"/>
                </a:solidFill>
                <a:latin typeface="Dela Gothic One"/>
                <a:ea typeface="Dela Gothic One"/>
                <a:cs typeface="Dela Gothic One"/>
              </a:rPr>
              <a:t>4. Phase 4.0 — Modeling &amp; Viz</a:t>
            </a:r>
            <a:endParaRPr lang="en-US" sz="2800"/>
          </a:p>
        </p:txBody>
      </p:sp>
      <p:sp>
        <p:nvSpPr>
          <p:cNvPr id="1873384862" name="Text 1"/>
          <p:cNvSpPr/>
          <p:nvPr/>
        </p:nvSpPr>
        <p:spPr bwMode="auto">
          <a:xfrm>
            <a:off x="473943" y="1752748"/>
            <a:ext cx="8196114" cy="356295"/>
          </a:xfrm>
          <a:prstGeom prst="rect">
            <a:avLst/>
          </a:prstGeom>
          <a:noFill/>
          <a:ln/>
        </p:spPr>
        <p:txBody>
          <a:bodyPr wrap="none" lIns="0" tIns="0" rIns="0" bIns="0" rtlCol="0" anchor="t"/>
          <a:lstStyle/>
          <a:p>
            <a:pPr marL="0" indent="0" algn="l">
              <a:lnSpc>
                <a:spcPct val="104000"/>
              </a:lnSpc>
              <a:buNone/>
              <a:defRPr/>
            </a:pPr>
            <a:r>
              <a:rPr lang="en-US" sz="2200">
                <a:solidFill>
                  <a:srgbClr val="FAEBEB"/>
                </a:solidFill>
                <a:latin typeface="Dela Gothic One"/>
                <a:ea typeface="Dela Gothic One"/>
                <a:cs typeface="Dela Gothic One"/>
              </a:rPr>
              <a:t>Models Built</a:t>
            </a:r>
            <a:endParaRPr lang="en-US" sz="2200"/>
          </a:p>
        </p:txBody>
      </p:sp>
      <p:sp>
        <p:nvSpPr>
          <p:cNvPr id="897543067" name="Shape 2"/>
          <p:cNvSpPr/>
          <p:nvPr/>
        </p:nvSpPr>
        <p:spPr bwMode="auto">
          <a:xfrm>
            <a:off x="473943" y="2312119"/>
            <a:ext cx="8196114" cy="1578173"/>
          </a:xfrm>
          <a:prstGeom prst="roundRect">
            <a:avLst>
              <a:gd name="adj" fmla="val 3604"/>
            </a:avLst>
          </a:prstGeom>
          <a:noFill/>
          <a:ln w="4763">
            <a:solidFill>
              <a:srgbClr val="FFFFFF">
                <a:alpha val="24000"/>
              </a:srgbClr>
            </a:solidFill>
            <a:prstDash val="solid"/>
          </a:ln>
        </p:spPr>
      </p:sp>
      <p:sp>
        <p:nvSpPr>
          <p:cNvPr id="1783986789" name="Shape 3"/>
          <p:cNvSpPr/>
          <p:nvPr/>
        </p:nvSpPr>
        <p:spPr bwMode="auto">
          <a:xfrm>
            <a:off x="473943" y="2707853"/>
            <a:ext cx="8196114" cy="8463"/>
          </a:xfrm>
          <a:prstGeom prst="rect">
            <a:avLst/>
          </a:prstGeom>
          <a:solidFill>
            <a:srgbClr val="FFFFFF">
              <a:alpha val="24000"/>
            </a:srgbClr>
          </a:solidFill>
          <a:ln/>
        </p:spPr>
      </p:sp>
      <p:sp>
        <p:nvSpPr>
          <p:cNvPr id="1989651640" name="Shape 4"/>
          <p:cNvSpPr/>
          <p:nvPr/>
        </p:nvSpPr>
        <p:spPr bwMode="auto">
          <a:xfrm>
            <a:off x="473943" y="3101206"/>
            <a:ext cx="8196114" cy="8463"/>
          </a:xfrm>
          <a:prstGeom prst="rect">
            <a:avLst/>
          </a:prstGeom>
          <a:solidFill>
            <a:srgbClr val="FFFFFF">
              <a:alpha val="24000"/>
            </a:srgbClr>
          </a:solidFill>
          <a:ln/>
        </p:spPr>
      </p:sp>
      <p:sp>
        <p:nvSpPr>
          <p:cNvPr id="293335374" name="Shape 5"/>
          <p:cNvSpPr/>
          <p:nvPr/>
        </p:nvSpPr>
        <p:spPr bwMode="auto">
          <a:xfrm>
            <a:off x="473943" y="3494559"/>
            <a:ext cx="8196114" cy="8463"/>
          </a:xfrm>
          <a:prstGeom prst="rect">
            <a:avLst/>
          </a:prstGeom>
          <a:solidFill>
            <a:srgbClr val="FFFFFF">
              <a:alpha val="24000"/>
            </a:srgbClr>
          </a:solidFill>
          <a:ln/>
        </p:spPr>
      </p:sp>
      <p:sp>
        <p:nvSpPr>
          <p:cNvPr id="2016337567" name="Text 6"/>
          <p:cNvSpPr/>
          <p:nvPr/>
        </p:nvSpPr>
        <p:spPr bwMode="auto">
          <a:xfrm>
            <a:off x="614214" y="2402830"/>
            <a:ext cx="2233092" cy="216694"/>
          </a:xfrm>
          <a:prstGeom prst="rect">
            <a:avLst/>
          </a:prstGeom>
          <a:noFill/>
          <a:ln/>
        </p:spPr>
        <p:txBody>
          <a:bodyPr wrap="none" lIns="0" tIns="0" rIns="0" bIns="0" rtlCol="0" anchor="t"/>
          <a:lstStyle/>
          <a:p>
            <a:pPr marL="0" indent="0" algn="l">
              <a:lnSpc>
                <a:spcPct val="133000"/>
              </a:lnSpc>
              <a:buNone/>
              <a:defRPr/>
            </a:pPr>
            <a:r>
              <a:rPr lang="en-US" sz="1050" b="1">
                <a:solidFill>
                  <a:srgbClr val="FFE5E5"/>
                </a:solidFill>
                <a:latin typeface="DM Sans Bold"/>
                <a:ea typeface="DM Sans Bold"/>
                <a:cs typeface="DM Sans Bold"/>
              </a:rPr>
              <a:t>Model</a:t>
            </a:r>
            <a:endParaRPr lang="en-US" sz="1050"/>
          </a:p>
        </p:txBody>
      </p:sp>
      <p:sp>
        <p:nvSpPr>
          <p:cNvPr id="551027243" name="Text 7"/>
          <p:cNvSpPr/>
          <p:nvPr/>
        </p:nvSpPr>
        <p:spPr bwMode="auto">
          <a:xfrm>
            <a:off x="2660824" y="2402830"/>
            <a:ext cx="2233092" cy="216694"/>
          </a:xfrm>
          <a:prstGeom prst="rect">
            <a:avLst/>
          </a:prstGeom>
          <a:noFill/>
          <a:ln/>
        </p:spPr>
        <p:txBody>
          <a:bodyPr wrap="none" lIns="0" tIns="0" rIns="0" bIns="0" rtlCol="0" anchor="t"/>
          <a:lstStyle/>
          <a:p>
            <a:pPr marL="0" indent="0" algn="l">
              <a:lnSpc>
                <a:spcPct val="133000"/>
              </a:lnSpc>
              <a:buNone/>
              <a:defRPr/>
            </a:pPr>
            <a:r>
              <a:rPr lang="en-US" sz="1050" b="1">
                <a:solidFill>
                  <a:srgbClr val="FFE5E5"/>
                </a:solidFill>
                <a:latin typeface="DM Sans Bold"/>
                <a:ea typeface="DM Sans Bold"/>
                <a:cs typeface="DM Sans Bold"/>
              </a:rPr>
              <a:t>R²</a:t>
            </a:r>
            <a:endParaRPr lang="en-US" sz="1050"/>
          </a:p>
        </p:txBody>
      </p:sp>
      <p:sp>
        <p:nvSpPr>
          <p:cNvPr id="560730392" name="Text 8"/>
          <p:cNvSpPr/>
          <p:nvPr/>
        </p:nvSpPr>
        <p:spPr bwMode="auto">
          <a:xfrm>
            <a:off x="4707434" y="2402830"/>
            <a:ext cx="2233092" cy="216694"/>
          </a:xfrm>
          <a:prstGeom prst="rect">
            <a:avLst/>
          </a:prstGeom>
          <a:noFill/>
          <a:ln/>
        </p:spPr>
        <p:txBody>
          <a:bodyPr wrap="none" lIns="0" tIns="0" rIns="0" bIns="0" rtlCol="0" anchor="t"/>
          <a:lstStyle/>
          <a:p>
            <a:pPr marL="0" indent="0" algn="l">
              <a:lnSpc>
                <a:spcPct val="133000"/>
              </a:lnSpc>
              <a:buNone/>
              <a:defRPr/>
            </a:pPr>
            <a:r>
              <a:rPr lang="en-US" sz="1050" b="1">
                <a:solidFill>
                  <a:srgbClr val="FFE5E5"/>
                </a:solidFill>
                <a:latin typeface="DM Sans Bold"/>
                <a:ea typeface="DM Sans Bold"/>
                <a:cs typeface="DM Sans Bold"/>
              </a:rPr>
              <a:t>MAE</a:t>
            </a:r>
            <a:endParaRPr lang="en-US" sz="1050"/>
          </a:p>
        </p:txBody>
      </p:sp>
      <p:sp>
        <p:nvSpPr>
          <p:cNvPr id="1121723659" name="Text 9"/>
          <p:cNvSpPr/>
          <p:nvPr/>
        </p:nvSpPr>
        <p:spPr bwMode="auto">
          <a:xfrm>
            <a:off x="6754044" y="2402830"/>
            <a:ext cx="2233092" cy="216694"/>
          </a:xfrm>
          <a:prstGeom prst="rect">
            <a:avLst/>
          </a:prstGeom>
          <a:noFill/>
          <a:ln/>
        </p:spPr>
        <p:txBody>
          <a:bodyPr wrap="none" lIns="0" tIns="0" rIns="0" bIns="0" rtlCol="0" anchor="t"/>
          <a:lstStyle/>
          <a:p>
            <a:pPr marL="0" indent="0" algn="l">
              <a:lnSpc>
                <a:spcPct val="133000"/>
              </a:lnSpc>
              <a:buNone/>
              <a:defRPr/>
            </a:pPr>
            <a:r>
              <a:rPr lang="en-US" sz="1050" b="1">
                <a:solidFill>
                  <a:srgbClr val="FFE5E5"/>
                </a:solidFill>
                <a:latin typeface="DM Sans Bold"/>
                <a:ea typeface="DM Sans Bold"/>
                <a:cs typeface="DM Sans Bold"/>
              </a:rPr>
              <a:t>RMSE</a:t>
            </a:r>
            <a:endParaRPr lang="en-US" sz="1050"/>
          </a:p>
        </p:txBody>
      </p:sp>
      <p:sp>
        <p:nvSpPr>
          <p:cNvPr id="657516045" name="Text 10"/>
          <p:cNvSpPr/>
          <p:nvPr/>
        </p:nvSpPr>
        <p:spPr bwMode="auto">
          <a:xfrm>
            <a:off x="614214" y="2796183"/>
            <a:ext cx="2233092" cy="216694"/>
          </a:xfrm>
          <a:prstGeom prst="rect">
            <a:avLst/>
          </a:prstGeom>
          <a:noFill/>
          <a:ln/>
        </p:spPr>
        <p:txBody>
          <a:bodyPr wrap="none" lIns="0" tIns="0" rIns="0" bIns="0" rtlCol="0" anchor="t"/>
          <a:lstStyle/>
          <a:p>
            <a:pPr marL="0" indent="0" algn="l">
              <a:lnSpc>
                <a:spcPct val="133000"/>
              </a:lnSpc>
              <a:buNone/>
              <a:defRPr/>
            </a:pPr>
            <a:r>
              <a:rPr lang="en-US" sz="1050" b="1">
                <a:solidFill>
                  <a:srgbClr val="FFE5E5"/>
                </a:solidFill>
                <a:latin typeface="DM Sans Bold"/>
                <a:ea typeface="DM Sans Bold"/>
                <a:cs typeface="DM Sans Bold"/>
              </a:rPr>
              <a:t>Random Forest</a:t>
            </a:r>
            <a:endParaRPr lang="en-US" sz="1050"/>
          </a:p>
        </p:txBody>
      </p:sp>
      <p:sp>
        <p:nvSpPr>
          <p:cNvPr id="1722155607" name="Text 11"/>
          <p:cNvSpPr/>
          <p:nvPr/>
        </p:nvSpPr>
        <p:spPr bwMode="auto">
          <a:xfrm>
            <a:off x="2660824" y="2796183"/>
            <a:ext cx="2233092" cy="216694"/>
          </a:xfrm>
          <a:prstGeom prst="rect">
            <a:avLst/>
          </a:prstGeom>
          <a:noFill/>
          <a:ln/>
        </p:spPr>
        <p:txBody>
          <a:bodyPr wrap="none" lIns="0" tIns="0" rIns="0" bIns="0" rtlCol="0" anchor="t"/>
          <a:lstStyle/>
          <a:p>
            <a:pPr marL="0" indent="0" algn="l">
              <a:lnSpc>
                <a:spcPct val="133000"/>
              </a:lnSpc>
              <a:buNone/>
              <a:defRPr/>
            </a:pPr>
            <a:r>
              <a:rPr lang="en-US" sz="1050" b="1">
                <a:solidFill>
                  <a:srgbClr val="FFE5E5"/>
                </a:solidFill>
                <a:latin typeface="DM Sans Bold"/>
                <a:ea typeface="DM Sans Bold"/>
                <a:cs typeface="DM Sans Bold"/>
              </a:rPr>
              <a:t>0.946</a:t>
            </a:r>
            <a:endParaRPr lang="en-US" sz="1050"/>
          </a:p>
        </p:txBody>
      </p:sp>
      <p:sp>
        <p:nvSpPr>
          <p:cNvPr id="1910675887" name="Text 12"/>
          <p:cNvSpPr/>
          <p:nvPr/>
        </p:nvSpPr>
        <p:spPr bwMode="auto">
          <a:xfrm>
            <a:off x="4707434" y="2796183"/>
            <a:ext cx="2233092" cy="216694"/>
          </a:xfrm>
          <a:prstGeom prst="rect">
            <a:avLst/>
          </a:prstGeom>
          <a:noFill/>
          <a:ln/>
        </p:spPr>
        <p:txBody>
          <a:bodyPr wrap="none" lIns="0" tIns="0" rIns="0" bIns="0" rtlCol="0" anchor="t"/>
          <a:lstStyle/>
          <a:p>
            <a:pPr marL="0" indent="0" algn="l">
              <a:lnSpc>
                <a:spcPct val="133000"/>
              </a:lnSpc>
              <a:buNone/>
              <a:defRPr/>
            </a:pPr>
            <a:r>
              <a:rPr lang="en-US" sz="1050" b="1">
                <a:solidFill>
                  <a:srgbClr val="FFE5E5"/>
                </a:solidFill>
                <a:latin typeface="DM Sans Bold"/>
                <a:ea typeface="DM Sans Bold"/>
                <a:cs typeface="DM Sans Bold"/>
              </a:rPr>
              <a:t>$35.58</a:t>
            </a:r>
            <a:endParaRPr lang="en-US" sz="1050"/>
          </a:p>
        </p:txBody>
      </p:sp>
      <p:sp>
        <p:nvSpPr>
          <p:cNvPr id="439753545" name="Text 13"/>
          <p:cNvSpPr/>
          <p:nvPr/>
        </p:nvSpPr>
        <p:spPr bwMode="auto">
          <a:xfrm>
            <a:off x="6754044" y="2796183"/>
            <a:ext cx="2233092" cy="216694"/>
          </a:xfrm>
          <a:prstGeom prst="rect">
            <a:avLst/>
          </a:prstGeom>
          <a:noFill/>
          <a:ln/>
        </p:spPr>
        <p:txBody>
          <a:bodyPr wrap="none" lIns="0" tIns="0" rIns="0" bIns="0" rtlCol="0" anchor="t"/>
          <a:lstStyle/>
          <a:p>
            <a:pPr marL="0" indent="0" algn="l">
              <a:lnSpc>
                <a:spcPct val="133000"/>
              </a:lnSpc>
              <a:buNone/>
              <a:defRPr/>
            </a:pPr>
            <a:r>
              <a:rPr lang="en-US" sz="1050" b="1">
                <a:solidFill>
                  <a:srgbClr val="FFE5E5"/>
                </a:solidFill>
                <a:latin typeface="DM Sans Bold"/>
                <a:ea typeface="DM Sans Bold"/>
                <a:cs typeface="DM Sans Bold"/>
              </a:rPr>
              <a:t>$77.32</a:t>
            </a:r>
            <a:endParaRPr lang="en-US" sz="1050"/>
          </a:p>
        </p:txBody>
      </p:sp>
      <p:sp>
        <p:nvSpPr>
          <p:cNvPr id="762741972" name="Text 14"/>
          <p:cNvSpPr/>
          <p:nvPr/>
        </p:nvSpPr>
        <p:spPr bwMode="auto">
          <a:xfrm>
            <a:off x="614214" y="3189536"/>
            <a:ext cx="2233092" cy="216694"/>
          </a:xfrm>
          <a:prstGeom prst="rect">
            <a:avLst/>
          </a:prstGeom>
          <a:noFill/>
          <a:ln/>
        </p:spPr>
        <p:txBody>
          <a:bodyPr wrap="none" lIns="0" tIns="0" rIns="0" bIns="0" rtlCol="0" anchor="t"/>
          <a:lstStyle/>
          <a:p>
            <a:pPr marL="0" indent="0" algn="l">
              <a:lnSpc>
                <a:spcPct val="133000"/>
              </a:lnSpc>
              <a:buNone/>
              <a:defRPr/>
            </a:pPr>
            <a:r>
              <a:rPr lang="en-US" sz="1050">
                <a:solidFill>
                  <a:srgbClr val="FFE5E5"/>
                </a:solidFill>
                <a:latin typeface="DM Sans"/>
                <a:ea typeface="DM Sans"/>
                <a:cs typeface="DM Sans"/>
              </a:rPr>
              <a:t>HistGradientBoosting</a:t>
            </a:r>
            <a:endParaRPr lang="en-US" sz="1050"/>
          </a:p>
        </p:txBody>
      </p:sp>
      <p:sp>
        <p:nvSpPr>
          <p:cNvPr id="901249823" name="Text 15"/>
          <p:cNvSpPr/>
          <p:nvPr/>
        </p:nvSpPr>
        <p:spPr bwMode="auto">
          <a:xfrm>
            <a:off x="2660824" y="3189536"/>
            <a:ext cx="2233092" cy="216694"/>
          </a:xfrm>
          <a:prstGeom prst="rect">
            <a:avLst/>
          </a:prstGeom>
          <a:noFill/>
          <a:ln/>
        </p:spPr>
        <p:txBody>
          <a:bodyPr wrap="none" lIns="0" tIns="0" rIns="0" bIns="0" rtlCol="0" anchor="t"/>
          <a:lstStyle/>
          <a:p>
            <a:pPr marL="0" indent="0" algn="l">
              <a:lnSpc>
                <a:spcPct val="133000"/>
              </a:lnSpc>
              <a:buNone/>
              <a:defRPr/>
            </a:pPr>
            <a:r>
              <a:rPr lang="en-US" sz="1050">
                <a:solidFill>
                  <a:srgbClr val="FFE5E5"/>
                </a:solidFill>
                <a:latin typeface="DM Sans"/>
                <a:ea typeface="DM Sans"/>
                <a:cs typeface="DM Sans"/>
              </a:rPr>
              <a:t>0.934</a:t>
            </a:r>
            <a:endParaRPr lang="en-US" sz="1050"/>
          </a:p>
        </p:txBody>
      </p:sp>
      <p:sp>
        <p:nvSpPr>
          <p:cNvPr id="2044170061" name="Text 16"/>
          <p:cNvSpPr/>
          <p:nvPr/>
        </p:nvSpPr>
        <p:spPr bwMode="auto">
          <a:xfrm>
            <a:off x="4707434" y="3189536"/>
            <a:ext cx="2233092" cy="216694"/>
          </a:xfrm>
          <a:prstGeom prst="rect">
            <a:avLst/>
          </a:prstGeom>
          <a:noFill/>
          <a:ln/>
        </p:spPr>
        <p:txBody>
          <a:bodyPr wrap="none" lIns="0" tIns="0" rIns="0" bIns="0" rtlCol="0" anchor="t"/>
          <a:lstStyle/>
          <a:p>
            <a:pPr marL="0" indent="0" algn="l">
              <a:lnSpc>
                <a:spcPct val="133000"/>
              </a:lnSpc>
              <a:buNone/>
              <a:defRPr/>
            </a:pPr>
            <a:r>
              <a:rPr lang="en-US" sz="1050">
                <a:solidFill>
                  <a:srgbClr val="FFE5E5"/>
                </a:solidFill>
                <a:latin typeface="DM Sans"/>
                <a:ea typeface="DM Sans"/>
                <a:cs typeface="DM Sans"/>
              </a:rPr>
              <a:t>$47.07</a:t>
            </a:r>
            <a:endParaRPr lang="en-US" sz="1050"/>
          </a:p>
        </p:txBody>
      </p:sp>
      <p:sp>
        <p:nvSpPr>
          <p:cNvPr id="1762574123" name="Text 17"/>
          <p:cNvSpPr/>
          <p:nvPr/>
        </p:nvSpPr>
        <p:spPr bwMode="auto">
          <a:xfrm>
            <a:off x="6754044" y="3189536"/>
            <a:ext cx="2233092" cy="216694"/>
          </a:xfrm>
          <a:prstGeom prst="rect">
            <a:avLst/>
          </a:prstGeom>
          <a:noFill/>
          <a:ln/>
        </p:spPr>
        <p:txBody>
          <a:bodyPr wrap="none" lIns="0" tIns="0" rIns="0" bIns="0" rtlCol="0" anchor="t"/>
          <a:lstStyle/>
          <a:p>
            <a:pPr marL="0" indent="0" algn="l">
              <a:lnSpc>
                <a:spcPct val="133000"/>
              </a:lnSpc>
              <a:buNone/>
              <a:defRPr/>
            </a:pPr>
            <a:r>
              <a:rPr lang="en-US" sz="1050">
                <a:solidFill>
                  <a:srgbClr val="FFE5E5"/>
                </a:solidFill>
                <a:latin typeface="DM Sans"/>
                <a:ea typeface="DM Sans"/>
                <a:cs typeface="DM Sans"/>
              </a:rPr>
              <a:t>$85.70</a:t>
            </a:r>
            <a:endParaRPr lang="en-US" sz="1050"/>
          </a:p>
        </p:txBody>
      </p:sp>
      <p:sp>
        <p:nvSpPr>
          <p:cNvPr id="443611166" name="Text 18"/>
          <p:cNvSpPr/>
          <p:nvPr/>
        </p:nvSpPr>
        <p:spPr bwMode="auto">
          <a:xfrm>
            <a:off x="614214" y="3582888"/>
            <a:ext cx="2233092" cy="216694"/>
          </a:xfrm>
          <a:prstGeom prst="rect">
            <a:avLst/>
          </a:prstGeom>
          <a:noFill/>
          <a:ln/>
        </p:spPr>
        <p:txBody>
          <a:bodyPr wrap="none" lIns="0" tIns="0" rIns="0" bIns="0" rtlCol="0" anchor="t"/>
          <a:lstStyle/>
          <a:p>
            <a:pPr marL="0" indent="0" algn="l">
              <a:lnSpc>
                <a:spcPct val="133000"/>
              </a:lnSpc>
              <a:buNone/>
              <a:defRPr/>
            </a:pPr>
            <a:r>
              <a:rPr lang="en-US" sz="1050">
                <a:solidFill>
                  <a:srgbClr val="FFE5E5"/>
                </a:solidFill>
                <a:latin typeface="DM Sans"/>
                <a:ea typeface="DM Sans"/>
                <a:cs typeface="DM Sans"/>
              </a:rPr>
              <a:t>XGBoost</a:t>
            </a:r>
            <a:endParaRPr lang="en-US" sz="1050"/>
          </a:p>
        </p:txBody>
      </p:sp>
      <p:sp>
        <p:nvSpPr>
          <p:cNvPr id="115330670" name="Text 19"/>
          <p:cNvSpPr/>
          <p:nvPr/>
        </p:nvSpPr>
        <p:spPr bwMode="auto">
          <a:xfrm>
            <a:off x="2660824" y="3582888"/>
            <a:ext cx="2233092" cy="216694"/>
          </a:xfrm>
          <a:prstGeom prst="rect">
            <a:avLst/>
          </a:prstGeom>
          <a:noFill/>
          <a:ln/>
        </p:spPr>
        <p:txBody>
          <a:bodyPr wrap="none" lIns="0" tIns="0" rIns="0" bIns="0" rtlCol="0" anchor="t"/>
          <a:lstStyle/>
          <a:p>
            <a:pPr marL="0" indent="0" algn="l">
              <a:lnSpc>
                <a:spcPct val="133000"/>
              </a:lnSpc>
              <a:buNone/>
              <a:defRPr/>
            </a:pPr>
            <a:r>
              <a:rPr lang="en-US" sz="1050">
                <a:solidFill>
                  <a:srgbClr val="FFE5E5"/>
                </a:solidFill>
                <a:latin typeface="DM Sans"/>
                <a:ea typeface="DM Sans"/>
                <a:cs typeface="DM Sans"/>
              </a:rPr>
              <a:t>0.939</a:t>
            </a:r>
            <a:endParaRPr lang="en-US" sz="1050"/>
          </a:p>
        </p:txBody>
      </p:sp>
      <p:sp>
        <p:nvSpPr>
          <p:cNvPr id="1042891384" name="Text 20"/>
          <p:cNvSpPr/>
          <p:nvPr/>
        </p:nvSpPr>
        <p:spPr bwMode="auto">
          <a:xfrm>
            <a:off x="4707434" y="3582888"/>
            <a:ext cx="2233092" cy="216694"/>
          </a:xfrm>
          <a:prstGeom prst="rect">
            <a:avLst/>
          </a:prstGeom>
          <a:noFill/>
          <a:ln/>
        </p:spPr>
        <p:txBody>
          <a:bodyPr wrap="none" lIns="0" tIns="0" rIns="0" bIns="0" rtlCol="0" anchor="t"/>
          <a:lstStyle/>
          <a:p>
            <a:pPr marL="0" indent="0" algn="l">
              <a:lnSpc>
                <a:spcPct val="133000"/>
              </a:lnSpc>
              <a:buNone/>
              <a:defRPr/>
            </a:pPr>
            <a:r>
              <a:rPr lang="en-US" sz="1050">
                <a:solidFill>
                  <a:srgbClr val="FFE5E5"/>
                </a:solidFill>
                <a:latin typeface="DM Sans"/>
                <a:ea typeface="DM Sans"/>
                <a:cs typeface="DM Sans"/>
              </a:rPr>
              <a:t>$46.47</a:t>
            </a:r>
            <a:endParaRPr lang="en-US" sz="1050"/>
          </a:p>
        </p:txBody>
      </p:sp>
      <p:sp>
        <p:nvSpPr>
          <p:cNvPr id="2122185472" name="Text 21"/>
          <p:cNvSpPr/>
          <p:nvPr/>
        </p:nvSpPr>
        <p:spPr bwMode="auto">
          <a:xfrm>
            <a:off x="6754044" y="3582888"/>
            <a:ext cx="2233092" cy="216694"/>
          </a:xfrm>
          <a:prstGeom prst="rect">
            <a:avLst/>
          </a:prstGeom>
          <a:noFill/>
          <a:ln/>
        </p:spPr>
        <p:txBody>
          <a:bodyPr wrap="none" lIns="0" tIns="0" rIns="0" bIns="0" rtlCol="0" anchor="t"/>
          <a:lstStyle/>
          <a:p>
            <a:pPr marL="0" indent="0" algn="l">
              <a:lnSpc>
                <a:spcPct val="133000"/>
              </a:lnSpc>
              <a:buNone/>
              <a:defRPr/>
            </a:pPr>
            <a:r>
              <a:rPr lang="en-US" sz="1050">
                <a:solidFill>
                  <a:srgbClr val="FFE5E5"/>
                </a:solidFill>
                <a:latin typeface="DM Sans"/>
                <a:ea typeface="DM Sans"/>
                <a:cs typeface="DM Sans"/>
              </a:rPr>
              <a:t>$82.58</a:t>
            </a:r>
            <a:endParaRPr lang="en-US" sz="1050"/>
          </a:p>
        </p:txBody>
      </p:sp>
      <p:sp>
        <p:nvSpPr>
          <p:cNvPr id="1648275936" name=""/>
          <p:cNvSpPr/>
          <p:nvPr/>
        </p:nvSpPr>
        <p:spPr bwMode="auto">
          <a:xfrm rot="0" flipH="0" flipV="0">
            <a:off x="7950421" y="4762499"/>
            <a:ext cx="1144143" cy="352009"/>
          </a:xfrm>
          <a:prstGeom prst="rect">
            <a:avLst/>
          </a:prstGeom>
          <a:solidFill>
            <a:srgbClr val="0A0909"/>
          </a:solidFill>
          <a:ln w="12700" cap="flat" cmpd="sng" algn="ctr">
            <a:solidFill>
              <a:srgbClr val="0A0909"/>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8">
    <p:spTree>
      <p:nvGrpSpPr>
        <p:cNvPr id="1" name=""/>
        <p:cNvGrpSpPr/>
        <p:nvPr/>
      </p:nvGrpSpPr>
      <p:grpSpPr bwMode="auto">
        <a:xfrm>
          <a:off x="0" y="0"/>
          <a:ext cx="0" cy="0"/>
          <a:chOff x="0" y="0"/>
          <a:chExt cx="0" cy="0"/>
        </a:xfrm>
      </p:grpSpPr>
      <p:sp>
        <p:nvSpPr>
          <p:cNvPr id="1100136514" name="Text 0"/>
          <p:cNvSpPr/>
          <p:nvPr/>
        </p:nvSpPr>
        <p:spPr bwMode="auto">
          <a:xfrm>
            <a:off x="473943" y="734169"/>
            <a:ext cx="8196114" cy="445443"/>
          </a:xfrm>
          <a:prstGeom prst="rect">
            <a:avLst/>
          </a:prstGeom>
          <a:noFill/>
          <a:ln/>
        </p:spPr>
        <p:txBody>
          <a:bodyPr wrap="none" lIns="0" tIns="0" rIns="0" bIns="0" rtlCol="0" anchor="t"/>
          <a:lstStyle/>
          <a:p>
            <a:pPr marL="0" indent="0" algn="l">
              <a:lnSpc>
                <a:spcPct val="104000"/>
              </a:lnSpc>
              <a:buNone/>
              <a:defRPr/>
            </a:pPr>
            <a:r>
              <a:rPr lang="en-US" sz="2800">
                <a:solidFill>
                  <a:srgbClr val="FAEBEB"/>
                </a:solidFill>
                <a:latin typeface="Dela Gothic One"/>
                <a:ea typeface="Dela Gothic One"/>
                <a:cs typeface="Dela Gothic One"/>
              </a:rPr>
              <a:t>4. Phase 4.0 — Modeling &amp; Viz</a:t>
            </a:r>
            <a:endParaRPr lang="en-US" sz="2800"/>
          </a:p>
        </p:txBody>
      </p:sp>
      <p:sp>
        <p:nvSpPr>
          <p:cNvPr id="53667556" name="Text 1"/>
          <p:cNvSpPr/>
          <p:nvPr/>
        </p:nvSpPr>
        <p:spPr bwMode="auto">
          <a:xfrm>
            <a:off x="473943" y="1233711"/>
            <a:ext cx="8196114" cy="356295"/>
          </a:xfrm>
          <a:prstGeom prst="rect">
            <a:avLst/>
          </a:prstGeom>
          <a:noFill/>
          <a:ln/>
        </p:spPr>
        <p:txBody>
          <a:bodyPr wrap="none" lIns="0" tIns="0" rIns="0" bIns="0" rtlCol="0" anchor="t"/>
          <a:lstStyle/>
          <a:p>
            <a:pPr marL="0" indent="0" algn="l">
              <a:lnSpc>
                <a:spcPct val="104000"/>
              </a:lnSpc>
              <a:buNone/>
              <a:defRPr/>
            </a:pPr>
            <a:r>
              <a:rPr lang="en-US" sz="2200">
                <a:solidFill>
                  <a:srgbClr val="FAEBEB"/>
                </a:solidFill>
                <a:latin typeface="Dela Gothic One"/>
                <a:ea typeface="Dela Gothic One"/>
                <a:cs typeface="Dela Gothic One"/>
              </a:rPr>
              <a:t>Key Visualizations</a:t>
            </a:r>
            <a:endParaRPr lang="en-US" sz="2200"/>
          </a:p>
        </p:txBody>
      </p:sp>
      <p:sp>
        <p:nvSpPr>
          <p:cNvPr id="1491952223" name="Text 2"/>
          <p:cNvSpPr/>
          <p:nvPr/>
        </p:nvSpPr>
        <p:spPr bwMode="auto">
          <a:xfrm>
            <a:off x="473943" y="1793081"/>
            <a:ext cx="8653314" cy="216694"/>
          </a:xfrm>
          <a:prstGeom prst="rect">
            <a:avLst/>
          </a:prstGeom>
          <a:noFill/>
          <a:ln/>
        </p:spPr>
        <p:txBody>
          <a:bodyPr wrap="none" lIns="0" tIns="0" rIns="0" bIns="0" rtlCol="0" anchor="t"/>
          <a:lstStyle/>
          <a:p>
            <a:pPr marL="0" indent="0" algn="l">
              <a:lnSpc>
                <a:spcPct val="133000"/>
              </a:lnSpc>
              <a:buNone/>
              <a:defRPr/>
            </a:pPr>
            <a:r>
              <a:rPr lang="en-US" sz="1050" b="1">
                <a:solidFill>
                  <a:srgbClr val="FFE5E5"/>
                </a:solidFill>
                <a:latin typeface="DM Sans Bold"/>
                <a:ea typeface="DM Sans Bold"/>
                <a:cs typeface="DM Sans Bold"/>
              </a:rPr>
              <a:t>Geographic Filtering — Before vs After Cleaning</a:t>
            </a:r>
            <a:endParaRPr lang="en-US" sz="1050"/>
          </a:p>
        </p:txBody>
      </p:sp>
      <p:pic>
        <p:nvPicPr>
          <p:cNvPr id="2069748609" name="Image 0" descr="preencoded.png"/>
          <p:cNvPicPr>
            <a:picLocks noChangeAspect="1"/>
          </p:cNvPicPr>
          <p:nvPr/>
        </p:nvPicPr>
        <p:blipFill rotWithShape="1">
          <a:blip r:embed="rId3"/>
          <a:stretch/>
        </p:blipFill>
        <p:spPr bwMode="auto">
          <a:xfrm flipH="0" flipV="0">
            <a:off x="473942" y="2249462"/>
            <a:ext cx="4043882" cy="2425121"/>
          </a:xfrm>
          <a:prstGeom prst="rect">
            <a:avLst/>
          </a:prstGeom>
        </p:spPr>
      </p:pic>
      <p:pic>
        <p:nvPicPr>
          <p:cNvPr id="1211935340" name="Image 1" descr="preencoded.png"/>
          <p:cNvPicPr>
            <a:picLocks noChangeAspect="1"/>
          </p:cNvPicPr>
          <p:nvPr/>
        </p:nvPicPr>
        <p:blipFill rotWithShape="1">
          <a:blip r:embed="rId4"/>
          <a:stretch/>
        </p:blipFill>
        <p:spPr bwMode="auto">
          <a:xfrm flipH="0" flipV="0">
            <a:off x="4626099" y="2249462"/>
            <a:ext cx="4043882" cy="2425121"/>
          </a:xfrm>
          <a:prstGeom prst="rect">
            <a:avLst/>
          </a:prstGeom>
        </p:spPr>
      </p:pic>
      <p:sp>
        <p:nvSpPr>
          <p:cNvPr id="2029404044" name=""/>
          <p:cNvSpPr/>
          <p:nvPr/>
        </p:nvSpPr>
        <p:spPr bwMode="auto">
          <a:xfrm rot="0" flipH="0" flipV="0">
            <a:off x="7950421" y="4762499"/>
            <a:ext cx="1144143" cy="352009"/>
          </a:xfrm>
          <a:prstGeom prst="rect">
            <a:avLst/>
          </a:prstGeom>
          <a:solidFill>
            <a:srgbClr val="0A0909"/>
          </a:solidFill>
          <a:ln w="12700" cap="flat" cmpd="sng" algn="ctr">
            <a:solidFill>
              <a:srgbClr val="0A0909"/>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9">
    <p:spTree>
      <p:nvGrpSpPr>
        <p:cNvPr id="1" name=""/>
        <p:cNvGrpSpPr/>
        <p:nvPr/>
      </p:nvGrpSpPr>
      <p:grpSpPr bwMode="auto">
        <a:xfrm>
          <a:off x="0" y="0"/>
          <a:ext cx="0" cy="0"/>
          <a:chOff x="0" y="0"/>
          <a:chExt cx="0" cy="0"/>
        </a:xfrm>
      </p:grpSpPr>
      <p:sp>
        <p:nvSpPr>
          <p:cNvPr id="2055686932" name="Text 0"/>
          <p:cNvSpPr/>
          <p:nvPr/>
        </p:nvSpPr>
        <p:spPr bwMode="auto">
          <a:xfrm>
            <a:off x="473943" y="391269"/>
            <a:ext cx="8196114" cy="340965"/>
          </a:xfrm>
          <a:prstGeom prst="rect">
            <a:avLst/>
          </a:prstGeom>
          <a:noFill/>
          <a:ln/>
        </p:spPr>
        <p:txBody>
          <a:bodyPr wrap="none" lIns="0" tIns="0" rIns="0" bIns="0" rtlCol="0" anchor="t"/>
          <a:lstStyle/>
          <a:p>
            <a:pPr marL="0" indent="0" algn="l">
              <a:lnSpc>
                <a:spcPct val="104000"/>
              </a:lnSpc>
              <a:buNone/>
              <a:defRPr/>
            </a:pPr>
            <a:r>
              <a:rPr lang="en-US" sz="2100">
                <a:solidFill>
                  <a:srgbClr val="FAEBEB"/>
                </a:solidFill>
                <a:latin typeface="Dela Gothic One"/>
                <a:ea typeface="Dela Gothic One"/>
                <a:cs typeface="Dela Gothic One"/>
              </a:rPr>
              <a:t>4. Phase 4.0 — Modeling &amp; Viz</a:t>
            </a:r>
            <a:endParaRPr lang="en-US" sz="2100"/>
          </a:p>
        </p:txBody>
      </p:sp>
      <p:sp>
        <p:nvSpPr>
          <p:cNvPr id="1152444171" name="Text 1"/>
          <p:cNvSpPr/>
          <p:nvPr/>
        </p:nvSpPr>
        <p:spPr bwMode="auto">
          <a:xfrm>
            <a:off x="473943" y="763935"/>
            <a:ext cx="8196114" cy="272802"/>
          </a:xfrm>
          <a:prstGeom prst="rect">
            <a:avLst/>
          </a:prstGeom>
          <a:noFill/>
          <a:ln/>
        </p:spPr>
        <p:txBody>
          <a:bodyPr wrap="none" lIns="0" tIns="0" rIns="0" bIns="0" rtlCol="0" anchor="t"/>
          <a:lstStyle/>
          <a:p>
            <a:pPr marL="0" indent="0" algn="l">
              <a:lnSpc>
                <a:spcPct val="104000"/>
              </a:lnSpc>
              <a:buNone/>
              <a:defRPr/>
            </a:pPr>
            <a:r>
              <a:rPr lang="en-US" sz="1700">
                <a:solidFill>
                  <a:srgbClr val="FAEBEB"/>
                </a:solidFill>
                <a:latin typeface="Dela Gothic One"/>
                <a:ea typeface="Dela Gothic One"/>
                <a:cs typeface="Dela Gothic One"/>
              </a:rPr>
              <a:t>Key Visualizations</a:t>
            </a:r>
            <a:endParaRPr lang="en-US" sz="1700"/>
          </a:p>
        </p:txBody>
      </p:sp>
      <p:sp>
        <p:nvSpPr>
          <p:cNvPr id="1155658777" name="Text 2"/>
          <p:cNvSpPr/>
          <p:nvPr/>
        </p:nvSpPr>
        <p:spPr bwMode="auto">
          <a:xfrm>
            <a:off x="473943" y="1155799"/>
            <a:ext cx="8653314" cy="146372"/>
          </a:xfrm>
          <a:prstGeom prst="rect">
            <a:avLst/>
          </a:prstGeom>
          <a:noFill/>
          <a:ln/>
        </p:spPr>
        <p:txBody>
          <a:bodyPr wrap="none" lIns="0" tIns="0" rIns="0" bIns="0" rtlCol="0" anchor="t"/>
          <a:lstStyle/>
          <a:p>
            <a:pPr marL="0" indent="0" algn="l">
              <a:lnSpc>
                <a:spcPct val="118000"/>
              </a:lnSpc>
              <a:buNone/>
              <a:defRPr/>
            </a:pPr>
            <a:r>
              <a:rPr lang="en-US" sz="800" b="1">
                <a:solidFill>
                  <a:srgbClr val="FFE5E5"/>
                </a:solidFill>
                <a:latin typeface="DM Sans Bold"/>
                <a:ea typeface="DM Sans Bold"/>
                <a:cs typeface="DM Sans Bold"/>
              </a:rPr>
              <a:t>Correlation with Price</a:t>
            </a:r>
            <a:endParaRPr lang="en-US" sz="800"/>
          </a:p>
        </p:txBody>
      </p:sp>
      <p:pic>
        <p:nvPicPr>
          <p:cNvPr id="1052339546" name="Image 0" descr="preencoded.png"/>
          <p:cNvPicPr>
            <a:picLocks noChangeAspect="1"/>
          </p:cNvPicPr>
          <p:nvPr/>
        </p:nvPicPr>
        <p:blipFill rotWithShape="1">
          <a:blip r:embed="rId3"/>
          <a:stretch/>
        </p:blipFill>
        <p:spPr bwMode="auto">
          <a:xfrm>
            <a:off x="1980158" y="1459483"/>
            <a:ext cx="5183684" cy="1555105"/>
          </a:xfrm>
          <a:prstGeom prst="rect">
            <a:avLst/>
          </a:prstGeom>
        </p:spPr>
      </p:pic>
      <p:pic>
        <p:nvPicPr>
          <p:cNvPr id="2131271494" name="Image 1" descr="preencoded.png"/>
          <p:cNvPicPr>
            <a:picLocks noChangeAspect="1"/>
          </p:cNvPicPr>
          <p:nvPr/>
        </p:nvPicPr>
        <p:blipFill rotWithShape="1">
          <a:blip r:embed="rId4"/>
          <a:stretch/>
        </p:blipFill>
        <p:spPr bwMode="auto">
          <a:xfrm>
            <a:off x="1980158" y="3097485"/>
            <a:ext cx="5183684" cy="1555105"/>
          </a:xfrm>
          <a:prstGeom prst="rect">
            <a:avLst/>
          </a:prstGeom>
        </p:spPr>
      </p:pic>
      <p:sp>
        <p:nvSpPr>
          <p:cNvPr id="1437685108" name=""/>
          <p:cNvSpPr/>
          <p:nvPr/>
        </p:nvSpPr>
        <p:spPr bwMode="auto">
          <a:xfrm rot="0" flipH="0" flipV="0">
            <a:off x="7950421" y="4762499"/>
            <a:ext cx="1144143" cy="352009"/>
          </a:xfrm>
          <a:prstGeom prst="rect">
            <a:avLst/>
          </a:prstGeom>
          <a:solidFill>
            <a:srgbClr val="0A0909"/>
          </a:solidFill>
          <a:ln w="12700" cap="flat" cmpd="sng" algn="ctr">
            <a:solidFill>
              <a:srgbClr val="0A0909"/>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0">
    <p:spTree>
      <p:nvGrpSpPr>
        <p:cNvPr id="1" name=""/>
        <p:cNvGrpSpPr/>
        <p:nvPr/>
      </p:nvGrpSpPr>
      <p:grpSpPr bwMode="auto">
        <a:xfrm>
          <a:off x="0" y="0"/>
          <a:ext cx="0" cy="0"/>
          <a:chOff x="0" y="0"/>
          <a:chExt cx="0" cy="0"/>
        </a:xfrm>
      </p:grpSpPr>
      <p:sp>
        <p:nvSpPr>
          <p:cNvPr id="1792063385" name="Text 0"/>
          <p:cNvSpPr/>
          <p:nvPr/>
        </p:nvSpPr>
        <p:spPr bwMode="auto">
          <a:xfrm>
            <a:off x="473943" y="799207"/>
            <a:ext cx="8196114" cy="431453"/>
          </a:xfrm>
          <a:prstGeom prst="rect">
            <a:avLst/>
          </a:prstGeom>
          <a:noFill/>
          <a:ln/>
        </p:spPr>
        <p:txBody>
          <a:bodyPr wrap="none" lIns="0" tIns="0" rIns="0" bIns="0" rtlCol="0" anchor="t"/>
          <a:lstStyle/>
          <a:p>
            <a:pPr marL="0" indent="0" algn="l">
              <a:lnSpc>
                <a:spcPct val="104000"/>
              </a:lnSpc>
              <a:buNone/>
              <a:defRPr/>
            </a:pPr>
            <a:r>
              <a:rPr lang="en-US" sz="2700">
                <a:solidFill>
                  <a:srgbClr val="FAEBEB"/>
                </a:solidFill>
                <a:latin typeface="Dela Gothic One"/>
                <a:ea typeface="Dela Gothic One"/>
                <a:cs typeface="Dela Gothic One"/>
              </a:rPr>
              <a:t>4. Phase 4.0 — Modeling &amp; Viz</a:t>
            </a:r>
            <a:endParaRPr lang="en-US" sz="2700"/>
          </a:p>
        </p:txBody>
      </p:sp>
      <p:sp>
        <p:nvSpPr>
          <p:cNvPr id="615327764" name="Text 1"/>
          <p:cNvSpPr/>
          <p:nvPr/>
        </p:nvSpPr>
        <p:spPr bwMode="auto">
          <a:xfrm>
            <a:off x="473943" y="1281485"/>
            <a:ext cx="8196114" cy="345132"/>
          </a:xfrm>
          <a:prstGeom prst="rect">
            <a:avLst/>
          </a:prstGeom>
          <a:noFill/>
          <a:ln/>
        </p:spPr>
        <p:txBody>
          <a:bodyPr wrap="none" lIns="0" tIns="0" rIns="0" bIns="0" rtlCol="0" anchor="t"/>
          <a:lstStyle/>
          <a:p>
            <a:pPr marL="0" indent="0" algn="l">
              <a:lnSpc>
                <a:spcPct val="104000"/>
              </a:lnSpc>
              <a:buNone/>
              <a:defRPr/>
            </a:pPr>
            <a:r>
              <a:rPr lang="en-US" sz="2150">
                <a:solidFill>
                  <a:srgbClr val="FAEBEB"/>
                </a:solidFill>
                <a:latin typeface="Dela Gothic One"/>
                <a:ea typeface="Dela Gothic One"/>
                <a:cs typeface="Dela Gothic One"/>
              </a:rPr>
              <a:t>Key Visualizations</a:t>
            </a:r>
            <a:endParaRPr lang="en-US" sz="2150"/>
          </a:p>
        </p:txBody>
      </p:sp>
      <p:sp>
        <p:nvSpPr>
          <p:cNvPr id="1497142242" name="Text 2"/>
          <p:cNvSpPr/>
          <p:nvPr/>
        </p:nvSpPr>
        <p:spPr bwMode="auto">
          <a:xfrm>
            <a:off x="473943" y="1817191"/>
            <a:ext cx="8653314" cy="206573"/>
          </a:xfrm>
          <a:prstGeom prst="rect">
            <a:avLst/>
          </a:prstGeom>
          <a:noFill/>
          <a:ln/>
        </p:spPr>
        <p:txBody>
          <a:bodyPr wrap="none" lIns="0" tIns="0" rIns="0" bIns="0" rtlCol="0" anchor="t"/>
          <a:lstStyle/>
          <a:p>
            <a:pPr marL="0" indent="0" algn="l">
              <a:lnSpc>
                <a:spcPct val="131000"/>
              </a:lnSpc>
              <a:buNone/>
              <a:defRPr/>
            </a:pPr>
            <a:r>
              <a:rPr lang="en-US" sz="1000" b="1">
                <a:solidFill>
                  <a:srgbClr val="FFE5E5"/>
                </a:solidFill>
                <a:latin typeface="DM Sans Bold"/>
                <a:ea typeface="DM Sans Bold"/>
                <a:cs typeface="DM Sans Bold"/>
              </a:rPr>
              <a:t>Model Performance Comparison</a:t>
            </a:r>
            <a:endParaRPr lang="en-US" sz="1000"/>
          </a:p>
        </p:txBody>
      </p:sp>
      <p:pic>
        <p:nvPicPr>
          <p:cNvPr id="549034659" name="Image 0" descr="preencoded.png"/>
          <p:cNvPicPr>
            <a:picLocks noChangeAspect="1"/>
          </p:cNvPicPr>
          <p:nvPr/>
        </p:nvPicPr>
        <p:blipFill rotWithShape="1">
          <a:blip r:embed="rId3"/>
          <a:stretch/>
        </p:blipFill>
        <p:spPr bwMode="auto">
          <a:xfrm>
            <a:off x="478706" y="2251546"/>
            <a:ext cx="1967954" cy="1967954"/>
          </a:xfrm>
          <a:prstGeom prst="rect">
            <a:avLst/>
          </a:prstGeom>
        </p:spPr>
      </p:pic>
      <p:pic>
        <p:nvPicPr>
          <p:cNvPr id="464113215" name="Image 1" descr="preencoded.png"/>
          <p:cNvPicPr>
            <a:picLocks noChangeAspect="1"/>
          </p:cNvPicPr>
          <p:nvPr/>
        </p:nvPicPr>
        <p:blipFill rotWithShape="1">
          <a:blip r:embed="rId4"/>
          <a:stretch/>
        </p:blipFill>
        <p:spPr bwMode="auto">
          <a:xfrm>
            <a:off x="2551584" y="2251546"/>
            <a:ext cx="1967954" cy="1967954"/>
          </a:xfrm>
          <a:prstGeom prst="rect">
            <a:avLst/>
          </a:prstGeom>
        </p:spPr>
      </p:pic>
      <p:pic>
        <p:nvPicPr>
          <p:cNvPr id="984001808" name="Image 2" descr="preencoded.png"/>
          <p:cNvPicPr>
            <a:picLocks noChangeAspect="1"/>
          </p:cNvPicPr>
          <p:nvPr/>
        </p:nvPicPr>
        <p:blipFill rotWithShape="1">
          <a:blip r:embed="rId5"/>
          <a:stretch/>
        </p:blipFill>
        <p:spPr bwMode="auto">
          <a:xfrm>
            <a:off x="4624462" y="2251546"/>
            <a:ext cx="1967954" cy="1967954"/>
          </a:xfrm>
          <a:prstGeom prst="rect">
            <a:avLst/>
          </a:prstGeom>
        </p:spPr>
      </p:pic>
      <p:pic>
        <p:nvPicPr>
          <p:cNvPr id="883179287" name="Image 3" descr="preencoded.png"/>
          <p:cNvPicPr>
            <a:picLocks noChangeAspect="1"/>
          </p:cNvPicPr>
          <p:nvPr/>
        </p:nvPicPr>
        <p:blipFill rotWithShape="1">
          <a:blip r:embed="rId6"/>
          <a:stretch/>
        </p:blipFill>
        <p:spPr bwMode="auto">
          <a:xfrm>
            <a:off x="6697340" y="2251546"/>
            <a:ext cx="1967954" cy="1967954"/>
          </a:xfrm>
          <a:prstGeom prst="rect">
            <a:avLst/>
          </a:prstGeom>
        </p:spPr>
      </p:pic>
      <p:sp>
        <p:nvSpPr>
          <p:cNvPr id="228781553" name=""/>
          <p:cNvSpPr/>
          <p:nvPr/>
        </p:nvSpPr>
        <p:spPr bwMode="auto">
          <a:xfrm rot="0" flipH="0" flipV="0">
            <a:off x="7950421" y="4762499"/>
            <a:ext cx="1144143" cy="352009"/>
          </a:xfrm>
          <a:prstGeom prst="rect">
            <a:avLst/>
          </a:prstGeom>
          <a:solidFill>
            <a:srgbClr val="0A0909"/>
          </a:solidFill>
          <a:ln w="12700" cap="flat" cmpd="sng" algn="ctr">
            <a:solidFill>
              <a:srgbClr val="0A0909"/>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1">
    <p:spTree>
      <p:nvGrpSpPr>
        <p:cNvPr id="1" name=""/>
        <p:cNvGrpSpPr/>
        <p:nvPr/>
      </p:nvGrpSpPr>
      <p:grpSpPr bwMode="auto">
        <a:xfrm>
          <a:off x="0" y="0"/>
          <a:ext cx="0" cy="0"/>
          <a:chOff x="0" y="0"/>
          <a:chExt cx="0" cy="0"/>
        </a:xfrm>
      </p:grpSpPr>
      <p:sp>
        <p:nvSpPr>
          <p:cNvPr id="514009568" name="Text 0"/>
          <p:cNvSpPr/>
          <p:nvPr/>
        </p:nvSpPr>
        <p:spPr bwMode="auto">
          <a:xfrm>
            <a:off x="473943" y="379288"/>
            <a:ext cx="8196114" cy="403696"/>
          </a:xfrm>
          <a:prstGeom prst="rect">
            <a:avLst/>
          </a:prstGeom>
          <a:noFill/>
          <a:ln/>
        </p:spPr>
        <p:txBody>
          <a:bodyPr wrap="none" lIns="0" tIns="0" rIns="0" bIns="0" rtlCol="0" anchor="t"/>
          <a:lstStyle/>
          <a:p>
            <a:pPr marL="0" indent="0" algn="l">
              <a:lnSpc>
                <a:spcPct val="104000"/>
              </a:lnSpc>
              <a:buNone/>
              <a:defRPr/>
            </a:pPr>
            <a:r>
              <a:rPr lang="en-US" sz="2500">
                <a:solidFill>
                  <a:srgbClr val="FAEBEB"/>
                </a:solidFill>
                <a:latin typeface="Dela Gothic One"/>
                <a:ea typeface="Dela Gothic One"/>
                <a:cs typeface="Dela Gothic One"/>
              </a:rPr>
              <a:t>4. Phase 4.0 — Modeling &amp; Viz</a:t>
            </a:r>
            <a:endParaRPr lang="en-US" sz="2500"/>
          </a:p>
        </p:txBody>
      </p:sp>
      <p:sp>
        <p:nvSpPr>
          <p:cNvPr id="686973422" name="Text 1"/>
          <p:cNvSpPr/>
          <p:nvPr/>
        </p:nvSpPr>
        <p:spPr bwMode="auto">
          <a:xfrm>
            <a:off x="473943" y="827409"/>
            <a:ext cx="8196114" cy="322957"/>
          </a:xfrm>
          <a:prstGeom prst="rect">
            <a:avLst/>
          </a:prstGeom>
          <a:noFill/>
          <a:ln/>
        </p:spPr>
        <p:txBody>
          <a:bodyPr wrap="none" lIns="0" tIns="0" rIns="0" bIns="0" rtlCol="0" anchor="t"/>
          <a:lstStyle/>
          <a:p>
            <a:pPr marL="0" indent="0" algn="l">
              <a:lnSpc>
                <a:spcPct val="104000"/>
              </a:lnSpc>
              <a:buNone/>
              <a:defRPr/>
            </a:pPr>
            <a:r>
              <a:rPr lang="en-US" sz="2000">
                <a:solidFill>
                  <a:srgbClr val="FAEBEB"/>
                </a:solidFill>
                <a:latin typeface="Dela Gothic One"/>
                <a:ea typeface="Dela Gothic One"/>
                <a:cs typeface="Dela Gothic One"/>
              </a:rPr>
              <a:t>Key Visualizations</a:t>
            </a:r>
            <a:endParaRPr lang="en-US" sz="2000"/>
          </a:p>
        </p:txBody>
      </p:sp>
      <p:sp>
        <p:nvSpPr>
          <p:cNvPr id="1442452237" name="Text 2"/>
          <p:cNvSpPr/>
          <p:nvPr/>
        </p:nvSpPr>
        <p:spPr bwMode="auto">
          <a:xfrm>
            <a:off x="473943" y="1317129"/>
            <a:ext cx="8653314" cy="187077"/>
          </a:xfrm>
          <a:prstGeom prst="rect">
            <a:avLst/>
          </a:prstGeom>
          <a:noFill/>
          <a:ln/>
        </p:spPr>
        <p:txBody>
          <a:bodyPr wrap="none" lIns="0" tIns="0" rIns="0" bIns="0" rtlCol="0" anchor="t"/>
          <a:lstStyle/>
          <a:p>
            <a:pPr marL="0" indent="0" algn="l">
              <a:lnSpc>
                <a:spcPct val="127000"/>
              </a:lnSpc>
              <a:buNone/>
              <a:defRPr/>
            </a:pPr>
            <a:r>
              <a:rPr lang="en-US" sz="950" b="1">
                <a:solidFill>
                  <a:srgbClr val="FFE5E5"/>
                </a:solidFill>
                <a:latin typeface="DM Sans Bold"/>
                <a:ea typeface="DM Sans Bold"/>
                <a:cs typeface="DM Sans Bold"/>
              </a:rPr>
              <a:t>Observed vs Predicted (all 3 models)</a:t>
            </a:r>
            <a:endParaRPr lang="en-US" sz="950"/>
          </a:p>
        </p:txBody>
      </p:sp>
      <p:pic>
        <p:nvPicPr>
          <p:cNvPr id="2004674562" name="Image 0" descr="preencoded.png"/>
          <p:cNvPicPr>
            <a:picLocks noChangeAspect="1"/>
          </p:cNvPicPr>
          <p:nvPr/>
        </p:nvPicPr>
        <p:blipFill rotWithShape="1">
          <a:blip r:embed="rId3"/>
          <a:stretch/>
        </p:blipFill>
        <p:spPr bwMode="auto">
          <a:xfrm>
            <a:off x="478706" y="1708919"/>
            <a:ext cx="2663428" cy="2663428"/>
          </a:xfrm>
          <a:prstGeom prst="rect">
            <a:avLst/>
          </a:prstGeom>
        </p:spPr>
      </p:pic>
      <p:pic>
        <p:nvPicPr>
          <p:cNvPr id="1705700750" name="Image 1" descr="preencoded.png"/>
          <p:cNvPicPr>
            <a:picLocks noChangeAspect="1"/>
          </p:cNvPicPr>
          <p:nvPr/>
        </p:nvPicPr>
        <p:blipFill rotWithShape="1">
          <a:blip r:embed="rId4"/>
          <a:stretch/>
        </p:blipFill>
        <p:spPr bwMode="auto">
          <a:xfrm>
            <a:off x="3240286" y="1708919"/>
            <a:ext cx="2663428" cy="2663428"/>
          </a:xfrm>
          <a:prstGeom prst="rect">
            <a:avLst/>
          </a:prstGeom>
        </p:spPr>
      </p:pic>
      <p:pic>
        <p:nvPicPr>
          <p:cNvPr id="2017562761" name="Image 2" descr="preencoded.png"/>
          <p:cNvPicPr>
            <a:picLocks noChangeAspect="1"/>
          </p:cNvPicPr>
          <p:nvPr/>
        </p:nvPicPr>
        <p:blipFill rotWithShape="1">
          <a:blip r:embed="rId5"/>
          <a:stretch/>
        </p:blipFill>
        <p:spPr bwMode="auto">
          <a:xfrm>
            <a:off x="6001866" y="1708919"/>
            <a:ext cx="2663428" cy="2663428"/>
          </a:xfrm>
          <a:prstGeom prst="rect">
            <a:avLst/>
          </a:prstGeom>
        </p:spPr>
      </p:pic>
      <p:sp>
        <p:nvSpPr>
          <p:cNvPr id="78271697" name="Text 3"/>
          <p:cNvSpPr/>
          <p:nvPr/>
        </p:nvSpPr>
        <p:spPr bwMode="auto">
          <a:xfrm>
            <a:off x="473943" y="4577060"/>
            <a:ext cx="8653314" cy="187077"/>
          </a:xfrm>
          <a:prstGeom prst="rect">
            <a:avLst/>
          </a:prstGeom>
          <a:noFill/>
          <a:ln/>
        </p:spPr>
        <p:txBody>
          <a:bodyPr wrap="none" lIns="0" tIns="0" rIns="0" bIns="0" rtlCol="0" anchor="t"/>
          <a:lstStyle/>
          <a:p>
            <a:pPr marL="0" indent="0" algn="l">
              <a:lnSpc>
                <a:spcPct val="127000"/>
              </a:lnSpc>
              <a:buNone/>
              <a:defRPr/>
            </a:pPr>
            <a:r>
              <a:rPr lang="en-US" sz="950" b="1">
                <a:solidFill>
                  <a:srgbClr val="FFE5E5"/>
                </a:solidFill>
                <a:latin typeface="DM Sans Bold"/>
                <a:ea typeface="DM Sans Bold"/>
                <a:cs typeface="DM Sans Bold"/>
              </a:rPr>
              <a:t>Feature Importance (Top 4 per model)</a:t>
            </a:r>
            <a:endParaRPr lang="en-US" sz="950"/>
          </a:p>
        </p:txBody>
      </p:sp>
      <p:sp>
        <p:nvSpPr>
          <p:cNvPr id="1518545007" name=""/>
          <p:cNvSpPr/>
          <p:nvPr/>
        </p:nvSpPr>
        <p:spPr bwMode="auto">
          <a:xfrm rot="0" flipH="0" flipV="0">
            <a:off x="7950421" y="4762499"/>
            <a:ext cx="1144143" cy="352009"/>
          </a:xfrm>
          <a:prstGeom prst="rect">
            <a:avLst/>
          </a:prstGeom>
          <a:solidFill>
            <a:srgbClr val="0A0909"/>
          </a:solidFill>
          <a:ln w="12700" cap="flat" cmpd="sng" algn="ctr">
            <a:solidFill>
              <a:srgbClr val="0A0909"/>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2">
    <p:spTree>
      <p:nvGrpSpPr>
        <p:cNvPr id="1" name=""/>
        <p:cNvGrpSpPr/>
        <p:nvPr/>
      </p:nvGrpSpPr>
      <p:grpSpPr bwMode="auto">
        <a:xfrm>
          <a:off x="0" y="0"/>
          <a:ext cx="0" cy="0"/>
          <a:chOff x="0" y="0"/>
          <a:chExt cx="0" cy="0"/>
        </a:xfrm>
      </p:grpSpPr>
      <p:sp>
        <p:nvSpPr>
          <p:cNvPr id="1134580277" name="Text 0"/>
          <p:cNvSpPr/>
          <p:nvPr/>
        </p:nvSpPr>
        <p:spPr bwMode="auto">
          <a:xfrm>
            <a:off x="473943" y="421407"/>
            <a:ext cx="8196114" cy="445443"/>
          </a:xfrm>
          <a:prstGeom prst="rect">
            <a:avLst/>
          </a:prstGeom>
          <a:noFill/>
          <a:ln/>
        </p:spPr>
        <p:txBody>
          <a:bodyPr wrap="none" lIns="0" tIns="0" rIns="0" bIns="0" rtlCol="0" anchor="t"/>
          <a:lstStyle/>
          <a:p>
            <a:pPr marL="0" indent="0" algn="l">
              <a:lnSpc>
                <a:spcPct val="104000"/>
              </a:lnSpc>
              <a:buNone/>
              <a:defRPr/>
            </a:pPr>
            <a:r>
              <a:rPr lang="en-US" sz="2800">
                <a:solidFill>
                  <a:srgbClr val="FAEBEB"/>
                </a:solidFill>
                <a:latin typeface="Dela Gothic One"/>
                <a:ea typeface="Dela Gothic One"/>
                <a:cs typeface="Dela Gothic One"/>
              </a:rPr>
              <a:t>4. Phase 4.0 — Modeling &amp; Viz</a:t>
            </a:r>
            <a:endParaRPr lang="en-US" sz="2800"/>
          </a:p>
        </p:txBody>
      </p:sp>
      <p:sp>
        <p:nvSpPr>
          <p:cNvPr id="513458873" name="Text 1"/>
          <p:cNvSpPr/>
          <p:nvPr/>
        </p:nvSpPr>
        <p:spPr bwMode="auto">
          <a:xfrm>
            <a:off x="473943" y="920947"/>
            <a:ext cx="8196114" cy="356295"/>
          </a:xfrm>
          <a:prstGeom prst="rect">
            <a:avLst/>
          </a:prstGeom>
          <a:noFill/>
          <a:ln/>
        </p:spPr>
        <p:txBody>
          <a:bodyPr wrap="none" lIns="0" tIns="0" rIns="0" bIns="0" rtlCol="0" anchor="t"/>
          <a:lstStyle/>
          <a:p>
            <a:pPr marL="0" indent="0" algn="l">
              <a:lnSpc>
                <a:spcPct val="104000"/>
              </a:lnSpc>
              <a:buNone/>
              <a:defRPr/>
            </a:pPr>
            <a:r>
              <a:rPr lang="en-US" sz="2200">
                <a:solidFill>
                  <a:srgbClr val="FAEBEB"/>
                </a:solidFill>
                <a:latin typeface="Dela Gothic One"/>
                <a:ea typeface="Dela Gothic One"/>
                <a:cs typeface="Dela Gothic One"/>
              </a:rPr>
              <a:t>Key Visualizations</a:t>
            </a:r>
            <a:endParaRPr lang="en-US" sz="2200"/>
          </a:p>
        </p:txBody>
      </p:sp>
      <p:sp>
        <p:nvSpPr>
          <p:cNvPr id="22421017" name="Text 2"/>
          <p:cNvSpPr/>
          <p:nvPr/>
        </p:nvSpPr>
        <p:spPr bwMode="auto">
          <a:xfrm>
            <a:off x="473943" y="1480319"/>
            <a:ext cx="8653314" cy="216694"/>
          </a:xfrm>
          <a:prstGeom prst="rect">
            <a:avLst/>
          </a:prstGeom>
          <a:noFill/>
          <a:ln/>
        </p:spPr>
        <p:txBody>
          <a:bodyPr wrap="none" lIns="0" tIns="0" rIns="0" bIns="0" rtlCol="0" anchor="t"/>
          <a:lstStyle/>
          <a:p>
            <a:pPr marL="0" indent="0" algn="l">
              <a:lnSpc>
                <a:spcPct val="133000"/>
              </a:lnSpc>
              <a:buNone/>
              <a:defRPr/>
            </a:pPr>
            <a:r>
              <a:rPr lang="en-US" sz="1050" b="1">
                <a:solidFill>
                  <a:srgbClr val="FFE5E5"/>
                </a:solidFill>
                <a:latin typeface="DM Sans Bold"/>
                <a:ea typeface="DM Sans Bold"/>
                <a:cs typeface="DM Sans Bold"/>
              </a:rPr>
              <a:t>Feature Importance (Top 4 per model)</a:t>
            </a:r>
            <a:endParaRPr lang="en-US" sz="1050"/>
          </a:p>
        </p:txBody>
      </p:sp>
      <p:pic>
        <p:nvPicPr>
          <p:cNvPr id="1948027531" name="Image 0" descr="preencoded.png"/>
          <p:cNvPicPr>
            <a:picLocks noChangeAspect="1"/>
          </p:cNvPicPr>
          <p:nvPr/>
        </p:nvPicPr>
        <p:blipFill rotWithShape="1">
          <a:blip r:embed="rId3"/>
          <a:stretch/>
        </p:blipFill>
        <p:spPr bwMode="auto">
          <a:xfrm>
            <a:off x="478706" y="1936700"/>
            <a:ext cx="2656656" cy="2656656"/>
          </a:xfrm>
          <a:prstGeom prst="rect">
            <a:avLst/>
          </a:prstGeom>
        </p:spPr>
      </p:pic>
      <p:pic>
        <p:nvPicPr>
          <p:cNvPr id="215828697" name="Image 1" descr="preencoded.png"/>
          <p:cNvPicPr>
            <a:picLocks noChangeAspect="1"/>
          </p:cNvPicPr>
          <p:nvPr/>
        </p:nvPicPr>
        <p:blipFill rotWithShape="1">
          <a:blip r:embed="rId4"/>
          <a:stretch/>
        </p:blipFill>
        <p:spPr bwMode="auto">
          <a:xfrm>
            <a:off x="3243635" y="1936700"/>
            <a:ext cx="2656656" cy="2656656"/>
          </a:xfrm>
          <a:prstGeom prst="rect">
            <a:avLst/>
          </a:prstGeom>
        </p:spPr>
      </p:pic>
      <p:pic>
        <p:nvPicPr>
          <p:cNvPr id="1608405699" name="Image 2" descr="preencoded.png"/>
          <p:cNvPicPr>
            <a:picLocks noChangeAspect="1"/>
          </p:cNvPicPr>
          <p:nvPr/>
        </p:nvPicPr>
        <p:blipFill rotWithShape="1">
          <a:blip r:embed="rId5"/>
          <a:stretch/>
        </p:blipFill>
        <p:spPr bwMode="auto">
          <a:xfrm>
            <a:off x="6008563" y="1936700"/>
            <a:ext cx="2656656" cy="2656656"/>
          </a:xfrm>
          <a:prstGeom prst="rect">
            <a:avLst/>
          </a:prstGeom>
        </p:spPr>
      </p:pic>
      <p:sp>
        <p:nvSpPr>
          <p:cNvPr id="1709666200" name=""/>
          <p:cNvSpPr/>
          <p:nvPr/>
        </p:nvSpPr>
        <p:spPr bwMode="auto">
          <a:xfrm rot="0" flipH="0" flipV="0">
            <a:off x="7950421" y="4762499"/>
            <a:ext cx="1144143" cy="352009"/>
          </a:xfrm>
          <a:prstGeom prst="rect">
            <a:avLst/>
          </a:prstGeom>
          <a:solidFill>
            <a:srgbClr val="0A0909"/>
          </a:solidFill>
          <a:ln w="12700" cap="flat" cmpd="sng" algn="ctr">
            <a:solidFill>
              <a:srgbClr val="0A0909"/>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3">
    <p:spTree>
      <p:nvGrpSpPr>
        <p:cNvPr id="1" name=""/>
        <p:cNvGrpSpPr/>
        <p:nvPr/>
      </p:nvGrpSpPr>
      <p:grpSpPr bwMode="auto">
        <a:xfrm>
          <a:off x="0" y="0"/>
          <a:ext cx="0" cy="0"/>
          <a:chOff x="0" y="0"/>
          <a:chExt cx="0" cy="0"/>
        </a:xfrm>
      </p:grpSpPr>
      <p:sp>
        <p:nvSpPr>
          <p:cNvPr id="1600477837" name="Text 0"/>
          <p:cNvSpPr/>
          <p:nvPr/>
        </p:nvSpPr>
        <p:spPr bwMode="auto">
          <a:xfrm>
            <a:off x="473943" y="517773"/>
            <a:ext cx="8196114" cy="445443"/>
          </a:xfrm>
          <a:prstGeom prst="rect">
            <a:avLst/>
          </a:prstGeom>
          <a:noFill/>
          <a:ln/>
        </p:spPr>
        <p:txBody>
          <a:bodyPr wrap="none" lIns="0" tIns="0" rIns="0" bIns="0" rtlCol="0" anchor="t"/>
          <a:lstStyle/>
          <a:p>
            <a:pPr marL="0" indent="0" algn="l">
              <a:lnSpc>
                <a:spcPct val="104000"/>
              </a:lnSpc>
              <a:buNone/>
              <a:defRPr/>
            </a:pPr>
            <a:r>
              <a:rPr lang="en-US" sz="2800">
                <a:solidFill>
                  <a:srgbClr val="FAEBEB"/>
                </a:solidFill>
                <a:latin typeface="Dela Gothic One"/>
                <a:ea typeface="Dela Gothic One"/>
                <a:cs typeface="Dela Gothic One"/>
              </a:rPr>
              <a:t>4. Phase 4.0 — Modeling &amp; Viz</a:t>
            </a:r>
            <a:endParaRPr lang="en-US" sz="2800"/>
          </a:p>
        </p:txBody>
      </p:sp>
      <p:sp>
        <p:nvSpPr>
          <p:cNvPr id="26900451" name="Text 1"/>
          <p:cNvSpPr/>
          <p:nvPr/>
        </p:nvSpPr>
        <p:spPr bwMode="auto">
          <a:xfrm>
            <a:off x="473943" y="1017315"/>
            <a:ext cx="8196114" cy="356295"/>
          </a:xfrm>
          <a:prstGeom prst="rect">
            <a:avLst/>
          </a:prstGeom>
          <a:noFill/>
          <a:ln/>
        </p:spPr>
        <p:txBody>
          <a:bodyPr wrap="none" lIns="0" tIns="0" rIns="0" bIns="0" rtlCol="0" anchor="t"/>
          <a:lstStyle/>
          <a:p>
            <a:pPr marL="0" indent="0" algn="l">
              <a:lnSpc>
                <a:spcPct val="104000"/>
              </a:lnSpc>
              <a:buNone/>
              <a:defRPr/>
            </a:pPr>
            <a:r>
              <a:rPr lang="en-US" sz="2200">
                <a:solidFill>
                  <a:srgbClr val="FAEBEB"/>
                </a:solidFill>
                <a:latin typeface="Dela Gothic One"/>
                <a:ea typeface="Dela Gothic One"/>
                <a:cs typeface="Dela Gothic One"/>
              </a:rPr>
              <a:t>Business Insights</a:t>
            </a:r>
            <a:endParaRPr lang="en-US" sz="2200"/>
          </a:p>
        </p:txBody>
      </p:sp>
      <p:sp>
        <p:nvSpPr>
          <p:cNvPr id="597171215" name="Shape 2"/>
          <p:cNvSpPr/>
          <p:nvPr/>
        </p:nvSpPr>
        <p:spPr bwMode="auto">
          <a:xfrm>
            <a:off x="473943" y="1576685"/>
            <a:ext cx="4030340" cy="1456804"/>
          </a:xfrm>
          <a:prstGeom prst="roundRect">
            <a:avLst>
              <a:gd name="adj" fmla="val 3904"/>
            </a:avLst>
          </a:prstGeom>
          <a:solidFill>
            <a:srgbClr val="740B0B"/>
          </a:solidFill>
          <a:ln w="4763">
            <a:solidFill>
              <a:srgbClr val="8D2424"/>
            </a:solidFill>
            <a:prstDash val="solid"/>
          </a:ln>
        </p:spPr>
      </p:sp>
      <p:sp>
        <p:nvSpPr>
          <p:cNvPr id="753265963" name="Text 3"/>
          <p:cNvSpPr/>
          <p:nvPr/>
        </p:nvSpPr>
        <p:spPr bwMode="auto">
          <a:xfrm>
            <a:off x="614065" y="1716807"/>
            <a:ext cx="3750097" cy="222647"/>
          </a:xfrm>
          <a:prstGeom prst="rect">
            <a:avLst/>
          </a:prstGeom>
          <a:noFill/>
          <a:ln/>
        </p:spPr>
        <p:txBody>
          <a:bodyPr wrap="none" lIns="0" tIns="0" rIns="0" bIns="0" rtlCol="0" anchor="t"/>
          <a:lstStyle/>
          <a:p>
            <a:pPr marL="0" indent="0" algn="l">
              <a:lnSpc>
                <a:spcPct val="104000"/>
              </a:lnSpc>
              <a:buNone/>
              <a:defRPr/>
            </a:pPr>
            <a:r>
              <a:rPr lang="en-US" sz="1400">
                <a:solidFill>
                  <a:srgbClr val="FFE5E5"/>
                </a:solidFill>
                <a:latin typeface="Dela Gothic One"/>
                <a:ea typeface="Dela Gothic One"/>
                <a:cs typeface="Dela Gothic One"/>
              </a:rPr>
              <a:t>Location dominates pricing</a:t>
            </a:r>
            <a:endParaRPr lang="en-US" sz="1400"/>
          </a:p>
        </p:txBody>
      </p:sp>
      <p:sp>
        <p:nvSpPr>
          <p:cNvPr id="1631489985" name="Text 4"/>
          <p:cNvSpPr/>
          <p:nvPr/>
        </p:nvSpPr>
        <p:spPr bwMode="auto">
          <a:xfrm>
            <a:off x="614065" y="2020639"/>
            <a:ext cx="3750097" cy="866775"/>
          </a:xfrm>
          <a:prstGeom prst="rect">
            <a:avLst/>
          </a:prstGeom>
          <a:noFill/>
          <a:ln/>
        </p:spPr>
        <p:txBody>
          <a:bodyPr wrap="square" lIns="0" tIns="0" rIns="0" bIns="0" rtlCol="0" anchor="t">
            <a:normAutofit/>
          </a:bodyPr>
          <a:lstStyle/>
          <a:p>
            <a:pPr marL="0" indent="0" algn="l">
              <a:lnSpc>
                <a:spcPct val="133000"/>
              </a:lnSpc>
              <a:buNone/>
              <a:defRPr/>
            </a:pPr>
            <a:r>
              <a:rPr lang="en-US" sz="1050">
                <a:solidFill>
                  <a:srgbClr val="FFE5E5"/>
                </a:solidFill>
                <a:latin typeface="DM Sans"/>
                <a:ea typeface="DM Sans"/>
                <a:cs typeface="DM Sans"/>
              </a:rPr>
              <a:t>The geographic cluster alone explains more variance than any other single feature. A unit in an expensive neighborhood commands premium regardless of its physical characteristics</a:t>
            </a:r>
            <a:endParaRPr lang="en-US" sz="1050"/>
          </a:p>
        </p:txBody>
      </p:sp>
      <p:sp>
        <p:nvSpPr>
          <p:cNvPr id="1906628095" name="Shape 5"/>
          <p:cNvSpPr/>
          <p:nvPr/>
        </p:nvSpPr>
        <p:spPr bwMode="auto">
          <a:xfrm>
            <a:off x="4639642" y="1576685"/>
            <a:ext cx="4030414" cy="1456804"/>
          </a:xfrm>
          <a:prstGeom prst="roundRect">
            <a:avLst>
              <a:gd name="adj" fmla="val 3904"/>
            </a:avLst>
          </a:prstGeom>
          <a:solidFill>
            <a:srgbClr val="740B0B"/>
          </a:solidFill>
          <a:ln w="4763">
            <a:solidFill>
              <a:srgbClr val="8D2424"/>
            </a:solidFill>
            <a:prstDash val="solid"/>
          </a:ln>
        </p:spPr>
      </p:sp>
      <p:sp>
        <p:nvSpPr>
          <p:cNvPr id="411234339" name="Text 6"/>
          <p:cNvSpPr/>
          <p:nvPr/>
        </p:nvSpPr>
        <p:spPr bwMode="auto">
          <a:xfrm>
            <a:off x="4779764" y="1716807"/>
            <a:ext cx="3750171" cy="445294"/>
          </a:xfrm>
          <a:prstGeom prst="rect">
            <a:avLst/>
          </a:prstGeom>
          <a:noFill/>
          <a:ln/>
        </p:spPr>
        <p:txBody>
          <a:bodyPr wrap="square" lIns="0" tIns="0" rIns="0" bIns="0" rtlCol="0" anchor="t">
            <a:normAutofit/>
          </a:bodyPr>
          <a:lstStyle/>
          <a:p>
            <a:pPr marL="0" indent="0" algn="l">
              <a:lnSpc>
                <a:spcPct val="104000"/>
              </a:lnSpc>
              <a:buNone/>
              <a:defRPr/>
            </a:pPr>
            <a:r>
              <a:rPr lang="en-US" sz="1400">
                <a:solidFill>
                  <a:srgbClr val="FFE5E5"/>
                </a:solidFill>
                <a:latin typeface="Dela Gothic One"/>
                <a:ea typeface="Dela Gothic One"/>
                <a:cs typeface="Dela Gothic One"/>
              </a:rPr>
              <a:t>Size matters, but diminishing returns</a:t>
            </a:r>
            <a:endParaRPr lang="en-US" sz="1400"/>
          </a:p>
        </p:txBody>
      </p:sp>
      <p:sp>
        <p:nvSpPr>
          <p:cNvPr id="582800356" name="Text 7"/>
          <p:cNvSpPr/>
          <p:nvPr/>
        </p:nvSpPr>
        <p:spPr bwMode="auto">
          <a:xfrm>
            <a:off x="4779764" y="2243286"/>
            <a:ext cx="3750171" cy="650081"/>
          </a:xfrm>
          <a:prstGeom prst="rect">
            <a:avLst/>
          </a:prstGeom>
          <a:noFill/>
          <a:ln/>
        </p:spPr>
        <p:txBody>
          <a:bodyPr wrap="square" lIns="0" tIns="0" rIns="0" bIns="0" rtlCol="0" anchor="t">
            <a:normAutofit/>
          </a:bodyPr>
          <a:lstStyle/>
          <a:p>
            <a:pPr marL="0" indent="0" algn="l">
              <a:lnSpc>
                <a:spcPct val="133000"/>
              </a:lnSpc>
              <a:buNone/>
              <a:defRPr/>
            </a:pPr>
            <a:r>
              <a:rPr lang="en-US" sz="1050">
                <a:solidFill>
                  <a:srgbClr val="FFE5E5"/>
                </a:solidFill>
                <a:latin typeface="DM Sans"/>
                <a:ea typeface="DM Sans"/>
                <a:cs typeface="DM Sans"/>
              </a:rPr>
              <a:t>Square footage and bedroom count are the second- and third-strongest predictors, but the marginal price increase per additional bedroom decreases beyond 3 bedrooms</a:t>
            </a:r>
            <a:endParaRPr lang="en-US" sz="1050"/>
          </a:p>
        </p:txBody>
      </p:sp>
      <p:sp>
        <p:nvSpPr>
          <p:cNvPr id="2127245794" name="Shape 8"/>
          <p:cNvSpPr/>
          <p:nvPr/>
        </p:nvSpPr>
        <p:spPr bwMode="auto">
          <a:xfrm>
            <a:off x="473943" y="3168848"/>
            <a:ext cx="4030340" cy="1456804"/>
          </a:xfrm>
          <a:prstGeom prst="roundRect">
            <a:avLst>
              <a:gd name="adj" fmla="val 3904"/>
            </a:avLst>
          </a:prstGeom>
          <a:solidFill>
            <a:srgbClr val="740B0B"/>
          </a:solidFill>
          <a:ln w="4763">
            <a:solidFill>
              <a:srgbClr val="8D2424"/>
            </a:solidFill>
            <a:prstDash val="solid"/>
          </a:ln>
        </p:spPr>
      </p:sp>
      <p:sp>
        <p:nvSpPr>
          <p:cNvPr id="948963612" name="Text 9"/>
          <p:cNvSpPr/>
          <p:nvPr/>
        </p:nvSpPr>
        <p:spPr bwMode="auto">
          <a:xfrm>
            <a:off x="614065" y="3308970"/>
            <a:ext cx="3750097" cy="445294"/>
          </a:xfrm>
          <a:prstGeom prst="rect">
            <a:avLst/>
          </a:prstGeom>
          <a:noFill/>
          <a:ln/>
        </p:spPr>
        <p:txBody>
          <a:bodyPr wrap="square" lIns="0" tIns="0" rIns="0" bIns="0" rtlCol="0" anchor="t">
            <a:normAutofit/>
          </a:bodyPr>
          <a:lstStyle/>
          <a:p>
            <a:pPr marL="0" indent="0" algn="l">
              <a:lnSpc>
                <a:spcPct val="104000"/>
              </a:lnSpc>
              <a:buNone/>
              <a:defRPr/>
            </a:pPr>
            <a:r>
              <a:rPr lang="en-US" sz="1400">
                <a:solidFill>
                  <a:srgbClr val="FFE5E5"/>
                </a:solidFill>
                <a:latin typeface="Dela Gothic One"/>
                <a:ea typeface="Dela Gothic One"/>
                <a:cs typeface="Dela Gothic One"/>
              </a:rPr>
              <a:t>Amenities have limited standalone impact</a:t>
            </a:r>
            <a:endParaRPr lang="en-US" sz="1400"/>
          </a:p>
        </p:txBody>
      </p:sp>
      <p:sp>
        <p:nvSpPr>
          <p:cNvPr id="926577977" name="Text 10"/>
          <p:cNvSpPr/>
          <p:nvPr/>
        </p:nvSpPr>
        <p:spPr bwMode="auto">
          <a:xfrm>
            <a:off x="614065" y="3835450"/>
            <a:ext cx="3750097" cy="650081"/>
          </a:xfrm>
          <a:prstGeom prst="rect">
            <a:avLst/>
          </a:prstGeom>
          <a:noFill/>
          <a:ln/>
        </p:spPr>
        <p:txBody>
          <a:bodyPr wrap="square" lIns="0" tIns="0" rIns="0" bIns="0" rtlCol="0" anchor="t">
            <a:normAutofit/>
          </a:bodyPr>
          <a:lstStyle/>
          <a:p>
            <a:pPr marL="0" indent="0" algn="l">
              <a:lnSpc>
                <a:spcPct val="133000"/>
              </a:lnSpc>
              <a:buNone/>
              <a:defRPr/>
            </a:pPr>
            <a:r>
              <a:rPr lang="en-US" sz="1050">
                <a:solidFill>
                  <a:srgbClr val="FFE5E5"/>
                </a:solidFill>
                <a:latin typeface="DM Sans"/>
                <a:ea typeface="DM Sans"/>
                <a:cs typeface="DM Sans"/>
              </a:rPr>
              <a:t>Pet policies, laundry options, parking, and wheelchair access each contribute modestly; they matter most in combination rather than individually</a:t>
            </a:r>
            <a:endParaRPr lang="en-US" sz="1050"/>
          </a:p>
        </p:txBody>
      </p:sp>
      <p:sp>
        <p:nvSpPr>
          <p:cNvPr id="555094558" name="Shape 11"/>
          <p:cNvSpPr/>
          <p:nvPr/>
        </p:nvSpPr>
        <p:spPr bwMode="auto">
          <a:xfrm>
            <a:off x="4639642" y="3168848"/>
            <a:ext cx="4030414" cy="1456804"/>
          </a:xfrm>
          <a:prstGeom prst="roundRect">
            <a:avLst>
              <a:gd name="adj" fmla="val 3904"/>
            </a:avLst>
          </a:prstGeom>
          <a:solidFill>
            <a:srgbClr val="740B0B"/>
          </a:solidFill>
          <a:ln w="4763">
            <a:solidFill>
              <a:srgbClr val="8D2424"/>
            </a:solidFill>
            <a:prstDash val="solid"/>
          </a:ln>
        </p:spPr>
      </p:sp>
      <p:sp>
        <p:nvSpPr>
          <p:cNvPr id="2090377675" name="Text 12"/>
          <p:cNvSpPr/>
          <p:nvPr/>
        </p:nvSpPr>
        <p:spPr bwMode="auto">
          <a:xfrm>
            <a:off x="4779764" y="3308970"/>
            <a:ext cx="3750171" cy="222647"/>
          </a:xfrm>
          <a:prstGeom prst="rect">
            <a:avLst/>
          </a:prstGeom>
          <a:noFill/>
          <a:ln/>
        </p:spPr>
        <p:txBody>
          <a:bodyPr wrap="none" lIns="0" tIns="0" rIns="0" bIns="0" rtlCol="0" anchor="t"/>
          <a:lstStyle/>
          <a:p>
            <a:pPr marL="0" indent="0" algn="l">
              <a:lnSpc>
                <a:spcPct val="104000"/>
              </a:lnSpc>
              <a:buNone/>
              <a:defRPr/>
            </a:pPr>
            <a:r>
              <a:rPr lang="en-US" sz="1400">
                <a:solidFill>
                  <a:srgbClr val="FFE5E5"/>
                </a:solidFill>
                <a:latin typeface="Dela Gothic One"/>
                <a:ea typeface="Dela Gothic One"/>
                <a:cs typeface="Dela Gothic One"/>
              </a:rPr>
              <a:t>Business impact</a:t>
            </a:r>
            <a:endParaRPr lang="en-US" sz="1400"/>
          </a:p>
        </p:txBody>
      </p:sp>
      <p:sp>
        <p:nvSpPr>
          <p:cNvPr id="2022923082" name="Text 13"/>
          <p:cNvSpPr/>
          <p:nvPr/>
        </p:nvSpPr>
        <p:spPr bwMode="auto">
          <a:xfrm>
            <a:off x="4779764" y="3612803"/>
            <a:ext cx="3750171" cy="650081"/>
          </a:xfrm>
          <a:prstGeom prst="rect">
            <a:avLst/>
          </a:prstGeom>
          <a:noFill/>
          <a:ln/>
        </p:spPr>
        <p:txBody>
          <a:bodyPr wrap="square" lIns="0" tIns="0" rIns="0" bIns="0" rtlCol="0" anchor="t">
            <a:normAutofit/>
          </a:bodyPr>
          <a:lstStyle/>
          <a:p>
            <a:pPr marL="0" indent="0" algn="l">
              <a:lnSpc>
                <a:spcPct val="133000"/>
              </a:lnSpc>
              <a:buNone/>
              <a:defRPr/>
            </a:pPr>
            <a:r>
              <a:rPr lang="en-US" sz="1050">
                <a:solidFill>
                  <a:srgbClr val="FFE5E5"/>
                </a:solidFill>
                <a:latin typeface="DM Sans"/>
                <a:ea typeface="DM Sans"/>
                <a:cs typeface="DM Sans"/>
              </a:rPr>
              <a:t>Property investors should prioritize location over renovations; renters can find better value by looking slightly outside premium clusters for similar-sized units</a:t>
            </a:r>
            <a:endParaRPr lang="en-US" sz="1050"/>
          </a:p>
        </p:txBody>
      </p:sp>
      <p:sp>
        <p:nvSpPr>
          <p:cNvPr id="1515842017" name=""/>
          <p:cNvSpPr/>
          <p:nvPr/>
        </p:nvSpPr>
        <p:spPr bwMode="auto">
          <a:xfrm rot="0" flipH="0" flipV="0">
            <a:off x="7950421" y="4762499"/>
            <a:ext cx="1144143" cy="352009"/>
          </a:xfrm>
          <a:prstGeom prst="rect">
            <a:avLst/>
          </a:prstGeom>
          <a:solidFill>
            <a:srgbClr val="0A0909"/>
          </a:solidFill>
          <a:ln w="12700" cap="flat" cmpd="sng" algn="ctr">
            <a:solidFill>
              <a:srgbClr val="0A0909"/>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4">
    <p:spTree>
      <p:nvGrpSpPr>
        <p:cNvPr id="1" name=""/>
        <p:cNvGrpSpPr/>
        <p:nvPr/>
      </p:nvGrpSpPr>
      <p:grpSpPr bwMode="auto">
        <a:xfrm>
          <a:off x="0" y="0"/>
          <a:ext cx="0" cy="0"/>
          <a:chOff x="0" y="0"/>
          <a:chExt cx="0" cy="0"/>
        </a:xfrm>
      </p:grpSpPr>
      <p:sp>
        <p:nvSpPr>
          <p:cNvPr id="1998927772" name="Text 0"/>
          <p:cNvSpPr/>
          <p:nvPr/>
        </p:nvSpPr>
        <p:spPr bwMode="auto">
          <a:xfrm>
            <a:off x="473943" y="392534"/>
            <a:ext cx="8196114" cy="431453"/>
          </a:xfrm>
          <a:prstGeom prst="rect">
            <a:avLst/>
          </a:prstGeom>
          <a:noFill/>
          <a:ln/>
        </p:spPr>
        <p:txBody>
          <a:bodyPr wrap="none" lIns="0" tIns="0" rIns="0" bIns="0" rtlCol="0" anchor="t"/>
          <a:lstStyle/>
          <a:p>
            <a:pPr marL="0" indent="0" algn="l">
              <a:lnSpc>
                <a:spcPct val="104000"/>
              </a:lnSpc>
              <a:buNone/>
              <a:defRPr/>
            </a:pPr>
            <a:r>
              <a:rPr lang="en-US" sz="2700">
                <a:solidFill>
                  <a:srgbClr val="FAEBEB"/>
                </a:solidFill>
                <a:latin typeface="Dela Gothic One"/>
                <a:ea typeface="Dela Gothic One"/>
                <a:cs typeface="Dela Gothic One"/>
              </a:rPr>
              <a:t>4. Phase 4.0 — Modeling &amp; Viz</a:t>
            </a:r>
            <a:endParaRPr lang="en-US" sz="2700"/>
          </a:p>
        </p:txBody>
      </p:sp>
      <p:sp>
        <p:nvSpPr>
          <p:cNvPr id="1000921919" name="Text 1"/>
          <p:cNvSpPr/>
          <p:nvPr/>
        </p:nvSpPr>
        <p:spPr bwMode="auto">
          <a:xfrm>
            <a:off x="473943" y="874812"/>
            <a:ext cx="8196114" cy="345132"/>
          </a:xfrm>
          <a:prstGeom prst="rect">
            <a:avLst/>
          </a:prstGeom>
          <a:noFill/>
          <a:ln/>
        </p:spPr>
        <p:txBody>
          <a:bodyPr wrap="none" lIns="0" tIns="0" rIns="0" bIns="0" rtlCol="0" anchor="t"/>
          <a:lstStyle/>
          <a:p>
            <a:pPr marL="0" indent="0" algn="l">
              <a:lnSpc>
                <a:spcPct val="104000"/>
              </a:lnSpc>
              <a:buNone/>
              <a:defRPr/>
            </a:pPr>
            <a:r>
              <a:rPr lang="en-US" sz="2150">
                <a:solidFill>
                  <a:srgbClr val="FAEBEB"/>
                </a:solidFill>
                <a:latin typeface="Dela Gothic One"/>
                <a:ea typeface="Dela Gothic One"/>
                <a:cs typeface="Dela Gothic One"/>
              </a:rPr>
              <a:t>Feature Importance Rankings</a:t>
            </a:r>
            <a:endParaRPr lang="en-US" sz="2150"/>
          </a:p>
        </p:txBody>
      </p:sp>
      <p:sp>
        <p:nvSpPr>
          <p:cNvPr id="1173124045" name="Shape 2"/>
          <p:cNvSpPr/>
          <p:nvPr/>
        </p:nvSpPr>
        <p:spPr bwMode="auto">
          <a:xfrm>
            <a:off x="473943" y="1410519"/>
            <a:ext cx="8196114" cy="2990850"/>
          </a:xfrm>
          <a:prstGeom prst="roundRect">
            <a:avLst>
              <a:gd name="adj" fmla="val 1842"/>
            </a:avLst>
          </a:prstGeom>
          <a:noFill/>
          <a:ln w="4763">
            <a:solidFill>
              <a:srgbClr val="FFFFFF">
                <a:alpha val="24000"/>
              </a:srgbClr>
            </a:solidFill>
            <a:prstDash val="solid"/>
          </a:ln>
        </p:spPr>
      </p:sp>
      <p:sp>
        <p:nvSpPr>
          <p:cNvPr id="1534797514" name="Shape 3"/>
          <p:cNvSpPr/>
          <p:nvPr/>
        </p:nvSpPr>
        <p:spPr bwMode="auto">
          <a:xfrm>
            <a:off x="473943" y="1786161"/>
            <a:ext cx="8196114" cy="8199"/>
          </a:xfrm>
          <a:prstGeom prst="rect">
            <a:avLst/>
          </a:prstGeom>
          <a:solidFill>
            <a:srgbClr val="FFFFFF">
              <a:alpha val="24000"/>
            </a:srgbClr>
          </a:solidFill>
          <a:ln/>
        </p:spPr>
      </p:sp>
      <p:sp>
        <p:nvSpPr>
          <p:cNvPr id="1259390111" name="Shape 4"/>
          <p:cNvSpPr/>
          <p:nvPr/>
        </p:nvSpPr>
        <p:spPr bwMode="auto">
          <a:xfrm>
            <a:off x="473943" y="2159422"/>
            <a:ext cx="8196114" cy="8199"/>
          </a:xfrm>
          <a:prstGeom prst="rect">
            <a:avLst/>
          </a:prstGeom>
          <a:solidFill>
            <a:srgbClr val="FFFFFF">
              <a:alpha val="24000"/>
            </a:srgbClr>
          </a:solidFill>
          <a:ln/>
        </p:spPr>
      </p:sp>
      <p:sp>
        <p:nvSpPr>
          <p:cNvPr id="293298833" name="Shape 5"/>
          <p:cNvSpPr/>
          <p:nvPr/>
        </p:nvSpPr>
        <p:spPr bwMode="auto">
          <a:xfrm>
            <a:off x="473943" y="2532683"/>
            <a:ext cx="8196114" cy="8199"/>
          </a:xfrm>
          <a:prstGeom prst="rect">
            <a:avLst/>
          </a:prstGeom>
          <a:solidFill>
            <a:srgbClr val="FFFFFF">
              <a:alpha val="24000"/>
            </a:srgbClr>
          </a:solidFill>
          <a:ln/>
        </p:spPr>
      </p:sp>
      <p:sp>
        <p:nvSpPr>
          <p:cNvPr id="82150257" name="Shape 6"/>
          <p:cNvSpPr/>
          <p:nvPr/>
        </p:nvSpPr>
        <p:spPr bwMode="auto">
          <a:xfrm>
            <a:off x="473943" y="2905944"/>
            <a:ext cx="8196114" cy="8199"/>
          </a:xfrm>
          <a:prstGeom prst="rect">
            <a:avLst/>
          </a:prstGeom>
          <a:solidFill>
            <a:srgbClr val="FFFFFF">
              <a:alpha val="24000"/>
            </a:srgbClr>
          </a:solidFill>
          <a:ln/>
        </p:spPr>
      </p:sp>
      <p:sp>
        <p:nvSpPr>
          <p:cNvPr id="1157006467" name="Shape 7"/>
          <p:cNvSpPr/>
          <p:nvPr/>
        </p:nvSpPr>
        <p:spPr bwMode="auto">
          <a:xfrm>
            <a:off x="473943" y="3279204"/>
            <a:ext cx="8196114" cy="8199"/>
          </a:xfrm>
          <a:prstGeom prst="rect">
            <a:avLst/>
          </a:prstGeom>
          <a:solidFill>
            <a:srgbClr val="FFFFFF">
              <a:alpha val="24000"/>
            </a:srgbClr>
          </a:solidFill>
          <a:ln/>
        </p:spPr>
      </p:sp>
      <p:sp>
        <p:nvSpPr>
          <p:cNvPr id="218584227" name="Shape 8"/>
          <p:cNvSpPr/>
          <p:nvPr/>
        </p:nvSpPr>
        <p:spPr bwMode="auto">
          <a:xfrm>
            <a:off x="473943" y="3652465"/>
            <a:ext cx="8196114" cy="8199"/>
          </a:xfrm>
          <a:prstGeom prst="rect">
            <a:avLst/>
          </a:prstGeom>
          <a:solidFill>
            <a:srgbClr val="FFFFFF">
              <a:alpha val="24000"/>
            </a:srgbClr>
          </a:solidFill>
          <a:ln/>
        </p:spPr>
      </p:sp>
      <p:sp>
        <p:nvSpPr>
          <p:cNvPr id="1579560785" name="Shape 9"/>
          <p:cNvSpPr/>
          <p:nvPr/>
        </p:nvSpPr>
        <p:spPr bwMode="auto">
          <a:xfrm>
            <a:off x="473943" y="4025726"/>
            <a:ext cx="8196114" cy="8199"/>
          </a:xfrm>
          <a:prstGeom prst="rect">
            <a:avLst/>
          </a:prstGeom>
          <a:solidFill>
            <a:srgbClr val="FFFFFF">
              <a:alpha val="24000"/>
            </a:srgbClr>
          </a:solidFill>
          <a:ln/>
        </p:spPr>
      </p:sp>
      <p:sp>
        <p:nvSpPr>
          <p:cNvPr id="1609528298" name="Text 10"/>
          <p:cNvSpPr/>
          <p:nvPr/>
        </p:nvSpPr>
        <p:spPr bwMode="auto">
          <a:xfrm>
            <a:off x="609972" y="1496244"/>
            <a:ext cx="2241575" cy="206573"/>
          </a:xfrm>
          <a:prstGeom prst="rect">
            <a:avLst/>
          </a:prstGeom>
          <a:noFill/>
          <a:ln/>
        </p:spPr>
        <p:txBody>
          <a:bodyPr wrap="none" lIns="0" tIns="0" rIns="0" bIns="0" rtlCol="0" anchor="t"/>
          <a:lstStyle/>
          <a:p>
            <a:pPr marL="0" indent="0" algn="l">
              <a:lnSpc>
                <a:spcPct val="131000"/>
              </a:lnSpc>
              <a:buNone/>
              <a:defRPr/>
            </a:pPr>
            <a:r>
              <a:rPr lang="en-US" sz="1000" b="1">
                <a:solidFill>
                  <a:srgbClr val="FFE5E5"/>
                </a:solidFill>
                <a:latin typeface="DM Sans Bold"/>
                <a:ea typeface="DM Sans Bold"/>
                <a:cs typeface="DM Sans Bold"/>
              </a:rPr>
              <a:t>Feature</a:t>
            </a:r>
            <a:endParaRPr lang="en-US" sz="1000"/>
          </a:p>
        </p:txBody>
      </p:sp>
      <p:sp>
        <p:nvSpPr>
          <p:cNvPr id="1192551897" name="Text 11"/>
          <p:cNvSpPr/>
          <p:nvPr/>
        </p:nvSpPr>
        <p:spPr bwMode="auto">
          <a:xfrm>
            <a:off x="2656582" y="1496244"/>
            <a:ext cx="2241575" cy="206573"/>
          </a:xfrm>
          <a:prstGeom prst="rect">
            <a:avLst/>
          </a:prstGeom>
          <a:noFill/>
          <a:ln/>
        </p:spPr>
        <p:txBody>
          <a:bodyPr wrap="none" lIns="0" tIns="0" rIns="0" bIns="0" rtlCol="0" anchor="t"/>
          <a:lstStyle/>
          <a:p>
            <a:pPr marL="0" indent="0" algn="l">
              <a:lnSpc>
                <a:spcPct val="131000"/>
              </a:lnSpc>
              <a:buNone/>
              <a:defRPr/>
            </a:pPr>
            <a:r>
              <a:rPr lang="en-US" sz="1000" b="1">
                <a:solidFill>
                  <a:srgbClr val="FFE5E5"/>
                </a:solidFill>
                <a:latin typeface="DM Sans Bold"/>
                <a:ea typeface="DM Sans Bold"/>
                <a:cs typeface="DM Sans Bold"/>
              </a:rPr>
              <a:t>RF</a:t>
            </a:r>
            <a:endParaRPr lang="en-US" sz="1000"/>
          </a:p>
        </p:txBody>
      </p:sp>
      <p:sp>
        <p:nvSpPr>
          <p:cNvPr id="577428436" name="Text 12"/>
          <p:cNvSpPr/>
          <p:nvPr/>
        </p:nvSpPr>
        <p:spPr bwMode="auto">
          <a:xfrm>
            <a:off x="4703192" y="1496244"/>
            <a:ext cx="2241575" cy="206573"/>
          </a:xfrm>
          <a:prstGeom prst="rect">
            <a:avLst/>
          </a:prstGeom>
          <a:noFill/>
          <a:ln/>
        </p:spPr>
        <p:txBody>
          <a:bodyPr wrap="none" lIns="0" tIns="0" rIns="0" bIns="0" rtlCol="0" anchor="t"/>
          <a:lstStyle/>
          <a:p>
            <a:pPr marL="0" indent="0" algn="l">
              <a:lnSpc>
                <a:spcPct val="131000"/>
              </a:lnSpc>
              <a:buNone/>
              <a:defRPr/>
            </a:pPr>
            <a:r>
              <a:rPr lang="en-US" sz="1000" b="1">
                <a:solidFill>
                  <a:srgbClr val="FFE5E5"/>
                </a:solidFill>
                <a:latin typeface="DM Sans Bold"/>
                <a:ea typeface="DM Sans Bold"/>
                <a:cs typeface="DM Sans Bold"/>
              </a:rPr>
              <a:t>HistGB</a:t>
            </a:r>
            <a:endParaRPr lang="en-US" sz="1000"/>
          </a:p>
        </p:txBody>
      </p:sp>
      <p:sp>
        <p:nvSpPr>
          <p:cNvPr id="1967130122" name="Text 13"/>
          <p:cNvSpPr/>
          <p:nvPr/>
        </p:nvSpPr>
        <p:spPr bwMode="auto">
          <a:xfrm>
            <a:off x="6749802" y="1496244"/>
            <a:ext cx="2241575" cy="206573"/>
          </a:xfrm>
          <a:prstGeom prst="rect">
            <a:avLst/>
          </a:prstGeom>
          <a:noFill/>
          <a:ln/>
        </p:spPr>
        <p:txBody>
          <a:bodyPr wrap="none" lIns="0" tIns="0" rIns="0" bIns="0" rtlCol="0" anchor="t"/>
          <a:lstStyle/>
          <a:p>
            <a:pPr marL="0" indent="0" algn="l">
              <a:lnSpc>
                <a:spcPct val="131000"/>
              </a:lnSpc>
              <a:buNone/>
              <a:defRPr/>
            </a:pPr>
            <a:r>
              <a:rPr lang="en-US" sz="1000" b="1">
                <a:solidFill>
                  <a:srgbClr val="FFE5E5"/>
                </a:solidFill>
                <a:latin typeface="DM Sans Bold"/>
                <a:ea typeface="DM Sans Bold"/>
                <a:cs typeface="DM Sans Bold"/>
              </a:rPr>
              <a:t>XGB</a:t>
            </a:r>
            <a:endParaRPr lang="en-US" sz="1000"/>
          </a:p>
        </p:txBody>
      </p:sp>
      <p:sp>
        <p:nvSpPr>
          <p:cNvPr id="1456663459" name="Text 14"/>
          <p:cNvSpPr/>
          <p:nvPr/>
        </p:nvSpPr>
        <p:spPr bwMode="auto">
          <a:xfrm>
            <a:off x="609972" y="1869504"/>
            <a:ext cx="2241575" cy="206573"/>
          </a:xfrm>
          <a:prstGeom prst="rect">
            <a:avLst/>
          </a:prstGeom>
          <a:noFill/>
          <a:ln/>
        </p:spPr>
        <p:txBody>
          <a:bodyPr wrap="none" lIns="0" tIns="0" rIns="0" bIns="0" rtlCol="0" anchor="t"/>
          <a:lstStyle/>
          <a:p>
            <a:pPr marL="0" indent="0" algn="l">
              <a:lnSpc>
                <a:spcPct val="131000"/>
              </a:lnSpc>
              <a:buNone/>
              <a:defRPr/>
            </a:pPr>
            <a:r>
              <a:rPr lang="en-US" sz="1000">
                <a:solidFill>
                  <a:srgbClr val="FFE5E5"/>
                </a:solidFill>
                <a:latin typeface="DM Sans"/>
                <a:ea typeface="DM Sans"/>
                <a:cs typeface="DM Sans"/>
              </a:rPr>
              <a:t>location_cluster</a:t>
            </a:r>
            <a:endParaRPr lang="en-US" sz="1000"/>
          </a:p>
        </p:txBody>
      </p:sp>
      <p:sp>
        <p:nvSpPr>
          <p:cNvPr id="1738066844" name="Text 15"/>
          <p:cNvSpPr/>
          <p:nvPr/>
        </p:nvSpPr>
        <p:spPr bwMode="auto">
          <a:xfrm>
            <a:off x="2656582" y="1869504"/>
            <a:ext cx="2241575" cy="206573"/>
          </a:xfrm>
          <a:prstGeom prst="rect">
            <a:avLst/>
          </a:prstGeom>
          <a:noFill/>
          <a:ln/>
        </p:spPr>
        <p:txBody>
          <a:bodyPr wrap="none" lIns="0" tIns="0" rIns="0" bIns="0" rtlCol="0" anchor="t"/>
          <a:lstStyle/>
          <a:p>
            <a:pPr marL="0" indent="0" algn="l">
              <a:lnSpc>
                <a:spcPct val="131000"/>
              </a:lnSpc>
              <a:buNone/>
              <a:defRPr/>
            </a:pPr>
            <a:r>
              <a:rPr lang="en-US" sz="1000">
                <a:solidFill>
                  <a:srgbClr val="FFE5E5"/>
                </a:solidFill>
                <a:latin typeface="DM Sans"/>
                <a:ea typeface="DM Sans"/>
                <a:cs typeface="DM Sans"/>
              </a:rPr>
              <a:t>1</a:t>
            </a:r>
            <a:endParaRPr lang="en-US" sz="1000"/>
          </a:p>
        </p:txBody>
      </p:sp>
      <p:sp>
        <p:nvSpPr>
          <p:cNvPr id="303695156" name="Text 16"/>
          <p:cNvSpPr/>
          <p:nvPr/>
        </p:nvSpPr>
        <p:spPr bwMode="auto">
          <a:xfrm>
            <a:off x="4703192" y="1869504"/>
            <a:ext cx="2241575" cy="206573"/>
          </a:xfrm>
          <a:prstGeom prst="rect">
            <a:avLst/>
          </a:prstGeom>
          <a:noFill/>
          <a:ln/>
        </p:spPr>
        <p:txBody>
          <a:bodyPr wrap="none" lIns="0" tIns="0" rIns="0" bIns="0" rtlCol="0" anchor="t"/>
          <a:lstStyle/>
          <a:p>
            <a:pPr marL="0" indent="0" algn="l">
              <a:lnSpc>
                <a:spcPct val="131000"/>
              </a:lnSpc>
              <a:buNone/>
              <a:defRPr/>
            </a:pPr>
            <a:r>
              <a:rPr lang="en-US" sz="1000">
                <a:solidFill>
                  <a:srgbClr val="FFE5E5"/>
                </a:solidFill>
                <a:latin typeface="DM Sans"/>
                <a:ea typeface="DM Sans"/>
                <a:cs typeface="DM Sans"/>
              </a:rPr>
              <a:t>1</a:t>
            </a:r>
            <a:endParaRPr lang="en-US" sz="1000"/>
          </a:p>
        </p:txBody>
      </p:sp>
      <p:sp>
        <p:nvSpPr>
          <p:cNvPr id="658287045" name="Text 17"/>
          <p:cNvSpPr/>
          <p:nvPr/>
        </p:nvSpPr>
        <p:spPr bwMode="auto">
          <a:xfrm>
            <a:off x="6749802" y="1869504"/>
            <a:ext cx="2241575" cy="206573"/>
          </a:xfrm>
          <a:prstGeom prst="rect">
            <a:avLst/>
          </a:prstGeom>
          <a:noFill/>
          <a:ln/>
        </p:spPr>
        <p:txBody>
          <a:bodyPr wrap="none" lIns="0" tIns="0" rIns="0" bIns="0" rtlCol="0" anchor="t"/>
          <a:lstStyle/>
          <a:p>
            <a:pPr marL="0" indent="0" algn="l">
              <a:lnSpc>
                <a:spcPct val="131000"/>
              </a:lnSpc>
              <a:buNone/>
              <a:defRPr/>
            </a:pPr>
            <a:r>
              <a:rPr lang="en-US" sz="1000">
                <a:solidFill>
                  <a:srgbClr val="FFE5E5"/>
                </a:solidFill>
                <a:latin typeface="DM Sans"/>
                <a:ea typeface="DM Sans"/>
                <a:cs typeface="DM Sans"/>
              </a:rPr>
              <a:t>1</a:t>
            </a:r>
            <a:endParaRPr lang="en-US" sz="1000"/>
          </a:p>
        </p:txBody>
      </p:sp>
      <p:sp>
        <p:nvSpPr>
          <p:cNvPr id="1442153801" name="Text 18"/>
          <p:cNvSpPr/>
          <p:nvPr/>
        </p:nvSpPr>
        <p:spPr bwMode="auto">
          <a:xfrm>
            <a:off x="609972" y="2242765"/>
            <a:ext cx="2241575" cy="206573"/>
          </a:xfrm>
          <a:prstGeom prst="rect">
            <a:avLst/>
          </a:prstGeom>
          <a:noFill/>
          <a:ln/>
        </p:spPr>
        <p:txBody>
          <a:bodyPr wrap="none" lIns="0" tIns="0" rIns="0" bIns="0" rtlCol="0" anchor="t"/>
          <a:lstStyle/>
          <a:p>
            <a:pPr marL="0" indent="0" algn="l">
              <a:lnSpc>
                <a:spcPct val="131000"/>
              </a:lnSpc>
              <a:buNone/>
              <a:defRPr/>
            </a:pPr>
            <a:r>
              <a:rPr lang="en-US" sz="1000">
                <a:solidFill>
                  <a:srgbClr val="FFE5E5"/>
                </a:solidFill>
                <a:latin typeface="DM Sans"/>
                <a:ea typeface="DM Sans"/>
                <a:cs typeface="DM Sans"/>
              </a:rPr>
              <a:t>region</a:t>
            </a:r>
            <a:endParaRPr lang="en-US" sz="1000"/>
          </a:p>
        </p:txBody>
      </p:sp>
      <p:sp>
        <p:nvSpPr>
          <p:cNvPr id="856881529" name="Text 19"/>
          <p:cNvSpPr/>
          <p:nvPr/>
        </p:nvSpPr>
        <p:spPr bwMode="auto">
          <a:xfrm>
            <a:off x="2656582" y="2242765"/>
            <a:ext cx="2241575" cy="206573"/>
          </a:xfrm>
          <a:prstGeom prst="rect">
            <a:avLst/>
          </a:prstGeom>
          <a:noFill/>
          <a:ln/>
        </p:spPr>
        <p:txBody>
          <a:bodyPr wrap="none" lIns="0" tIns="0" rIns="0" bIns="0" rtlCol="0" anchor="t"/>
          <a:lstStyle/>
          <a:p>
            <a:pPr marL="0" indent="0" algn="l">
              <a:lnSpc>
                <a:spcPct val="131000"/>
              </a:lnSpc>
              <a:buNone/>
              <a:defRPr/>
            </a:pPr>
            <a:r>
              <a:rPr lang="en-US" sz="1000">
                <a:solidFill>
                  <a:srgbClr val="FFE5E5"/>
                </a:solidFill>
                <a:latin typeface="DM Sans"/>
                <a:ea typeface="DM Sans"/>
                <a:cs typeface="DM Sans"/>
              </a:rPr>
              <a:t>2</a:t>
            </a:r>
            <a:endParaRPr lang="en-US" sz="1000"/>
          </a:p>
        </p:txBody>
      </p:sp>
      <p:sp>
        <p:nvSpPr>
          <p:cNvPr id="1331882775" name="Text 20"/>
          <p:cNvSpPr/>
          <p:nvPr/>
        </p:nvSpPr>
        <p:spPr bwMode="auto">
          <a:xfrm>
            <a:off x="4703192" y="2242765"/>
            <a:ext cx="2241575" cy="206573"/>
          </a:xfrm>
          <a:prstGeom prst="rect">
            <a:avLst/>
          </a:prstGeom>
          <a:noFill/>
          <a:ln/>
        </p:spPr>
        <p:txBody>
          <a:bodyPr wrap="none" lIns="0" tIns="0" rIns="0" bIns="0" rtlCol="0" anchor="t"/>
          <a:lstStyle/>
          <a:p>
            <a:pPr marL="0" indent="0" algn="l">
              <a:lnSpc>
                <a:spcPct val="131000"/>
              </a:lnSpc>
              <a:buNone/>
              <a:defRPr/>
            </a:pPr>
            <a:r>
              <a:rPr lang="en-US" sz="1000">
                <a:solidFill>
                  <a:srgbClr val="FFE5E5"/>
                </a:solidFill>
                <a:latin typeface="DM Sans"/>
                <a:ea typeface="DM Sans"/>
                <a:cs typeface="DM Sans"/>
              </a:rPr>
              <a:t>3</a:t>
            </a:r>
            <a:endParaRPr lang="en-US" sz="1000"/>
          </a:p>
        </p:txBody>
      </p:sp>
      <p:sp>
        <p:nvSpPr>
          <p:cNvPr id="974283124" name="Text 21"/>
          <p:cNvSpPr/>
          <p:nvPr/>
        </p:nvSpPr>
        <p:spPr bwMode="auto">
          <a:xfrm>
            <a:off x="6749802" y="2242765"/>
            <a:ext cx="2241575" cy="206573"/>
          </a:xfrm>
          <a:prstGeom prst="rect">
            <a:avLst/>
          </a:prstGeom>
          <a:noFill/>
          <a:ln/>
        </p:spPr>
        <p:txBody>
          <a:bodyPr wrap="none" lIns="0" tIns="0" rIns="0" bIns="0" rtlCol="0" anchor="t"/>
          <a:lstStyle/>
          <a:p>
            <a:pPr marL="0" indent="0" algn="l">
              <a:lnSpc>
                <a:spcPct val="131000"/>
              </a:lnSpc>
              <a:buNone/>
              <a:defRPr/>
            </a:pPr>
            <a:r>
              <a:rPr lang="en-US" sz="1000">
                <a:solidFill>
                  <a:srgbClr val="FFE5E5"/>
                </a:solidFill>
                <a:latin typeface="DM Sans"/>
                <a:ea typeface="DM Sans"/>
                <a:cs typeface="DM Sans"/>
              </a:rPr>
              <a:t>2</a:t>
            </a:r>
            <a:endParaRPr lang="en-US" sz="1000"/>
          </a:p>
        </p:txBody>
      </p:sp>
      <p:sp>
        <p:nvSpPr>
          <p:cNvPr id="192428291" name="Text 22"/>
          <p:cNvSpPr/>
          <p:nvPr/>
        </p:nvSpPr>
        <p:spPr bwMode="auto">
          <a:xfrm>
            <a:off x="609972" y="2616026"/>
            <a:ext cx="2241575" cy="206573"/>
          </a:xfrm>
          <a:prstGeom prst="rect">
            <a:avLst/>
          </a:prstGeom>
          <a:noFill/>
          <a:ln/>
        </p:spPr>
        <p:txBody>
          <a:bodyPr wrap="none" lIns="0" tIns="0" rIns="0" bIns="0" rtlCol="0" anchor="t"/>
          <a:lstStyle/>
          <a:p>
            <a:pPr marL="0" indent="0" algn="l">
              <a:lnSpc>
                <a:spcPct val="131000"/>
              </a:lnSpc>
              <a:buNone/>
              <a:defRPr/>
            </a:pPr>
            <a:r>
              <a:rPr lang="en-US" sz="1000">
                <a:solidFill>
                  <a:srgbClr val="FFE5E5"/>
                </a:solidFill>
                <a:latin typeface="DM Sans"/>
                <a:ea typeface="DM Sans"/>
                <a:cs typeface="DM Sans"/>
              </a:rPr>
              <a:t>sqfeet</a:t>
            </a:r>
            <a:endParaRPr lang="en-US" sz="1000"/>
          </a:p>
        </p:txBody>
      </p:sp>
      <p:sp>
        <p:nvSpPr>
          <p:cNvPr id="1834275394" name="Text 23"/>
          <p:cNvSpPr/>
          <p:nvPr/>
        </p:nvSpPr>
        <p:spPr bwMode="auto">
          <a:xfrm>
            <a:off x="2656582" y="2616026"/>
            <a:ext cx="2241575" cy="206573"/>
          </a:xfrm>
          <a:prstGeom prst="rect">
            <a:avLst/>
          </a:prstGeom>
          <a:noFill/>
          <a:ln/>
        </p:spPr>
        <p:txBody>
          <a:bodyPr wrap="none" lIns="0" tIns="0" rIns="0" bIns="0" rtlCol="0" anchor="t"/>
          <a:lstStyle/>
          <a:p>
            <a:pPr marL="0" indent="0" algn="l">
              <a:lnSpc>
                <a:spcPct val="131000"/>
              </a:lnSpc>
              <a:buNone/>
              <a:defRPr/>
            </a:pPr>
            <a:r>
              <a:rPr lang="en-US" sz="1000">
                <a:solidFill>
                  <a:srgbClr val="FFE5E5"/>
                </a:solidFill>
                <a:latin typeface="DM Sans"/>
                <a:ea typeface="DM Sans"/>
                <a:cs typeface="DM Sans"/>
              </a:rPr>
              <a:t>3</a:t>
            </a:r>
            <a:endParaRPr lang="en-US" sz="1000"/>
          </a:p>
        </p:txBody>
      </p:sp>
      <p:sp>
        <p:nvSpPr>
          <p:cNvPr id="1557403267" name="Text 24"/>
          <p:cNvSpPr/>
          <p:nvPr/>
        </p:nvSpPr>
        <p:spPr bwMode="auto">
          <a:xfrm>
            <a:off x="4703192" y="2616026"/>
            <a:ext cx="2241575" cy="206573"/>
          </a:xfrm>
          <a:prstGeom prst="rect">
            <a:avLst/>
          </a:prstGeom>
          <a:noFill/>
          <a:ln/>
        </p:spPr>
        <p:txBody>
          <a:bodyPr wrap="none" lIns="0" tIns="0" rIns="0" bIns="0" rtlCol="0" anchor="t"/>
          <a:lstStyle/>
          <a:p>
            <a:pPr marL="0" indent="0" algn="l">
              <a:lnSpc>
                <a:spcPct val="131000"/>
              </a:lnSpc>
              <a:buNone/>
              <a:defRPr/>
            </a:pPr>
            <a:r>
              <a:rPr lang="en-US" sz="1000">
                <a:solidFill>
                  <a:srgbClr val="FFE5E5"/>
                </a:solidFill>
                <a:latin typeface="DM Sans"/>
                <a:ea typeface="DM Sans"/>
                <a:cs typeface="DM Sans"/>
              </a:rPr>
              <a:t>2</a:t>
            </a:r>
            <a:endParaRPr lang="en-US" sz="1000"/>
          </a:p>
        </p:txBody>
      </p:sp>
      <p:sp>
        <p:nvSpPr>
          <p:cNvPr id="1603705537" name="Text 25"/>
          <p:cNvSpPr/>
          <p:nvPr/>
        </p:nvSpPr>
        <p:spPr bwMode="auto">
          <a:xfrm>
            <a:off x="6749802" y="2616026"/>
            <a:ext cx="2241575" cy="206573"/>
          </a:xfrm>
          <a:prstGeom prst="rect">
            <a:avLst/>
          </a:prstGeom>
          <a:noFill/>
          <a:ln/>
        </p:spPr>
        <p:txBody>
          <a:bodyPr wrap="none" lIns="0" tIns="0" rIns="0" bIns="0" rtlCol="0" anchor="t"/>
          <a:lstStyle/>
          <a:p>
            <a:pPr marL="0" indent="0" algn="l">
              <a:lnSpc>
                <a:spcPct val="131000"/>
              </a:lnSpc>
              <a:buNone/>
              <a:defRPr/>
            </a:pPr>
            <a:r>
              <a:rPr lang="en-US" sz="1000">
                <a:solidFill>
                  <a:srgbClr val="FFE5E5"/>
                </a:solidFill>
                <a:latin typeface="DM Sans"/>
                <a:ea typeface="DM Sans"/>
                <a:cs typeface="DM Sans"/>
              </a:rPr>
              <a:t>—</a:t>
            </a:r>
            <a:endParaRPr lang="en-US" sz="1000"/>
          </a:p>
        </p:txBody>
      </p:sp>
      <p:sp>
        <p:nvSpPr>
          <p:cNvPr id="85439729" name="Text 26"/>
          <p:cNvSpPr/>
          <p:nvPr/>
        </p:nvSpPr>
        <p:spPr bwMode="auto">
          <a:xfrm>
            <a:off x="609972" y="2989286"/>
            <a:ext cx="2241575" cy="206573"/>
          </a:xfrm>
          <a:prstGeom prst="rect">
            <a:avLst/>
          </a:prstGeom>
          <a:noFill/>
          <a:ln/>
        </p:spPr>
        <p:txBody>
          <a:bodyPr wrap="none" lIns="0" tIns="0" rIns="0" bIns="0" rtlCol="0" anchor="t"/>
          <a:lstStyle/>
          <a:p>
            <a:pPr marL="0" indent="0" algn="l">
              <a:lnSpc>
                <a:spcPct val="131000"/>
              </a:lnSpc>
              <a:buNone/>
              <a:defRPr/>
            </a:pPr>
            <a:r>
              <a:rPr lang="en-US" sz="1000">
                <a:solidFill>
                  <a:srgbClr val="FFE5E5"/>
                </a:solidFill>
                <a:latin typeface="DM Sans"/>
                <a:ea typeface="DM Sans"/>
                <a:cs typeface="DM Sans"/>
              </a:rPr>
              <a:t>lat</a:t>
            </a:r>
            <a:endParaRPr lang="en-US" sz="1000"/>
          </a:p>
        </p:txBody>
      </p:sp>
      <p:sp>
        <p:nvSpPr>
          <p:cNvPr id="160379218" name="Text 27"/>
          <p:cNvSpPr/>
          <p:nvPr/>
        </p:nvSpPr>
        <p:spPr bwMode="auto">
          <a:xfrm>
            <a:off x="2656582" y="2989286"/>
            <a:ext cx="2241575" cy="206573"/>
          </a:xfrm>
          <a:prstGeom prst="rect">
            <a:avLst/>
          </a:prstGeom>
          <a:noFill/>
          <a:ln/>
        </p:spPr>
        <p:txBody>
          <a:bodyPr wrap="none" lIns="0" tIns="0" rIns="0" bIns="0" rtlCol="0" anchor="t"/>
          <a:lstStyle/>
          <a:p>
            <a:pPr marL="0" indent="0" algn="l">
              <a:lnSpc>
                <a:spcPct val="131000"/>
              </a:lnSpc>
              <a:buNone/>
              <a:defRPr/>
            </a:pPr>
            <a:r>
              <a:rPr lang="en-US" sz="1000">
                <a:solidFill>
                  <a:srgbClr val="FFE5E5"/>
                </a:solidFill>
                <a:latin typeface="DM Sans"/>
                <a:ea typeface="DM Sans"/>
                <a:cs typeface="DM Sans"/>
              </a:rPr>
              <a:t>4</a:t>
            </a:r>
            <a:endParaRPr lang="en-US" sz="1000"/>
          </a:p>
        </p:txBody>
      </p:sp>
      <p:sp>
        <p:nvSpPr>
          <p:cNvPr id="1190221445" name="Text 28"/>
          <p:cNvSpPr/>
          <p:nvPr/>
        </p:nvSpPr>
        <p:spPr bwMode="auto">
          <a:xfrm>
            <a:off x="4703192" y="2989286"/>
            <a:ext cx="2241575" cy="206573"/>
          </a:xfrm>
          <a:prstGeom prst="rect">
            <a:avLst/>
          </a:prstGeom>
          <a:noFill/>
          <a:ln/>
        </p:spPr>
        <p:txBody>
          <a:bodyPr wrap="none" lIns="0" tIns="0" rIns="0" bIns="0" rtlCol="0" anchor="t"/>
          <a:lstStyle/>
          <a:p>
            <a:pPr marL="0" indent="0" algn="l">
              <a:lnSpc>
                <a:spcPct val="131000"/>
              </a:lnSpc>
              <a:buNone/>
              <a:defRPr/>
            </a:pPr>
            <a:r>
              <a:rPr lang="en-US" sz="1000">
                <a:solidFill>
                  <a:srgbClr val="FFE5E5"/>
                </a:solidFill>
                <a:latin typeface="DM Sans"/>
                <a:ea typeface="DM Sans"/>
                <a:cs typeface="DM Sans"/>
              </a:rPr>
              <a:t>—</a:t>
            </a:r>
            <a:endParaRPr lang="en-US" sz="1000"/>
          </a:p>
        </p:txBody>
      </p:sp>
      <p:sp>
        <p:nvSpPr>
          <p:cNvPr id="1481930173" name="Text 29"/>
          <p:cNvSpPr/>
          <p:nvPr/>
        </p:nvSpPr>
        <p:spPr bwMode="auto">
          <a:xfrm>
            <a:off x="6749802" y="2989286"/>
            <a:ext cx="2241575" cy="206573"/>
          </a:xfrm>
          <a:prstGeom prst="rect">
            <a:avLst/>
          </a:prstGeom>
          <a:noFill/>
          <a:ln/>
        </p:spPr>
        <p:txBody>
          <a:bodyPr wrap="none" lIns="0" tIns="0" rIns="0" bIns="0" rtlCol="0" anchor="t"/>
          <a:lstStyle/>
          <a:p>
            <a:pPr marL="0" indent="0" algn="l">
              <a:lnSpc>
                <a:spcPct val="131000"/>
              </a:lnSpc>
              <a:buNone/>
              <a:defRPr/>
            </a:pPr>
            <a:r>
              <a:rPr lang="en-US" sz="1000">
                <a:solidFill>
                  <a:srgbClr val="FFE5E5"/>
                </a:solidFill>
                <a:latin typeface="DM Sans"/>
                <a:ea typeface="DM Sans"/>
                <a:cs typeface="DM Sans"/>
              </a:rPr>
              <a:t>—</a:t>
            </a:r>
            <a:endParaRPr lang="en-US" sz="1000"/>
          </a:p>
        </p:txBody>
      </p:sp>
      <p:sp>
        <p:nvSpPr>
          <p:cNvPr id="1957916601" name="Text 30"/>
          <p:cNvSpPr/>
          <p:nvPr/>
        </p:nvSpPr>
        <p:spPr bwMode="auto">
          <a:xfrm>
            <a:off x="609972" y="3362548"/>
            <a:ext cx="2241575" cy="206573"/>
          </a:xfrm>
          <a:prstGeom prst="rect">
            <a:avLst/>
          </a:prstGeom>
          <a:noFill/>
          <a:ln/>
        </p:spPr>
        <p:txBody>
          <a:bodyPr wrap="none" lIns="0" tIns="0" rIns="0" bIns="0" rtlCol="0" anchor="t"/>
          <a:lstStyle/>
          <a:p>
            <a:pPr marL="0" indent="0" algn="l">
              <a:lnSpc>
                <a:spcPct val="131000"/>
              </a:lnSpc>
              <a:buNone/>
              <a:defRPr/>
            </a:pPr>
            <a:r>
              <a:rPr lang="en-US" sz="1000">
                <a:solidFill>
                  <a:srgbClr val="FFE5E5"/>
                </a:solidFill>
                <a:latin typeface="DM Sans"/>
                <a:ea typeface="DM Sans"/>
                <a:cs typeface="DM Sans"/>
              </a:rPr>
              <a:t>long</a:t>
            </a:r>
            <a:endParaRPr lang="en-US" sz="1000"/>
          </a:p>
        </p:txBody>
      </p:sp>
      <p:sp>
        <p:nvSpPr>
          <p:cNvPr id="1762522964" name="Text 31"/>
          <p:cNvSpPr/>
          <p:nvPr/>
        </p:nvSpPr>
        <p:spPr bwMode="auto">
          <a:xfrm>
            <a:off x="2656582" y="3362548"/>
            <a:ext cx="2241575" cy="206573"/>
          </a:xfrm>
          <a:prstGeom prst="rect">
            <a:avLst/>
          </a:prstGeom>
          <a:noFill/>
          <a:ln/>
        </p:spPr>
        <p:txBody>
          <a:bodyPr wrap="none" lIns="0" tIns="0" rIns="0" bIns="0" rtlCol="0" anchor="t"/>
          <a:lstStyle/>
          <a:p>
            <a:pPr marL="0" indent="0" algn="l">
              <a:lnSpc>
                <a:spcPct val="131000"/>
              </a:lnSpc>
              <a:buNone/>
              <a:defRPr/>
            </a:pPr>
            <a:r>
              <a:rPr lang="en-US" sz="1000">
                <a:solidFill>
                  <a:srgbClr val="FFE5E5"/>
                </a:solidFill>
                <a:latin typeface="DM Sans"/>
                <a:ea typeface="DM Sans"/>
                <a:cs typeface="DM Sans"/>
              </a:rPr>
              <a:t>—</a:t>
            </a:r>
            <a:endParaRPr lang="en-US" sz="1000"/>
          </a:p>
        </p:txBody>
      </p:sp>
      <p:sp>
        <p:nvSpPr>
          <p:cNvPr id="2005035227" name="Text 32"/>
          <p:cNvSpPr/>
          <p:nvPr/>
        </p:nvSpPr>
        <p:spPr bwMode="auto">
          <a:xfrm>
            <a:off x="4703192" y="3362548"/>
            <a:ext cx="2241575" cy="206573"/>
          </a:xfrm>
          <a:prstGeom prst="rect">
            <a:avLst/>
          </a:prstGeom>
          <a:noFill/>
          <a:ln/>
        </p:spPr>
        <p:txBody>
          <a:bodyPr wrap="none" lIns="0" tIns="0" rIns="0" bIns="0" rtlCol="0" anchor="t"/>
          <a:lstStyle/>
          <a:p>
            <a:pPr marL="0" indent="0" algn="l">
              <a:lnSpc>
                <a:spcPct val="131000"/>
              </a:lnSpc>
              <a:buNone/>
              <a:defRPr/>
            </a:pPr>
            <a:r>
              <a:rPr lang="en-US" sz="1000">
                <a:solidFill>
                  <a:srgbClr val="FFE5E5"/>
                </a:solidFill>
                <a:latin typeface="DM Sans"/>
                <a:ea typeface="DM Sans"/>
                <a:cs typeface="DM Sans"/>
              </a:rPr>
              <a:t>4</a:t>
            </a:r>
            <a:endParaRPr lang="en-US" sz="1000"/>
          </a:p>
        </p:txBody>
      </p:sp>
      <p:sp>
        <p:nvSpPr>
          <p:cNvPr id="1006892522" name="Text 33"/>
          <p:cNvSpPr/>
          <p:nvPr/>
        </p:nvSpPr>
        <p:spPr bwMode="auto">
          <a:xfrm>
            <a:off x="6749802" y="3362548"/>
            <a:ext cx="2241575" cy="206573"/>
          </a:xfrm>
          <a:prstGeom prst="rect">
            <a:avLst/>
          </a:prstGeom>
          <a:noFill/>
          <a:ln/>
        </p:spPr>
        <p:txBody>
          <a:bodyPr wrap="none" lIns="0" tIns="0" rIns="0" bIns="0" rtlCol="0" anchor="t"/>
          <a:lstStyle/>
          <a:p>
            <a:pPr marL="0" indent="0" algn="l">
              <a:lnSpc>
                <a:spcPct val="131000"/>
              </a:lnSpc>
              <a:buNone/>
              <a:defRPr/>
            </a:pPr>
            <a:r>
              <a:rPr lang="en-US" sz="1000">
                <a:solidFill>
                  <a:srgbClr val="FFE5E5"/>
                </a:solidFill>
                <a:latin typeface="DM Sans"/>
                <a:ea typeface="DM Sans"/>
                <a:cs typeface="DM Sans"/>
              </a:rPr>
              <a:t>—</a:t>
            </a:r>
            <a:endParaRPr lang="en-US" sz="1000"/>
          </a:p>
        </p:txBody>
      </p:sp>
      <p:sp>
        <p:nvSpPr>
          <p:cNvPr id="1244955056" name="Text 34"/>
          <p:cNvSpPr/>
          <p:nvPr/>
        </p:nvSpPr>
        <p:spPr bwMode="auto">
          <a:xfrm>
            <a:off x="609972" y="3735809"/>
            <a:ext cx="2241575" cy="206573"/>
          </a:xfrm>
          <a:prstGeom prst="rect">
            <a:avLst/>
          </a:prstGeom>
          <a:noFill/>
          <a:ln/>
        </p:spPr>
        <p:txBody>
          <a:bodyPr wrap="none" lIns="0" tIns="0" rIns="0" bIns="0" rtlCol="0" anchor="t"/>
          <a:lstStyle/>
          <a:p>
            <a:pPr marL="0" indent="0" algn="l">
              <a:lnSpc>
                <a:spcPct val="131000"/>
              </a:lnSpc>
              <a:buNone/>
              <a:defRPr/>
            </a:pPr>
            <a:r>
              <a:rPr lang="en-US" sz="1000">
                <a:solidFill>
                  <a:srgbClr val="FFE5E5"/>
                </a:solidFill>
                <a:latin typeface="DM Sans"/>
                <a:ea typeface="DM Sans"/>
                <a:cs typeface="DM Sans"/>
              </a:rPr>
              <a:t>baths</a:t>
            </a:r>
            <a:endParaRPr lang="en-US" sz="1000"/>
          </a:p>
        </p:txBody>
      </p:sp>
      <p:sp>
        <p:nvSpPr>
          <p:cNvPr id="1954584700" name="Text 35"/>
          <p:cNvSpPr/>
          <p:nvPr/>
        </p:nvSpPr>
        <p:spPr bwMode="auto">
          <a:xfrm>
            <a:off x="2656582" y="3735809"/>
            <a:ext cx="2241575" cy="206573"/>
          </a:xfrm>
          <a:prstGeom prst="rect">
            <a:avLst/>
          </a:prstGeom>
          <a:noFill/>
          <a:ln/>
        </p:spPr>
        <p:txBody>
          <a:bodyPr wrap="none" lIns="0" tIns="0" rIns="0" bIns="0" rtlCol="0" anchor="t"/>
          <a:lstStyle/>
          <a:p>
            <a:pPr marL="0" indent="0" algn="l">
              <a:lnSpc>
                <a:spcPct val="131000"/>
              </a:lnSpc>
              <a:buNone/>
              <a:defRPr/>
            </a:pPr>
            <a:r>
              <a:rPr lang="en-US" sz="1000">
                <a:solidFill>
                  <a:srgbClr val="FFE5E5"/>
                </a:solidFill>
                <a:latin typeface="DM Sans"/>
                <a:ea typeface="DM Sans"/>
                <a:cs typeface="DM Sans"/>
              </a:rPr>
              <a:t>—</a:t>
            </a:r>
            <a:endParaRPr lang="en-US" sz="1000"/>
          </a:p>
        </p:txBody>
      </p:sp>
      <p:sp>
        <p:nvSpPr>
          <p:cNvPr id="1605438728" name="Text 36"/>
          <p:cNvSpPr/>
          <p:nvPr/>
        </p:nvSpPr>
        <p:spPr bwMode="auto">
          <a:xfrm>
            <a:off x="4703192" y="3735809"/>
            <a:ext cx="2241575" cy="206573"/>
          </a:xfrm>
          <a:prstGeom prst="rect">
            <a:avLst/>
          </a:prstGeom>
          <a:noFill/>
          <a:ln/>
        </p:spPr>
        <p:txBody>
          <a:bodyPr wrap="none" lIns="0" tIns="0" rIns="0" bIns="0" rtlCol="0" anchor="t"/>
          <a:lstStyle/>
          <a:p>
            <a:pPr marL="0" indent="0" algn="l">
              <a:lnSpc>
                <a:spcPct val="131000"/>
              </a:lnSpc>
              <a:buNone/>
              <a:defRPr/>
            </a:pPr>
            <a:r>
              <a:rPr lang="en-US" sz="1000">
                <a:solidFill>
                  <a:srgbClr val="FFE5E5"/>
                </a:solidFill>
                <a:latin typeface="DM Sans"/>
                <a:ea typeface="DM Sans"/>
                <a:cs typeface="DM Sans"/>
              </a:rPr>
              <a:t>—</a:t>
            </a:r>
            <a:endParaRPr lang="en-US" sz="1000"/>
          </a:p>
        </p:txBody>
      </p:sp>
      <p:sp>
        <p:nvSpPr>
          <p:cNvPr id="1765937561" name="Text 37"/>
          <p:cNvSpPr/>
          <p:nvPr/>
        </p:nvSpPr>
        <p:spPr bwMode="auto">
          <a:xfrm>
            <a:off x="6749802" y="3735809"/>
            <a:ext cx="2241575" cy="206573"/>
          </a:xfrm>
          <a:prstGeom prst="rect">
            <a:avLst/>
          </a:prstGeom>
          <a:noFill/>
          <a:ln/>
        </p:spPr>
        <p:txBody>
          <a:bodyPr wrap="none" lIns="0" tIns="0" rIns="0" bIns="0" rtlCol="0" anchor="t"/>
          <a:lstStyle/>
          <a:p>
            <a:pPr marL="0" indent="0" algn="l">
              <a:lnSpc>
                <a:spcPct val="131000"/>
              </a:lnSpc>
              <a:buNone/>
              <a:defRPr/>
            </a:pPr>
            <a:r>
              <a:rPr lang="en-US" sz="1000">
                <a:solidFill>
                  <a:srgbClr val="FFE5E5"/>
                </a:solidFill>
                <a:latin typeface="DM Sans"/>
                <a:ea typeface="DM Sans"/>
                <a:cs typeface="DM Sans"/>
              </a:rPr>
              <a:t>3</a:t>
            </a:r>
            <a:endParaRPr lang="en-US" sz="1000"/>
          </a:p>
        </p:txBody>
      </p:sp>
      <p:sp>
        <p:nvSpPr>
          <p:cNvPr id="1872206980" name="Text 38"/>
          <p:cNvSpPr/>
          <p:nvPr/>
        </p:nvSpPr>
        <p:spPr bwMode="auto">
          <a:xfrm>
            <a:off x="609972" y="4109070"/>
            <a:ext cx="2241575" cy="206573"/>
          </a:xfrm>
          <a:prstGeom prst="rect">
            <a:avLst/>
          </a:prstGeom>
          <a:noFill/>
          <a:ln/>
        </p:spPr>
        <p:txBody>
          <a:bodyPr wrap="none" lIns="0" tIns="0" rIns="0" bIns="0" rtlCol="0" anchor="t"/>
          <a:lstStyle/>
          <a:p>
            <a:pPr marL="0" indent="0" algn="l">
              <a:lnSpc>
                <a:spcPct val="131000"/>
              </a:lnSpc>
              <a:buNone/>
              <a:defRPr/>
            </a:pPr>
            <a:r>
              <a:rPr lang="en-US" sz="1000">
                <a:solidFill>
                  <a:srgbClr val="FFE5E5"/>
                </a:solidFill>
                <a:latin typeface="DM Sans"/>
                <a:ea typeface="DM Sans"/>
                <a:cs typeface="DM Sans"/>
              </a:rPr>
              <a:t>laundry_options</a:t>
            </a:r>
            <a:endParaRPr lang="en-US" sz="1000"/>
          </a:p>
        </p:txBody>
      </p:sp>
      <p:sp>
        <p:nvSpPr>
          <p:cNvPr id="1189185777" name="Text 39"/>
          <p:cNvSpPr/>
          <p:nvPr/>
        </p:nvSpPr>
        <p:spPr bwMode="auto">
          <a:xfrm>
            <a:off x="2656582" y="4109070"/>
            <a:ext cx="2241575" cy="206573"/>
          </a:xfrm>
          <a:prstGeom prst="rect">
            <a:avLst/>
          </a:prstGeom>
          <a:noFill/>
          <a:ln/>
        </p:spPr>
        <p:txBody>
          <a:bodyPr wrap="none" lIns="0" tIns="0" rIns="0" bIns="0" rtlCol="0" anchor="t"/>
          <a:lstStyle/>
          <a:p>
            <a:pPr marL="0" indent="0" algn="l">
              <a:lnSpc>
                <a:spcPct val="131000"/>
              </a:lnSpc>
              <a:buNone/>
              <a:defRPr/>
            </a:pPr>
            <a:r>
              <a:rPr lang="en-US" sz="1000">
                <a:solidFill>
                  <a:srgbClr val="FFE5E5"/>
                </a:solidFill>
                <a:latin typeface="DM Sans"/>
                <a:ea typeface="DM Sans"/>
                <a:cs typeface="DM Sans"/>
              </a:rPr>
              <a:t>—</a:t>
            </a:r>
            <a:endParaRPr lang="en-US" sz="1000"/>
          </a:p>
        </p:txBody>
      </p:sp>
      <p:sp>
        <p:nvSpPr>
          <p:cNvPr id="218740727" name="Text 40"/>
          <p:cNvSpPr/>
          <p:nvPr/>
        </p:nvSpPr>
        <p:spPr bwMode="auto">
          <a:xfrm>
            <a:off x="4703192" y="4109070"/>
            <a:ext cx="2241575" cy="206573"/>
          </a:xfrm>
          <a:prstGeom prst="rect">
            <a:avLst/>
          </a:prstGeom>
          <a:noFill/>
          <a:ln/>
        </p:spPr>
        <p:txBody>
          <a:bodyPr wrap="none" lIns="0" tIns="0" rIns="0" bIns="0" rtlCol="0" anchor="t"/>
          <a:lstStyle/>
          <a:p>
            <a:pPr marL="0" indent="0" algn="l">
              <a:lnSpc>
                <a:spcPct val="131000"/>
              </a:lnSpc>
              <a:buNone/>
              <a:defRPr/>
            </a:pPr>
            <a:r>
              <a:rPr lang="en-US" sz="1000">
                <a:solidFill>
                  <a:srgbClr val="FFE5E5"/>
                </a:solidFill>
                <a:latin typeface="DM Sans"/>
                <a:ea typeface="DM Sans"/>
                <a:cs typeface="DM Sans"/>
              </a:rPr>
              <a:t>—</a:t>
            </a:r>
            <a:endParaRPr lang="en-US" sz="1000"/>
          </a:p>
        </p:txBody>
      </p:sp>
      <p:sp>
        <p:nvSpPr>
          <p:cNvPr id="1644833926" name="Text 41"/>
          <p:cNvSpPr/>
          <p:nvPr/>
        </p:nvSpPr>
        <p:spPr bwMode="auto">
          <a:xfrm>
            <a:off x="6749802" y="4109070"/>
            <a:ext cx="2241575" cy="206573"/>
          </a:xfrm>
          <a:prstGeom prst="rect">
            <a:avLst/>
          </a:prstGeom>
          <a:noFill/>
          <a:ln/>
        </p:spPr>
        <p:txBody>
          <a:bodyPr wrap="none" lIns="0" tIns="0" rIns="0" bIns="0" rtlCol="0" anchor="t"/>
          <a:lstStyle/>
          <a:p>
            <a:pPr marL="0" indent="0" algn="l">
              <a:lnSpc>
                <a:spcPct val="131000"/>
              </a:lnSpc>
              <a:buNone/>
              <a:defRPr/>
            </a:pPr>
            <a:r>
              <a:rPr lang="en-US" sz="1000">
                <a:solidFill>
                  <a:srgbClr val="FFE5E5"/>
                </a:solidFill>
                <a:latin typeface="DM Sans"/>
                <a:ea typeface="DM Sans"/>
                <a:cs typeface="DM Sans"/>
              </a:rPr>
              <a:t>4</a:t>
            </a:r>
            <a:endParaRPr lang="en-US" sz="1000"/>
          </a:p>
        </p:txBody>
      </p:sp>
      <p:sp>
        <p:nvSpPr>
          <p:cNvPr id="452094047" name="Text 42"/>
          <p:cNvSpPr/>
          <p:nvPr/>
        </p:nvSpPr>
        <p:spPr bwMode="auto">
          <a:xfrm>
            <a:off x="473943" y="4544318"/>
            <a:ext cx="8653314" cy="206573"/>
          </a:xfrm>
          <a:prstGeom prst="rect">
            <a:avLst/>
          </a:prstGeom>
          <a:noFill/>
          <a:ln/>
        </p:spPr>
        <p:txBody>
          <a:bodyPr wrap="none" lIns="0" tIns="0" rIns="0" bIns="0" rtlCol="0" anchor="t"/>
          <a:lstStyle/>
          <a:p>
            <a:pPr marL="0" indent="0" algn="l">
              <a:lnSpc>
                <a:spcPct val="131000"/>
              </a:lnSpc>
              <a:buNone/>
              <a:defRPr/>
            </a:pPr>
            <a:r>
              <a:rPr lang="en-US" sz="1000" i="1">
                <a:solidFill>
                  <a:srgbClr val="FFE5E5"/>
                </a:solidFill>
                <a:latin typeface="DM Sans"/>
                <a:ea typeface="DM Sans"/>
                <a:cs typeface="DM Sans"/>
              </a:rPr>
              <a:t>(Rankings across all three models. Blank = outside top 4.)</a:t>
            </a:r>
            <a:endParaRPr lang="en-US" sz="1000"/>
          </a:p>
        </p:txBody>
      </p:sp>
      <p:sp>
        <p:nvSpPr>
          <p:cNvPr id="1238038721" name=""/>
          <p:cNvSpPr/>
          <p:nvPr/>
        </p:nvSpPr>
        <p:spPr bwMode="auto">
          <a:xfrm rot="0" flipH="0" flipV="0">
            <a:off x="7950421" y="4762499"/>
            <a:ext cx="1144143" cy="352009"/>
          </a:xfrm>
          <a:prstGeom prst="rect">
            <a:avLst/>
          </a:prstGeom>
          <a:solidFill>
            <a:srgbClr val="0A0909"/>
          </a:solidFill>
          <a:ln w="12700" cap="flat" cmpd="sng" algn="ctr">
            <a:solidFill>
              <a:srgbClr val="0A0909"/>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5">
    <p:spTree>
      <p:nvGrpSpPr>
        <p:cNvPr id="1" name=""/>
        <p:cNvGrpSpPr/>
        <p:nvPr/>
      </p:nvGrpSpPr>
      <p:grpSpPr bwMode="auto">
        <a:xfrm>
          <a:off x="0" y="0"/>
          <a:ext cx="0" cy="0"/>
          <a:chOff x="0" y="0"/>
          <a:chExt cx="0" cy="0"/>
        </a:xfrm>
      </p:grpSpPr>
      <p:sp>
        <p:nvSpPr>
          <p:cNvPr id="2140878069" name="Text 0"/>
          <p:cNvSpPr/>
          <p:nvPr/>
        </p:nvSpPr>
        <p:spPr bwMode="auto">
          <a:xfrm>
            <a:off x="473943" y="2105248"/>
            <a:ext cx="8196114" cy="445443"/>
          </a:xfrm>
          <a:prstGeom prst="rect">
            <a:avLst/>
          </a:prstGeom>
          <a:noFill/>
          <a:ln/>
        </p:spPr>
        <p:txBody>
          <a:bodyPr wrap="none" lIns="0" tIns="0" rIns="0" bIns="0" rtlCol="0" anchor="t"/>
          <a:lstStyle/>
          <a:p>
            <a:pPr marL="0" indent="0" algn="l">
              <a:lnSpc>
                <a:spcPct val="104000"/>
              </a:lnSpc>
              <a:buNone/>
              <a:defRPr/>
            </a:pPr>
            <a:r>
              <a:rPr lang="en-US" sz="2800">
                <a:solidFill>
                  <a:srgbClr val="FAEBEB"/>
                </a:solidFill>
                <a:latin typeface="Dela Gothic One"/>
                <a:ea typeface="Dela Gothic One"/>
                <a:cs typeface="Dela Gothic One"/>
              </a:rPr>
              <a:t>5. LIVE Demonstration</a:t>
            </a:r>
            <a:endParaRPr lang="en-US" sz="2800"/>
          </a:p>
        </p:txBody>
      </p:sp>
      <p:sp>
        <p:nvSpPr>
          <p:cNvPr id="118073701" name="Text 1"/>
          <p:cNvSpPr/>
          <p:nvPr/>
        </p:nvSpPr>
        <p:spPr bwMode="auto">
          <a:xfrm>
            <a:off x="473943" y="2821484"/>
            <a:ext cx="8653314" cy="216694"/>
          </a:xfrm>
          <a:prstGeom prst="rect">
            <a:avLst/>
          </a:prstGeom>
          <a:noFill/>
          <a:ln/>
        </p:spPr>
        <p:txBody>
          <a:bodyPr wrap="none" lIns="0" tIns="0" rIns="0" bIns="0" rtlCol="0" anchor="t"/>
          <a:lstStyle/>
          <a:p>
            <a:pPr marL="0" indent="0" algn="l">
              <a:lnSpc>
                <a:spcPct val="133000"/>
              </a:lnSpc>
              <a:buNone/>
              <a:defRPr/>
            </a:pPr>
            <a:endParaRPr lang="en-US" sz="1050"/>
          </a:p>
        </p:txBody>
      </p:sp>
      <p:sp>
        <p:nvSpPr>
          <p:cNvPr id="541765353" name=""/>
          <p:cNvSpPr/>
          <p:nvPr/>
        </p:nvSpPr>
        <p:spPr bwMode="auto">
          <a:xfrm rot="0" flipH="0" flipV="0">
            <a:off x="7950421" y="4762499"/>
            <a:ext cx="1144143" cy="352009"/>
          </a:xfrm>
          <a:prstGeom prst="rect">
            <a:avLst/>
          </a:prstGeom>
          <a:solidFill>
            <a:srgbClr val="0A0909"/>
          </a:solidFill>
          <a:ln w="12700" cap="flat" cmpd="sng" algn="ctr">
            <a:solidFill>
              <a:srgbClr val="0A0909"/>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6">
    <p:spTree>
      <p:nvGrpSpPr>
        <p:cNvPr id="1" name=""/>
        <p:cNvGrpSpPr/>
        <p:nvPr/>
      </p:nvGrpSpPr>
      <p:grpSpPr bwMode="auto">
        <a:xfrm>
          <a:off x="0" y="0"/>
          <a:ext cx="0" cy="0"/>
          <a:chOff x="0" y="0"/>
          <a:chExt cx="0" cy="0"/>
        </a:xfrm>
      </p:grpSpPr>
      <p:sp>
        <p:nvSpPr>
          <p:cNvPr id="1064378270" name="Text 0"/>
          <p:cNvSpPr/>
          <p:nvPr/>
        </p:nvSpPr>
        <p:spPr bwMode="auto">
          <a:xfrm>
            <a:off x="473943" y="401389"/>
            <a:ext cx="8196114" cy="431453"/>
          </a:xfrm>
          <a:prstGeom prst="rect">
            <a:avLst/>
          </a:prstGeom>
          <a:noFill/>
          <a:ln/>
        </p:spPr>
        <p:txBody>
          <a:bodyPr wrap="none" lIns="0" tIns="0" rIns="0" bIns="0" rtlCol="0" anchor="t"/>
          <a:lstStyle/>
          <a:p>
            <a:pPr marL="0" indent="0" algn="l">
              <a:lnSpc>
                <a:spcPct val="104000"/>
              </a:lnSpc>
              <a:buNone/>
              <a:defRPr/>
            </a:pPr>
            <a:r>
              <a:rPr lang="en-US" sz="2700">
                <a:solidFill>
                  <a:srgbClr val="FAEBEB"/>
                </a:solidFill>
                <a:latin typeface="Dela Gothic One"/>
                <a:ea typeface="Dela Gothic One"/>
                <a:cs typeface="Dela Gothic One"/>
              </a:rPr>
              <a:t>6. Lessons Learned</a:t>
            </a:r>
            <a:endParaRPr lang="en-US" sz="2700"/>
          </a:p>
        </p:txBody>
      </p:sp>
      <p:pic>
        <p:nvPicPr>
          <p:cNvPr id="577715990" name="Image 0" descr="preencoded.png"/>
          <p:cNvPicPr>
            <a:picLocks noChangeAspect="1"/>
          </p:cNvPicPr>
          <p:nvPr/>
        </p:nvPicPr>
        <p:blipFill rotWithShape="1">
          <a:blip r:embed="rId3">
            <a:extLst>
              <a:ext uri="{96DAC541-7B7A-43D3-8B79-37D633B846F1}">
                <asvg:svgBlip xmlns:asvg="http://schemas.microsoft.com/office/drawing/2016/SVG/main" r:embed="rId4"/>
              </a:ext>
            </a:extLst>
          </a:blip>
          <a:stretch/>
        </p:blipFill>
        <p:spPr bwMode="auto">
          <a:xfrm>
            <a:off x="473943" y="1086966"/>
            <a:ext cx="8196114" cy="995958"/>
          </a:xfrm>
          <a:prstGeom prst="rect">
            <a:avLst/>
          </a:prstGeom>
        </p:spPr>
      </p:pic>
      <p:sp>
        <p:nvSpPr>
          <p:cNvPr id="991738613" name="Text 1"/>
          <p:cNvSpPr/>
          <p:nvPr/>
        </p:nvSpPr>
        <p:spPr bwMode="auto">
          <a:xfrm>
            <a:off x="676498" y="1232371"/>
            <a:ext cx="7848154" cy="215801"/>
          </a:xfrm>
          <a:prstGeom prst="rect">
            <a:avLst/>
          </a:prstGeom>
          <a:noFill/>
          <a:ln/>
        </p:spPr>
        <p:txBody>
          <a:bodyPr wrap="none" lIns="0" tIns="0" rIns="0" bIns="0" rtlCol="0" anchor="t"/>
          <a:lstStyle/>
          <a:p>
            <a:pPr marL="0" indent="0" algn="l">
              <a:lnSpc>
                <a:spcPct val="104000"/>
              </a:lnSpc>
              <a:buNone/>
              <a:defRPr/>
            </a:pPr>
            <a:r>
              <a:rPr lang="en-US" sz="1350">
                <a:solidFill>
                  <a:srgbClr val="FFE5E5"/>
                </a:solidFill>
                <a:latin typeface="Dela Gothic One"/>
                <a:ea typeface="Dela Gothic One"/>
                <a:cs typeface="Dela Gothic One"/>
              </a:rPr>
              <a:t>Technology</a:t>
            </a:r>
            <a:endParaRPr lang="en-US" sz="1350"/>
          </a:p>
        </p:txBody>
      </p:sp>
      <p:sp>
        <p:nvSpPr>
          <p:cNvPr id="1863704709" name="Text 2"/>
          <p:cNvSpPr/>
          <p:nvPr/>
        </p:nvSpPr>
        <p:spPr bwMode="auto">
          <a:xfrm>
            <a:off x="676498" y="1524372"/>
            <a:ext cx="7848154" cy="413147"/>
          </a:xfrm>
          <a:prstGeom prst="rect">
            <a:avLst/>
          </a:prstGeom>
          <a:noFill/>
          <a:ln/>
        </p:spPr>
        <p:txBody>
          <a:bodyPr wrap="square" lIns="0" tIns="0" rIns="0" bIns="0" rtlCol="0" anchor="t">
            <a:normAutofit/>
          </a:bodyPr>
          <a:lstStyle/>
          <a:p>
            <a:pPr marL="0" indent="0" algn="l">
              <a:lnSpc>
                <a:spcPct val="131000"/>
              </a:lnSpc>
              <a:buNone/>
              <a:defRPr/>
            </a:pPr>
            <a:r>
              <a:rPr lang="en-US" sz="1000">
                <a:solidFill>
                  <a:srgbClr val="FFE5E5"/>
                </a:solidFill>
                <a:latin typeface="DM Sans"/>
                <a:ea typeface="DM Sans"/>
                <a:cs typeface="DM Sans"/>
              </a:rPr>
              <a:t>Target encoding and K-Means location clustering were critical for capturing nuanced patterns in the data. HistGradientBoosting provided a significant speed advantage over standard gradient boosting while maintaining accuracy.</a:t>
            </a:r>
            <a:endParaRPr lang="en-US" sz="1000"/>
          </a:p>
        </p:txBody>
      </p:sp>
      <p:pic>
        <p:nvPicPr>
          <p:cNvPr id="690085206" name="Image 1" descr="preencoded.png"/>
          <p:cNvPicPr>
            <a:picLocks noChangeAspect="1"/>
          </p:cNvPicPr>
          <p:nvPr/>
        </p:nvPicPr>
        <p:blipFill rotWithShape="1">
          <a:blip r:embed="rId5">
            <a:extLst>
              <a:ext uri="{96DAC541-7B7A-43D3-8B79-37D633B846F1}">
                <asvg:svgBlip xmlns:asvg="http://schemas.microsoft.com/office/drawing/2016/SVG/main" r:embed="rId6"/>
              </a:ext>
            </a:extLst>
          </a:blip>
          <a:stretch/>
        </p:blipFill>
        <p:spPr bwMode="auto">
          <a:xfrm>
            <a:off x="473943" y="2209949"/>
            <a:ext cx="8196114" cy="789384"/>
          </a:xfrm>
          <a:prstGeom prst="rect">
            <a:avLst/>
          </a:prstGeom>
        </p:spPr>
      </p:pic>
      <p:sp>
        <p:nvSpPr>
          <p:cNvPr id="18204997" name="Text 3"/>
          <p:cNvSpPr/>
          <p:nvPr/>
        </p:nvSpPr>
        <p:spPr bwMode="auto">
          <a:xfrm>
            <a:off x="676498" y="2355354"/>
            <a:ext cx="7848154" cy="215801"/>
          </a:xfrm>
          <a:prstGeom prst="rect">
            <a:avLst/>
          </a:prstGeom>
          <a:noFill/>
          <a:ln/>
        </p:spPr>
        <p:txBody>
          <a:bodyPr wrap="none" lIns="0" tIns="0" rIns="0" bIns="0" rtlCol="0" anchor="t"/>
          <a:lstStyle/>
          <a:p>
            <a:pPr marL="0" indent="0" algn="l">
              <a:lnSpc>
                <a:spcPct val="104000"/>
              </a:lnSpc>
              <a:buNone/>
              <a:defRPr/>
            </a:pPr>
            <a:r>
              <a:rPr lang="en-US" sz="1350">
                <a:solidFill>
                  <a:srgbClr val="FFE5E5"/>
                </a:solidFill>
                <a:latin typeface="Dela Gothic One"/>
                <a:ea typeface="Dela Gothic One"/>
                <a:cs typeface="Dela Gothic One"/>
              </a:rPr>
              <a:t>Management</a:t>
            </a:r>
            <a:endParaRPr lang="en-US" sz="1350"/>
          </a:p>
        </p:txBody>
      </p:sp>
      <p:sp>
        <p:nvSpPr>
          <p:cNvPr id="206807003" name="Text 4"/>
          <p:cNvSpPr/>
          <p:nvPr/>
        </p:nvSpPr>
        <p:spPr bwMode="auto">
          <a:xfrm>
            <a:off x="676498" y="2647355"/>
            <a:ext cx="7848154" cy="206573"/>
          </a:xfrm>
          <a:prstGeom prst="rect">
            <a:avLst/>
          </a:prstGeom>
          <a:noFill/>
          <a:ln/>
        </p:spPr>
        <p:txBody>
          <a:bodyPr wrap="none" lIns="0" tIns="0" rIns="0" bIns="0" rtlCol="0" anchor="t"/>
          <a:lstStyle/>
          <a:p>
            <a:pPr marL="0" indent="0" algn="l">
              <a:lnSpc>
                <a:spcPct val="131000"/>
              </a:lnSpc>
              <a:buNone/>
              <a:defRPr/>
            </a:pPr>
            <a:r>
              <a:rPr lang="en-US" sz="1000">
                <a:solidFill>
                  <a:srgbClr val="FFE5E5"/>
                </a:solidFill>
                <a:latin typeface="DM Sans"/>
                <a:ea typeface="DM Sans"/>
                <a:cs typeface="DM Sans"/>
              </a:rPr>
              <a:t>CRISP-DM provided a structured framework that prevented scope creep and kept the project on track through all six phases.</a:t>
            </a:r>
            <a:endParaRPr lang="en-US" sz="1000"/>
          </a:p>
        </p:txBody>
      </p:sp>
      <p:pic>
        <p:nvPicPr>
          <p:cNvPr id="787701336" name="Image 2" descr="preencoded.png"/>
          <p:cNvPicPr>
            <a:picLocks noChangeAspect="1"/>
          </p:cNvPicPr>
          <p:nvPr/>
        </p:nvPicPr>
        <p:blipFill rotWithShape="1">
          <a:blip r:embed="rId7">
            <a:extLst>
              <a:ext uri="{96DAC541-7B7A-43D3-8B79-37D633B846F1}">
                <asvg:svgBlip xmlns:asvg="http://schemas.microsoft.com/office/drawing/2016/SVG/main" r:embed="rId8"/>
              </a:ext>
            </a:extLst>
          </a:blip>
          <a:stretch/>
        </p:blipFill>
        <p:spPr bwMode="auto">
          <a:xfrm>
            <a:off x="473943" y="3126358"/>
            <a:ext cx="8196114" cy="1615678"/>
          </a:xfrm>
          <a:prstGeom prst="rect">
            <a:avLst/>
          </a:prstGeom>
        </p:spPr>
      </p:pic>
      <p:sp>
        <p:nvSpPr>
          <p:cNvPr id="298541426" name="Text 5"/>
          <p:cNvSpPr/>
          <p:nvPr/>
        </p:nvSpPr>
        <p:spPr bwMode="auto">
          <a:xfrm>
            <a:off x="676498" y="3271763"/>
            <a:ext cx="7848154" cy="215801"/>
          </a:xfrm>
          <a:prstGeom prst="rect">
            <a:avLst/>
          </a:prstGeom>
          <a:noFill/>
          <a:ln/>
        </p:spPr>
        <p:txBody>
          <a:bodyPr wrap="none" lIns="0" tIns="0" rIns="0" bIns="0" rtlCol="0" anchor="t"/>
          <a:lstStyle/>
          <a:p>
            <a:pPr marL="0" indent="0" algn="l">
              <a:lnSpc>
                <a:spcPct val="104000"/>
              </a:lnSpc>
              <a:buNone/>
              <a:defRPr/>
            </a:pPr>
            <a:r>
              <a:rPr lang="en-US" sz="1350">
                <a:solidFill>
                  <a:srgbClr val="FFE5E5"/>
                </a:solidFill>
                <a:latin typeface="Dela Gothic One"/>
                <a:ea typeface="Dela Gothic One"/>
                <a:cs typeface="Dela Gothic One"/>
              </a:rPr>
              <a:t>Personal</a:t>
            </a:r>
            <a:endParaRPr lang="en-US" sz="1350"/>
          </a:p>
        </p:txBody>
      </p:sp>
      <p:sp>
        <p:nvSpPr>
          <p:cNvPr id="544041487" name="Text 6"/>
          <p:cNvSpPr/>
          <p:nvPr/>
        </p:nvSpPr>
        <p:spPr bwMode="auto">
          <a:xfrm>
            <a:off x="676498" y="3563764"/>
            <a:ext cx="7848154" cy="1032867"/>
          </a:xfrm>
          <a:prstGeom prst="rect">
            <a:avLst/>
          </a:prstGeom>
          <a:noFill/>
          <a:ln/>
        </p:spPr>
        <p:txBody>
          <a:bodyPr wrap="square" lIns="0" tIns="0" rIns="0" bIns="0" rtlCol="0" anchor="t">
            <a:normAutofit/>
          </a:bodyPr>
          <a:lstStyle/>
          <a:p>
            <a:pPr marL="0" indent="0" algn="l">
              <a:lnSpc>
                <a:spcPct val="131000"/>
              </a:lnSpc>
              <a:buNone/>
              <a:defRPr/>
            </a:pPr>
            <a:r>
              <a:rPr lang="en-US" sz="1000">
                <a:solidFill>
                  <a:srgbClr val="FFE5E5"/>
                </a:solidFill>
                <a:latin typeface="DM Sans"/>
                <a:ea typeface="DM Sans"/>
                <a:cs typeface="DM Sans"/>
              </a:rPr>
              <a:t>Adding K-Means location clustering was the single most impactful engineering decision — models without it performed noticeably worse, and location_cluster became the #1 predictor across all three models. Switching IQR outlier handling from national-level to region-specific also improved results, showing that local market dynamics matter in data preparation. One limitation I observed: all three models are less precise for the most expensive listings, with observed-vs-predicted spread widening at higher price points.</a:t>
            </a:r>
            <a:endParaRPr lang="en-US" sz="1000"/>
          </a:p>
        </p:txBody>
      </p:sp>
      <p:sp>
        <p:nvSpPr>
          <p:cNvPr id="1119317447" name=""/>
          <p:cNvSpPr/>
          <p:nvPr/>
        </p:nvSpPr>
        <p:spPr bwMode="auto">
          <a:xfrm rot="0" flipH="0" flipV="0">
            <a:off x="7950421" y="4762499"/>
            <a:ext cx="1144143" cy="352009"/>
          </a:xfrm>
          <a:prstGeom prst="rect">
            <a:avLst/>
          </a:prstGeom>
          <a:solidFill>
            <a:srgbClr val="0A0909"/>
          </a:solidFill>
          <a:ln w="12700" cap="flat" cmpd="sng" algn="ctr">
            <a:solidFill>
              <a:srgbClr val="0A0909"/>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7">
    <p:spTree>
      <p:nvGrpSpPr>
        <p:cNvPr id="1" name=""/>
        <p:cNvGrpSpPr/>
        <p:nvPr/>
      </p:nvGrpSpPr>
      <p:grpSpPr bwMode="auto">
        <a:xfrm>
          <a:off x="0" y="0"/>
          <a:ext cx="0" cy="0"/>
          <a:chOff x="0" y="0"/>
          <a:chExt cx="0" cy="0"/>
        </a:xfrm>
      </p:grpSpPr>
      <p:sp>
        <p:nvSpPr>
          <p:cNvPr id="1981909317" name="Text 0"/>
          <p:cNvSpPr/>
          <p:nvPr/>
        </p:nvSpPr>
        <p:spPr bwMode="auto">
          <a:xfrm>
            <a:off x="473943" y="380628"/>
            <a:ext cx="8196114" cy="438448"/>
          </a:xfrm>
          <a:prstGeom prst="rect">
            <a:avLst/>
          </a:prstGeom>
          <a:noFill/>
          <a:ln/>
        </p:spPr>
        <p:txBody>
          <a:bodyPr wrap="none" lIns="0" tIns="0" rIns="0" bIns="0" rtlCol="0" anchor="t"/>
          <a:lstStyle/>
          <a:p>
            <a:pPr marL="0" indent="0" algn="l">
              <a:lnSpc>
                <a:spcPct val="104000"/>
              </a:lnSpc>
              <a:buNone/>
              <a:defRPr/>
            </a:pPr>
            <a:r>
              <a:rPr lang="en-US" sz="2750">
                <a:solidFill>
                  <a:srgbClr val="FAEBEB"/>
                </a:solidFill>
                <a:latin typeface="Dela Gothic One"/>
                <a:ea typeface="Dela Gothic One"/>
                <a:cs typeface="Dela Gothic One"/>
              </a:rPr>
              <a:t>7. Conclusion</a:t>
            </a:r>
            <a:endParaRPr lang="en-US" sz="2750"/>
          </a:p>
        </p:txBody>
      </p:sp>
      <p:sp>
        <p:nvSpPr>
          <p:cNvPr id="131545892" name="Text 1"/>
          <p:cNvSpPr/>
          <p:nvPr/>
        </p:nvSpPr>
        <p:spPr bwMode="auto">
          <a:xfrm>
            <a:off x="473943" y="871537"/>
            <a:ext cx="8196114" cy="350713"/>
          </a:xfrm>
          <a:prstGeom prst="rect">
            <a:avLst/>
          </a:prstGeom>
          <a:noFill/>
          <a:ln/>
        </p:spPr>
        <p:txBody>
          <a:bodyPr wrap="none" lIns="0" tIns="0" rIns="0" bIns="0" rtlCol="0" anchor="t"/>
          <a:lstStyle/>
          <a:p>
            <a:pPr marL="0" indent="0" algn="l">
              <a:lnSpc>
                <a:spcPct val="104000"/>
              </a:lnSpc>
              <a:buNone/>
              <a:defRPr/>
            </a:pPr>
            <a:r>
              <a:rPr lang="en-US" sz="2200">
                <a:solidFill>
                  <a:srgbClr val="FAEBEB"/>
                </a:solidFill>
                <a:latin typeface="Dela Gothic One"/>
                <a:ea typeface="Dela Gothic One"/>
                <a:cs typeface="Dela Gothic One"/>
              </a:rPr>
              <a:t>Did the project meet its stated goals?</a:t>
            </a:r>
            <a:endParaRPr lang="en-US" sz="2200"/>
          </a:p>
        </p:txBody>
      </p:sp>
      <p:sp>
        <p:nvSpPr>
          <p:cNvPr id="224539940" name="Text 2"/>
          <p:cNvSpPr/>
          <p:nvPr/>
        </p:nvSpPr>
        <p:spPr bwMode="auto">
          <a:xfrm>
            <a:off x="473943" y="1419002"/>
            <a:ext cx="8653314" cy="211559"/>
          </a:xfrm>
          <a:prstGeom prst="rect">
            <a:avLst/>
          </a:prstGeom>
          <a:noFill/>
          <a:ln/>
        </p:spPr>
        <p:txBody>
          <a:bodyPr wrap="none" lIns="0" tIns="0" rIns="0" bIns="0" rtlCol="0" anchor="t"/>
          <a:lstStyle/>
          <a:p>
            <a:pPr marL="0" indent="0" algn="l">
              <a:lnSpc>
                <a:spcPct val="132000"/>
              </a:lnSpc>
              <a:buNone/>
              <a:defRPr/>
            </a:pPr>
            <a:r>
              <a:rPr lang="en-US" sz="1000" b="1">
                <a:solidFill>
                  <a:srgbClr val="FFE5E5"/>
                </a:solidFill>
                <a:latin typeface="DM Sans Bold"/>
                <a:ea typeface="DM Sans Bold"/>
                <a:cs typeface="DM Sans Bold"/>
              </a:rPr>
              <a:t>Did the project meet its stated goals?</a:t>
            </a:r>
            <a:r>
              <a:rPr lang="en-US" sz="1000">
                <a:solidFill>
                  <a:srgbClr val="FFE5E5"/>
                </a:solidFill>
                <a:latin typeface="DM Sans"/>
                <a:ea typeface="DM Sans"/>
                <a:cs typeface="DM Sans"/>
              </a:rPr>
              <a:t> Yes.</a:t>
            </a:r>
            <a:endParaRPr lang="en-US" sz="1000"/>
          </a:p>
        </p:txBody>
      </p:sp>
      <p:sp>
        <p:nvSpPr>
          <p:cNvPr id="343473178" name="Shape 3"/>
          <p:cNvSpPr/>
          <p:nvPr/>
        </p:nvSpPr>
        <p:spPr bwMode="auto">
          <a:xfrm>
            <a:off x="473943" y="1778124"/>
            <a:ext cx="4032424" cy="1631752"/>
          </a:xfrm>
          <a:prstGeom prst="roundRect">
            <a:avLst>
              <a:gd name="adj" fmla="val 3431"/>
            </a:avLst>
          </a:prstGeom>
          <a:solidFill>
            <a:srgbClr val="740B0B"/>
          </a:solidFill>
          <a:ln w="4763">
            <a:solidFill>
              <a:srgbClr val="8D2424"/>
            </a:solidFill>
            <a:prstDash val="solid"/>
          </a:ln>
        </p:spPr>
      </p:sp>
      <p:sp>
        <p:nvSpPr>
          <p:cNvPr id="1488919599" name="Text 4"/>
          <p:cNvSpPr/>
          <p:nvPr/>
        </p:nvSpPr>
        <p:spPr bwMode="auto">
          <a:xfrm>
            <a:off x="611981" y="1916162"/>
            <a:ext cx="3756346" cy="219224"/>
          </a:xfrm>
          <a:prstGeom prst="rect">
            <a:avLst/>
          </a:prstGeom>
          <a:noFill/>
          <a:ln/>
        </p:spPr>
        <p:txBody>
          <a:bodyPr wrap="none" lIns="0" tIns="0" rIns="0" bIns="0" rtlCol="0" anchor="t"/>
          <a:lstStyle/>
          <a:p>
            <a:pPr marL="0" indent="0" algn="l">
              <a:lnSpc>
                <a:spcPct val="104000"/>
              </a:lnSpc>
              <a:buNone/>
              <a:defRPr/>
            </a:pPr>
            <a:r>
              <a:rPr lang="en-US" sz="1350">
                <a:solidFill>
                  <a:srgbClr val="FFE5E5"/>
                </a:solidFill>
                <a:latin typeface="Dela Gothic One"/>
                <a:ea typeface="Dela Gothic One"/>
                <a:cs typeface="Dela Gothic One"/>
              </a:rPr>
              <a:t>Business goal achieved</a:t>
            </a:r>
            <a:endParaRPr lang="en-US" sz="1350"/>
          </a:p>
        </p:txBody>
      </p:sp>
      <p:sp>
        <p:nvSpPr>
          <p:cNvPr id="22058135" name="Text 5"/>
          <p:cNvSpPr/>
          <p:nvPr/>
        </p:nvSpPr>
        <p:spPr bwMode="auto">
          <a:xfrm>
            <a:off x="611981" y="2214042"/>
            <a:ext cx="3756346" cy="423118"/>
          </a:xfrm>
          <a:prstGeom prst="rect">
            <a:avLst/>
          </a:prstGeom>
          <a:noFill/>
          <a:ln/>
        </p:spPr>
        <p:txBody>
          <a:bodyPr wrap="square" lIns="0" tIns="0" rIns="0" bIns="0" rtlCol="0" anchor="t">
            <a:normAutofit/>
          </a:bodyPr>
          <a:lstStyle/>
          <a:p>
            <a:pPr marL="0" indent="0" algn="l">
              <a:lnSpc>
                <a:spcPct val="132000"/>
              </a:lnSpc>
              <a:buNone/>
              <a:defRPr/>
            </a:pPr>
            <a:r>
              <a:rPr lang="en-US" sz="1000">
                <a:solidFill>
                  <a:srgbClr val="FFE5E5"/>
                </a:solidFill>
                <a:latin typeface="DM Sans"/>
                <a:ea typeface="DM Sans"/>
                <a:cs typeface="DM Sans"/>
              </a:rPr>
              <a:t>I identified that location, square footage, and bedroom count are the dominant drivers of rental price in the Southern US</a:t>
            </a:r>
            <a:endParaRPr lang="en-US" sz="1000"/>
          </a:p>
        </p:txBody>
      </p:sp>
      <p:sp>
        <p:nvSpPr>
          <p:cNvPr id="767229764" name="Shape 6"/>
          <p:cNvSpPr/>
          <p:nvPr/>
        </p:nvSpPr>
        <p:spPr bwMode="auto">
          <a:xfrm>
            <a:off x="4637558" y="1778124"/>
            <a:ext cx="4032498" cy="1631752"/>
          </a:xfrm>
          <a:prstGeom prst="roundRect">
            <a:avLst>
              <a:gd name="adj" fmla="val 3431"/>
            </a:avLst>
          </a:prstGeom>
          <a:solidFill>
            <a:srgbClr val="740B0B"/>
          </a:solidFill>
          <a:ln w="4763">
            <a:solidFill>
              <a:srgbClr val="8D2424"/>
            </a:solidFill>
            <a:prstDash val="solid"/>
          </a:ln>
        </p:spPr>
      </p:sp>
      <p:sp>
        <p:nvSpPr>
          <p:cNvPr id="1209798163" name="Text 7"/>
          <p:cNvSpPr/>
          <p:nvPr/>
        </p:nvSpPr>
        <p:spPr bwMode="auto">
          <a:xfrm>
            <a:off x="4775597" y="1916162"/>
            <a:ext cx="3756422" cy="219224"/>
          </a:xfrm>
          <a:prstGeom prst="rect">
            <a:avLst/>
          </a:prstGeom>
          <a:noFill/>
          <a:ln/>
        </p:spPr>
        <p:txBody>
          <a:bodyPr wrap="none" lIns="0" tIns="0" rIns="0" bIns="0" rtlCol="0" anchor="t"/>
          <a:lstStyle/>
          <a:p>
            <a:pPr marL="0" indent="0" algn="l">
              <a:lnSpc>
                <a:spcPct val="104000"/>
              </a:lnSpc>
              <a:buNone/>
              <a:defRPr/>
            </a:pPr>
            <a:r>
              <a:rPr lang="en-US" sz="1350">
                <a:solidFill>
                  <a:srgbClr val="FFE5E5"/>
                </a:solidFill>
                <a:latin typeface="Dela Gothic One"/>
                <a:ea typeface="Dela Gothic One"/>
                <a:cs typeface="Dela Gothic One"/>
              </a:rPr>
              <a:t>Data mining goal achieved</a:t>
            </a:r>
            <a:endParaRPr lang="en-US" sz="1350"/>
          </a:p>
        </p:txBody>
      </p:sp>
      <p:sp>
        <p:nvSpPr>
          <p:cNvPr id="2071735127" name="Text 8"/>
          <p:cNvSpPr/>
          <p:nvPr/>
        </p:nvSpPr>
        <p:spPr bwMode="auto">
          <a:xfrm>
            <a:off x="4775597" y="2214042"/>
            <a:ext cx="3756422" cy="1057796"/>
          </a:xfrm>
          <a:prstGeom prst="rect">
            <a:avLst/>
          </a:prstGeom>
          <a:noFill/>
          <a:ln/>
        </p:spPr>
        <p:txBody>
          <a:bodyPr wrap="square" lIns="0" tIns="0" rIns="0" bIns="0" rtlCol="0" anchor="t">
            <a:normAutofit/>
          </a:bodyPr>
          <a:lstStyle/>
          <a:p>
            <a:pPr marL="0" indent="0" algn="l">
              <a:lnSpc>
                <a:spcPct val="132000"/>
              </a:lnSpc>
              <a:buNone/>
              <a:defRPr/>
            </a:pPr>
            <a:r>
              <a:rPr lang="en-US" sz="1000">
                <a:solidFill>
                  <a:srgbClr val="FFE5E5"/>
                </a:solidFill>
                <a:latin typeface="DM Sans"/>
                <a:ea typeface="DM Sans"/>
                <a:cs typeface="DM Sans"/>
              </a:rPr>
              <a:t>All three models successfully predicted rental price from available features, and the feature importance rankings identified location, square footage, and bedroom count as the top drivers — fulfilling the analytical goal of producing actionable rankings</a:t>
            </a:r>
            <a:endParaRPr lang="en-US" sz="1000"/>
          </a:p>
        </p:txBody>
      </p:sp>
      <p:sp>
        <p:nvSpPr>
          <p:cNvPr id="336832645" name="Text 9"/>
          <p:cNvSpPr/>
          <p:nvPr/>
        </p:nvSpPr>
        <p:spPr bwMode="auto">
          <a:xfrm>
            <a:off x="473943" y="3557439"/>
            <a:ext cx="8196114" cy="1205359"/>
          </a:xfrm>
          <a:prstGeom prst="rect">
            <a:avLst/>
          </a:prstGeom>
          <a:noFill/>
          <a:ln/>
        </p:spPr>
        <p:txBody>
          <a:bodyPr wrap="square" lIns="0" tIns="0" rIns="0" bIns="0" rtlCol="0" anchor="t">
            <a:normAutofit/>
          </a:bodyPr>
          <a:lstStyle/>
          <a:p>
            <a:pPr marL="0" indent="0" algn="l">
              <a:lnSpc>
                <a:spcPct val="132000"/>
              </a:lnSpc>
              <a:spcAft>
                <a:spcPts val="1150"/>
              </a:spcAft>
              <a:buNone/>
              <a:defRPr/>
            </a:pPr>
            <a:r>
              <a:rPr lang="en-US" sz="1000" b="1">
                <a:solidFill>
                  <a:srgbClr val="FFE5E5"/>
                </a:solidFill>
                <a:latin typeface="DM Sans Bold"/>
                <a:ea typeface="DM Sans Bold"/>
                <a:cs typeface="DM Sans Bold"/>
              </a:rPr>
              <a:t>What did the project show?</a:t>
            </a:r>
            <a:r>
              <a:rPr lang="en-US" sz="1000">
                <a:solidFill>
                  <a:srgbClr val="FFE5E5"/>
                </a:solidFill>
                <a:latin typeface="DM Sans"/>
                <a:ea typeface="DM Sans"/>
                <a:cs typeface="DM Sans"/>
              </a:rPr>
              <a:t> Rental pricing in the Southern US is heavily location-driven, but within a given area, apartment size and bedroom count are the most actionable levers. Amenities like pet policies and parking matter but are secondary.</a:t>
            </a:r>
            <a:endParaRPr lang="en-US" sz="1000"/>
          </a:p>
          <a:p>
            <a:pPr marL="0" indent="0" algn="l">
              <a:lnSpc>
                <a:spcPct val="132000"/>
              </a:lnSpc>
              <a:buNone/>
              <a:defRPr/>
            </a:pPr>
            <a:r>
              <a:rPr lang="en-US" sz="1000" b="1">
                <a:solidFill>
                  <a:srgbClr val="FFE5E5"/>
                </a:solidFill>
                <a:latin typeface="DM Sans Bold"/>
                <a:ea typeface="DM Sans Bold"/>
                <a:cs typeface="DM Sans Bold"/>
              </a:rPr>
              <a:t>Final thoughts:</a:t>
            </a:r>
            <a:r>
              <a:rPr lang="en-US" sz="1000">
                <a:solidFill>
                  <a:srgbClr val="FFE5E5"/>
                </a:solidFill>
                <a:latin typeface="DM Sans"/>
                <a:ea typeface="DM Sans"/>
                <a:cs typeface="DM Sans"/>
              </a:rPr>
              <a:t> The project demonstrated that ensemble methods with thoughtful feature engineering can explain ~95% of rental price variance using publicly available Craigslist data. This approach could be extended to a real-time pricing tool for property managers or integrated into rental listing platforms to suggest optimal listing prices.</a:t>
            </a:r>
            <a:endParaRPr lang="en-US" sz="1000"/>
          </a:p>
        </p:txBody>
      </p:sp>
      <p:sp>
        <p:nvSpPr>
          <p:cNvPr id="1828278955" name=""/>
          <p:cNvSpPr/>
          <p:nvPr/>
        </p:nvSpPr>
        <p:spPr bwMode="auto">
          <a:xfrm rot="0" flipH="0" flipV="0">
            <a:off x="7950421" y="4762499"/>
            <a:ext cx="1144143" cy="352009"/>
          </a:xfrm>
          <a:prstGeom prst="rect">
            <a:avLst/>
          </a:prstGeom>
          <a:solidFill>
            <a:srgbClr val="0A0909"/>
          </a:solidFill>
          <a:ln w="12700" cap="flat" cmpd="sng" algn="ctr">
            <a:solidFill>
              <a:srgbClr val="0A0909"/>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C91313"/>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17</Slides>
  <Notes>17</Notes>
  <HiddenSlides>0</HiddenSlides>
  <MMClips>2</MMClips>
  <ScaleCrop>0</ScaleCrop>
  <HeadingPairs>
    <vt:vector size="4" baseType="variant">
      <vt:variant>
        <vt:lpstr>Theme</vt:lpstr>
      </vt:variant>
      <vt:variant>
        <vt:i4>1</vt:i4>
      </vt:variant>
      <vt:variant>
        <vt:lpstr>Slide Titles</vt:lpstr>
      </vt:variant>
      <vt:variant>
        <vt:i4>17</vt:i4>
      </vt:variant>
    </vt:vector>
  </HeadingPairs>
  <TitlesOfParts>
    <vt:vector size="18"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2</cp:revision>
  <dcterms:created xsi:type="dcterms:W3CDTF">2026-07-26T04:30:36Z</dcterms:created>
  <dcterms:modified xsi:type="dcterms:W3CDTF">2026-07-26T04:34:27Z</dcterms:modified>
</cp:coreProperties>
</file>