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2"/>
  </p:notesMasterIdLst>
  <p:sldIdLst>
    <p:sldId id="257" r:id="rId2"/>
    <p:sldId id="321" r:id="rId3"/>
    <p:sldId id="435" r:id="rId4"/>
    <p:sldId id="470" r:id="rId5"/>
    <p:sldId id="471" r:id="rId6"/>
    <p:sldId id="458" r:id="rId7"/>
    <p:sldId id="437" r:id="rId8"/>
    <p:sldId id="446" r:id="rId9"/>
    <p:sldId id="447" r:id="rId10"/>
    <p:sldId id="475" r:id="rId11"/>
    <p:sldId id="492" r:id="rId12"/>
    <p:sldId id="493" r:id="rId13"/>
    <p:sldId id="494" r:id="rId14"/>
    <p:sldId id="481" r:id="rId15"/>
    <p:sldId id="495" r:id="rId16"/>
    <p:sldId id="496" r:id="rId17"/>
    <p:sldId id="448" r:id="rId18"/>
    <p:sldId id="491" r:id="rId19"/>
    <p:sldId id="490" r:id="rId20"/>
    <p:sldId id="450" r:id="rId21"/>
    <p:sldId id="451" r:id="rId22"/>
    <p:sldId id="452" r:id="rId23"/>
    <p:sldId id="478" r:id="rId24"/>
    <p:sldId id="497" r:id="rId25"/>
    <p:sldId id="453" r:id="rId26"/>
    <p:sldId id="454" r:id="rId27"/>
    <p:sldId id="442" r:id="rId28"/>
    <p:sldId id="498" r:id="rId29"/>
    <p:sldId id="479" r:id="rId30"/>
    <p:sldId id="456" r:id="rId31"/>
    <p:sldId id="443" r:id="rId32"/>
    <p:sldId id="421" r:id="rId33"/>
    <p:sldId id="476" r:id="rId34"/>
    <p:sldId id="417" r:id="rId35"/>
    <p:sldId id="457" r:id="rId36"/>
    <p:sldId id="462" r:id="rId37"/>
    <p:sldId id="477" r:id="rId38"/>
    <p:sldId id="482" r:id="rId39"/>
    <p:sldId id="464" r:id="rId40"/>
    <p:sldId id="486" r:id="rId41"/>
    <p:sldId id="483" r:id="rId42"/>
    <p:sldId id="499" r:id="rId43"/>
    <p:sldId id="500" r:id="rId44"/>
    <p:sldId id="465" r:id="rId45"/>
    <p:sldId id="489" r:id="rId46"/>
    <p:sldId id="466" r:id="rId47"/>
    <p:sldId id="467" r:id="rId48"/>
    <p:sldId id="468" r:id="rId49"/>
    <p:sldId id="469" r:id="rId50"/>
    <p:sldId id="474"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138" autoAdjust="0"/>
    <p:restoredTop sz="94660"/>
  </p:normalViewPr>
  <p:slideViewPr>
    <p:cSldViewPr snapToGrid="0" showGuides="1">
      <p:cViewPr varScale="1">
        <p:scale>
          <a:sx n="76" d="100"/>
          <a:sy n="76" d="100"/>
        </p:scale>
        <p:origin x="1229" y="48"/>
      </p:cViewPr>
      <p:guideLst>
        <p:guide orient="horz" pos="2160"/>
        <p:guide pos="3816"/>
      </p:guideLst>
    </p:cSldViewPr>
  </p:slideViewPr>
  <p:notesTextViewPr>
    <p:cViewPr>
      <p:scale>
        <a:sx n="1" d="1"/>
        <a:sy n="1" d="1"/>
      </p:scale>
      <p:origin x="0" y="0"/>
    </p:cViewPr>
  </p:notesTextViewPr>
  <p:sorterViewPr>
    <p:cViewPr>
      <p:scale>
        <a:sx n="190" d="100"/>
        <a:sy n="190" d="100"/>
      </p:scale>
      <p:origin x="0" y="-2856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094FBD-BD12-4CE5-9292-60EAA74DE00F}" type="datetimeFigureOut">
              <a:rPr lang="en-US" smtClean="0"/>
              <a:t>4/18/2026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E89866-A2D7-4664-9240-D34AE6ACD9EF}" type="slidenum">
              <a:rPr lang="en-US" smtClean="0"/>
              <a:t>‹#›</a:t>
            </a:fld>
            <a:endParaRPr lang="en-US" dirty="0"/>
          </a:p>
        </p:txBody>
      </p:sp>
    </p:spTree>
    <p:extLst>
      <p:ext uri="{BB962C8B-B14F-4D97-AF65-F5344CB8AC3E}">
        <p14:creationId xmlns:p14="http://schemas.microsoft.com/office/powerpoint/2010/main" val="22206864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A2295-EE4D-4726-9BEF-C12D83E84F96}"/>
              </a:ext>
            </a:extLst>
          </p:cNvPr>
          <p:cNvSpPr>
            <a:spLocks noGrp="1"/>
          </p:cNvSpPr>
          <p:nvPr>
            <p:ph type="ctrTitle" hasCustomPrompt="1"/>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42890F72-0773-4347-9B33-ECB7116E68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Footer Placeholder 4">
            <a:extLst>
              <a:ext uri="{FF2B5EF4-FFF2-40B4-BE49-F238E27FC236}">
                <a16:creationId xmlns:a16="http://schemas.microsoft.com/office/drawing/2014/main" id="{DEC5345D-741D-400B-A97C-1381C32DAD60}"/>
              </a:ext>
            </a:extLst>
          </p:cNvPr>
          <p:cNvSpPr>
            <a:spLocks noGrp="1"/>
          </p:cNvSpPr>
          <p:nvPr>
            <p:ph type="ftr" sz="quarter" idx="11"/>
          </p:nvPr>
        </p:nvSpPr>
        <p:spPr>
          <a:xfrm>
            <a:off x="7223235" y="6356350"/>
            <a:ext cx="4114800" cy="365125"/>
          </a:xfrm>
        </p:spPr>
        <p:txBody>
          <a:bodyPr/>
          <a:lstStyle/>
          <a:p>
            <a:endParaRPr lang="en-US" dirty="0"/>
          </a:p>
        </p:txBody>
      </p:sp>
      <p:sp>
        <p:nvSpPr>
          <p:cNvPr id="6" name="Slide Number Placeholder 5">
            <a:extLst>
              <a:ext uri="{FF2B5EF4-FFF2-40B4-BE49-F238E27FC236}">
                <a16:creationId xmlns:a16="http://schemas.microsoft.com/office/drawing/2014/main" id="{CFB013A2-A39E-4DA2-B0D1-992153C8FFC5}"/>
              </a:ext>
            </a:extLst>
          </p:cNvPr>
          <p:cNvSpPr>
            <a:spLocks noGrp="1"/>
          </p:cNvSpPr>
          <p:nvPr>
            <p:ph type="sldNum" sz="quarter" idx="12"/>
          </p:nvPr>
        </p:nvSpPr>
        <p:spPr>
          <a:xfrm>
            <a:off x="11571890" y="6356349"/>
            <a:ext cx="409904" cy="365125"/>
          </a:xfrm>
        </p:spPr>
        <p:txBody>
          <a:bodyPr/>
          <a:lstStyle/>
          <a:p>
            <a:fld id="{121F9196-C982-4B01-9384-55A88EC11B89}" type="slidenum">
              <a:rPr lang="en-US" smtClean="0"/>
              <a:t>‹#›</a:t>
            </a:fld>
            <a:endParaRPr lang="en-US" dirty="0"/>
          </a:p>
        </p:txBody>
      </p:sp>
      <p:pic>
        <p:nvPicPr>
          <p:cNvPr id="7" name="Picture 6">
            <a:extLst>
              <a:ext uri="{FF2B5EF4-FFF2-40B4-BE49-F238E27FC236}">
                <a16:creationId xmlns:a16="http://schemas.microsoft.com/office/drawing/2014/main" id="{4BF5A087-2FE8-4B27-8409-B216CDD177DE}"/>
              </a:ext>
            </a:extLst>
          </p:cNvPr>
          <p:cNvPicPr>
            <a:picLocks noChangeAspect="1"/>
          </p:cNvPicPr>
          <p:nvPr userDrawn="1"/>
        </p:nvPicPr>
        <p:blipFill rotWithShape="1">
          <a:blip r:embed="rId2"/>
          <a:srcRect l="17328" t="18364" r="50000" b="68324"/>
          <a:stretch/>
        </p:blipFill>
        <p:spPr>
          <a:xfrm>
            <a:off x="210206" y="5920169"/>
            <a:ext cx="3983421" cy="872359"/>
          </a:xfrm>
          <a:prstGeom prst="rect">
            <a:avLst/>
          </a:prstGeom>
        </p:spPr>
      </p:pic>
      <p:pic>
        <p:nvPicPr>
          <p:cNvPr id="4" name="Picture 3">
            <a:extLst>
              <a:ext uri="{FF2B5EF4-FFF2-40B4-BE49-F238E27FC236}">
                <a16:creationId xmlns:a16="http://schemas.microsoft.com/office/drawing/2014/main" id="{4B07E137-90D3-FC4F-BE12-4E7C242D43F0}"/>
              </a:ext>
            </a:extLst>
          </p:cNvPr>
          <p:cNvPicPr>
            <a:picLocks noChangeAspect="1"/>
          </p:cNvPicPr>
          <p:nvPr userDrawn="1"/>
        </p:nvPicPr>
        <p:blipFill>
          <a:blip r:embed="rId3"/>
          <a:stretch>
            <a:fillRect/>
          </a:stretch>
        </p:blipFill>
        <p:spPr>
          <a:xfrm>
            <a:off x="1917787" y="6313007"/>
            <a:ext cx="2761727" cy="408467"/>
          </a:xfrm>
          <a:prstGeom prst="rect">
            <a:avLst/>
          </a:prstGeom>
          <a:solidFill>
            <a:schemeClr val="bg1"/>
          </a:solidFill>
        </p:spPr>
      </p:pic>
    </p:spTree>
    <p:extLst>
      <p:ext uri="{BB962C8B-B14F-4D97-AF65-F5344CB8AC3E}">
        <p14:creationId xmlns:p14="http://schemas.microsoft.com/office/powerpoint/2010/main" val="16063015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C73AC-D6C3-45A0-B8B7-BC6FC521C31F}"/>
              </a:ext>
            </a:extLst>
          </p:cNvPr>
          <p:cNvSpPr>
            <a:spLocks noGrp="1"/>
          </p:cNvSpPr>
          <p:nvPr>
            <p:ph type="title" hasCustomPrompt="1"/>
          </p:nvPr>
        </p:nvSpPr>
        <p:spPr>
          <a:xfrm>
            <a:off x="599090" y="196966"/>
            <a:ext cx="10993816" cy="927642"/>
          </a:xfrm>
        </p:spPr>
        <p:txBody>
          <a:bodyPr/>
          <a:lstStyle>
            <a:lvl1pPr>
              <a:defRPr b="1"/>
            </a:lvl1pPr>
          </a:lstStyle>
          <a:p>
            <a:r>
              <a:rPr lang="en-US" dirty="0"/>
              <a:t>Click to Edit Master Title Style</a:t>
            </a:r>
          </a:p>
        </p:txBody>
      </p:sp>
      <p:sp>
        <p:nvSpPr>
          <p:cNvPr id="3" name="Content Placeholder 2">
            <a:extLst>
              <a:ext uri="{FF2B5EF4-FFF2-40B4-BE49-F238E27FC236}">
                <a16:creationId xmlns:a16="http://schemas.microsoft.com/office/drawing/2014/main" id="{D2CEC43C-CC95-4354-91C1-E7844CA75D82}"/>
              </a:ext>
            </a:extLst>
          </p:cNvPr>
          <p:cNvSpPr>
            <a:spLocks noGrp="1"/>
          </p:cNvSpPr>
          <p:nvPr>
            <p:ph idx="1"/>
          </p:nvPr>
        </p:nvSpPr>
        <p:spPr>
          <a:xfrm>
            <a:off x="599090" y="1471448"/>
            <a:ext cx="10993816" cy="3924575"/>
          </a:xfrm>
        </p:spPr>
        <p:txBody>
          <a:bodyPr/>
          <a:lstStyle>
            <a:lvl2pPr marL="685800" indent="-228600">
              <a:buFont typeface="Courier New" panose="02070309020205020404" pitchFamily="49" charset="0"/>
              <a:buChar char="o"/>
              <a:defRPr/>
            </a:lvl2pPr>
            <a:lvl3pPr marL="1143000" indent="-228600">
              <a:buFont typeface="Wingdings" panose="05000000000000000000" pitchFamily="2" charset="2"/>
              <a:buChar char="ü"/>
              <a:defRPr/>
            </a:lvl3pPr>
            <a:lvl4pPr marL="1600200" indent="-228600">
              <a:buFont typeface="Wingdings" panose="05000000000000000000" pitchFamily="2" charset="2"/>
              <a:buChar char="Ø"/>
              <a:defRPr/>
            </a:lvl4pPr>
            <a:lvl5pPr marL="2057400" indent="-228600">
              <a:buFont typeface="Wingdings" panose="05000000000000000000" pitchFamily="2" charset="2"/>
              <a:buChar char="q"/>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0A1D596-D5DF-4E91-85BB-1C2F30E3CA55}"/>
              </a:ext>
            </a:extLst>
          </p:cNvPr>
          <p:cNvSpPr>
            <a:spLocks noGrp="1"/>
          </p:cNvSpPr>
          <p:nvPr>
            <p:ph type="ftr" sz="quarter" idx="11"/>
          </p:nvPr>
        </p:nvSpPr>
        <p:spPr>
          <a:xfrm>
            <a:off x="7212714" y="6356350"/>
            <a:ext cx="4114800" cy="365125"/>
          </a:xfrm>
        </p:spPr>
        <p:txBody>
          <a:bodyPr/>
          <a:lstStyle/>
          <a:p>
            <a:endParaRPr lang="en-US" dirty="0"/>
          </a:p>
        </p:txBody>
      </p:sp>
      <p:sp>
        <p:nvSpPr>
          <p:cNvPr id="6" name="Slide Number Placeholder 5">
            <a:extLst>
              <a:ext uri="{FF2B5EF4-FFF2-40B4-BE49-F238E27FC236}">
                <a16:creationId xmlns:a16="http://schemas.microsoft.com/office/drawing/2014/main" id="{3F1C5E9E-31B3-48F3-9AF2-4E65C4D696AB}"/>
              </a:ext>
            </a:extLst>
          </p:cNvPr>
          <p:cNvSpPr>
            <a:spLocks noGrp="1"/>
          </p:cNvSpPr>
          <p:nvPr>
            <p:ph type="sldNum" sz="quarter" idx="12"/>
          </p:nvPr>
        </p:nvSpPr>
        <p:spPr>
          <a:xfrm>
            <a:off x="11592906" y="6356350"/>
            <a:ext cx="444056" cy="365125"/>
          </a:xfrm>
        </p:spPr>
        <p:txBody>
          <a:bodyPr/>
          <a:lstStyle/>
          <a:p>
            <a:fld id="{121F9196-C982-4B01-9384-55A88EC11B89}" type="slidenum">
              <a:rPr lang="en-US" smtClean="0"/>
              <a:t>‹#›</a:t>
            </a:fld>
            <a:endParaRPr lang="en-US" dirty="0"/>
          </a:p>
        </p:txBody>
      </p:sp>
      <p:pic>
        <p:nvPicPr>
          <p:cNvPr id="7" name="Picture 6">
            <a:extLst>
              <a:ext uri="{FF2B5EF4-FFF2-40B4-BE49-F238E27FC236}">
                <a16:creationId xmlns:a16="http://schemas.microsoft.com/office/drawing/2014/main" id="{5FEE7AE3-1A05-47CF-A169-9457F34A0337}"/>
              </a:ext>
            </a:extLst>
          </p:cNvPr>
          <p:cNvPicPr>
            <a:picLocks noChangeAspect="1"/>
          </p:cNvPicPr>
          <p:nvPr userDrawn="1"/>
        </p:nvPicPr>
        <p:blipFill rotWithShape="1">
          <a:blip r:embed="rId2"/>
          <a:srcRect l="17328" t="18364" r="50000" b="68324"/>
          <a:stretch/>
        </p:blipFill>
        <p:spPr>
          <a:xfrm>
            <a:off x="185268" y="5787165"/>
            <a:ext cx="3983421" cy="872359"/>
          </a:xfrm>
          <a:prstGeom prst="rect">
            <a:avLst/>
          </a:prstGeom>
        </p:spPr>
      </p:pic>
      <p:pic>
        <p:nvPicPr>
          <p:cNvPr id="4" name="Picture 3">
            <a:extLst>
              <a:ext uri="{FF2B5EF4-FFF2-40B4-BE49-F238E27FC236}">
                <a16:creationId xmlns:a16="http://schemas.microsoft.com/office/drawing/2014/main" id="{98B26634-3EBB-9AFA-E36C-030FB4BD0E5B}"/>
              </a:ext>
            </a:extLst>
          </p:cNvPr>
          <p:cNvPicPr>
            <a:picLocks noChangeAspect="1"/>
          </p:cNvPicPr>
          <p:nvPr userDrawn="1"/>
        </p:nvPicPr>
        <p:blipFill>
          <a:blip r:embed="rId3"/>
          <a:stretch>
            <a:fillRect/>
          </a:stretch>
        </p:blipFill>
        <p:spPr>
          <a:xfrm>
            <a:off x="1917787" y="6263132"/>
            <a:ext cx="2761727" cy="408467"/>
          </a:xfrm>
          <a:prstGeom prst="rect">
            <a:avLst/>
          </a:prstGeom>
          <a:solidFill>
            <a:schemeClr val="bg1"/>
          </a:solidFill>
        </p:spPr>
      </p:pic>
    </p:spTree>
    <p:extLst>
      <p:ext uri="{BB962C8B-B14F-4D97-AF65-F5344CB8AC3E}">
        <p14:creationId xmlns:p14="http://schemas.microsoft.com/office/powerpoint/2010/main" val="15090294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9C03A-EB68-4559-8CA1-85E6C1F175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5946944-9C56-4300-AFF1-45B9C06D38B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187FCBE9-1A05-41E9-A1BD-1EC745F52034}"/>
              </a:ext>
            </a:extLst>
          </p:cNvPr>
          <p:cNvSpPr>
            <a:spLocks noGrp="1"/>
          </p:cNvSpPr>
          <p:nvPr>
            <p:ph type="dt" sz="half" idx="10"/>
          </p:nvPr>
        </p:nvSpPr>
        <p:spPr/>
        <p:txBody>
          <a:bodyPr/>
          <a:lstStyle/>
          <a:p>
            <a:fld id="{23C8E2DE-CE3F-42A9-A718-5D3D4BD14CF9}" type="datetimeFigureOut">
              <a:rPr lang="en-US" smtClean="0"/>
              <a:t>4/18/2026</a:t>
            </a:fld>
            <a:endParaRPr lang="en-US" dirty="0"/>
          </a:p>
        </p:txBody>
      </p:sp>
      <p:sp>
        <p:nvSpPr>
          <p:cNvPr id="5" name="Footer Placeholder 4">
            <a:extLst>
              <a:ext uri="{FF2B5EF4-FFF2-40B4-BE49-F238E27FC236}">
                <a16:creationId xmlns:a16="http://schemas.microsoft.com/office/drawing/2014/main" id="{3494CCC1-A424-4978-9841-EB9602D2E85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7A14FEB-E652-44FC-9C5B-FECBE8B52B5E}"/>
              </a:ext>
            </a:extLst>
          </p:cNvPr>
          <p:cNvSpPr>
            <a:spLocks noGrp="1"/>
          </p:cNvSpPr>
          <p:nvPr>
            <p:ph type="sldNum" sz="quarter" idx="12"/>
          </p:nvPr>
        </p:nvSpPr>
        <p:spPr/>
        <p:txBody>
          <a:bodyPr/>
          <a:lstStyle/>
          <a:p>
            <a:fld id="{121F9196-C982-4B01-9384-55A88EC11B89}" type="slidenum">
              <a:rPr lang="en-US" smtClean="0"/>
              <a:t>‹#›</a:t>
            </a:fld>
            <a:endParaRPr lang="en-US" dirty="0"/>
          </a:p>
        </p:txBody>
      </p:sp>
    </p:spTree>
    <p:extLst>
      <p:ext uri="{BB962C8B-B14F-4D97-AF65-F5344CB8AC3E}">
        <p14:creationId xmlns:p14="http://schemas.microsoft.com/office/powerpoint/2010/main" val="32908818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C5602-0161-4F8D-957A-45EE83D7B0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96B2A90-7E94-434C-926A-09169D4FA165}"/>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59FBC6B-BDAE-4D75-BA86-22B6B3BE3B6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5ABFFE1-FEF2-426E-A327-4105801B9BBB}"/>
              </a:ext>
            </a:extLst>
          </p:cNvPr>
          <p:cNvSpPr>
            <a:spLocks noGrp="1"/>
          </p:cNvSpPr>
          <p:nvPr>
            <p:ph type="dt" sz="half" idx="10"/>
          </p:nvPr>
        </p:nvSpPr>
        <p:spPr/>
        <p:txBody>
          <a:bodyPr/>
          <a:lstStyle/>
          <a:p>
            <a:fld id="{23C8E2DE-CE3F-42A9-A718-5D3D4BD14CF9}" type="datetimeFigureOut">
              <a:rPr lang="en-US" smtClean="0"/>
              <a:t>4/18/2026</a:t>
            </a:fld>
            <a:endParaRPr lang="en-US" dirty="0"/>
          </a:p>
        </p:txBody>
      </p:sp>
      <p:sp>
        <p:nvSpPr>
          <p:cNvPr id="6" name="Footer Placeholder 5">
            <a:extLst>
              <a:ext uri="{FF2B5EF4-FFF2-40B4-BE49-F238E27FC236}">
                <a16:creationId xmlns:a16="http://schemas.microsoft.com/office/drawing/2014/main" id="{0C31D291-F1EE-4E45-B02D-6DD10019D8E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3E94295-99FA-4D50-B585-5320493B89D1}"/>
              </a:ext>
            </a:extLst>
          </p:cNvPr>
          <p:cNvSpPr>
            <a:spLocks noGrp="1"/>
          </p:cNvSpPr>
          <p:nvPr>
            <p:ph type="sldNum" sz="quarter" idx="12"/>
          </p:nvPr>
        </p:nvSpPr>
        <p:spPr/>
        <p:txBody>
          <a:bodyPr/>
          <a:lstStyle/>
          <a:p>
            <a:fld id="{121F9196-C982-4B01-9384-55A88EC11B89}" type="slidenum">
              <a:rPr lang="en-US" smtClean="0"/>
              <a:t>‹#›</a:t>
            </a:fld>
            <a:endParaRPr lang="en-US" dirty="0"/>
          </a:p>
        </p:txBody>
      </p:sp>
    </p:spTree>
    <p:extLst>
      <p:ext uri="{BB962C8B-B14F-4D97-AF65-F5344CB8AC3E}">
        <p14:creationId xmlns:p14="http://schemas.microsoft.com/office/powerpoint/2010/main" val="23084337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2B6D7-EF14-41C4-9166-F400A1A2378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8BB258E-E2F4-48F3-8B49-6B6C02940D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578DA910-AB9F-4563-9E92-1EAB2D8AC87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E514051-9B91-431E-93D2-36411FBD79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25FBDACD-DA1F-4F0A-BC13-601B5F466BAA}"/>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E8B32BB-D088-4B04-AC8A-894B95D69F93}"/>
              </a:ext>
            </a:extLst>
          </p:cNvPr>
          <p:cNvSpPr>
            <a:spLocks noGrp="1"/>
          </p:cNvSpPr>
          <p:nvPr>
            <p:ph type="dt" sz="half" idx="10"/>
          </p:nvPr>
        </p:nvSpPr>
        <p:spPr/>
        <p:txBody>
          <a:bodyPr/>
          <a:lstStyle/>
          <a:p>
            <a:fld id="{23C8E2DE-CE3F-42A9-A718-5D3D4BD14CF9}" type="datetimeFigureOut">
              <a:rPr lang="en-US" smtClean="0"/>
              <a:t>4/18/2026</a:t>
            </a:fld>
            <a:endParaRPr lang="en-US" dirty="0"/>
          </a:p>
        </p:txBody>
      </p:sp>
      <p:sp>
        <p:nvSpPr>
          <p:cNvPr id="8" name="Footer Placeholder 7">
            <a:extLst>
              <a:ext uri="{FF2B5EF4-FFF2-40B4-BE49-F238E27FC236}">
                <a16:creationId xmlns:a16="http://schemas.microsoft.com/office/drawing/2014/main" id="{2C67AA9B-BB1B-41EC-B017-B611D659DEF1}"/>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5380C96-99E0-46EB-8757-A2F2B5EDD49B}"/>
              </a:ext>
            </a:extLst>
          </p:cNvPr>
          <p:cNvSpPr>
            <a:spLocks noGrp="1"/>
          </p:cNvSpPr>
          <p:nvPr>
            <p:ph type="sldNum" sz="quarter" idx="12"/>
          </p:nvPr>
        </p:nvSpPr>
        <p:spPr/>
        <p:txBody>
          <a:bodyPr/>
          <a:lstStyle/>
          <a:p>
            <a:fld id="{121F9196-C982-4B01-9384-55A88EC11B89}" type="slidenum">
              <a:rPr lang="en-US" smtClean="0"/>
              <a:t>‹#›</a:t>
            </a:fld>
            <a:endParaRPr lang="en-US" dirty="0"/>
          </a:p>
        </p:txBody>
      </p:sp>
    </p:spTree>
    <p:extLst>
      <p:ext uri="{BB962C8B-B14F-4D97-AF65-F5344CB8AC3E}">
        <p14:creationId xmlns:p14="http://schemas.microsoft.com/office/powerpoint/2010/main" val="2829264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1119F-109A-49B2-97D0-EC24B082CBC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EEDA2FD-94E5-439A-A826-BE6D322391B3}"/>
              </a:ext>
            </a:extLst>
          </p:cNvPr>
          <p:cNvSpPr>
            <a:spLocks noGrp="1"/>
          </p:cNvSpPr>
          <p:nvPr>
            <p:ph type="dt" sz="half" idx="10"/>
          </p:nvPr>
        </p:nvSpPr>
        <p:spPr/>
        <p:txBody>
          <a:bodyPr/>
          <a:lstStyle/>
          <a:p>
            <a:fld id="{23C8E2DE-CE3F-42A9-A718-5D3D4BD14CF9}" type="datetimeFigureOut">
              <a:rPr lang="en-US" smtClean="0"/>
              <a:t>4/18/2026</a:t>
            </a:fld>
            <a:endParaRPr lang="en-US" dirty="0"/>
          </a:p>
        </p:txBody>
      </p:sp>
      <p:sp>
        <p:nvSpPr>
          <p:cNvPr id="4" name="Footer Placeholder 3">
            <a:extLst>
              <a:ext uri="{FF2B5EF4-FFF2-40B4-BE49-F238E27FC236}">
                <a16:creationId xmlns:a16="http://schemas.microsoft.com/office/drawing/2014/main" id="{B552724A-468A-471D-9AAC-B11844D9F88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2D821233-5DBF-4360-B366-A7AB99913BDF}"/>
              </a:ext>
            </a:extLst>
          </p:cNvPr>
          <p:cNvSpPr>
            <a:spLocks noGrp="1"/>
          </p:cNvSpPr>
          <p:nvPr>
            <p:ph type="sldNum" sz="quarter" idx="12"/>
          </p:nvPr>
        </p:nvSpPr>
        <p:spPr/>
        <p:txBody>
          <a:bodyPr/>
          <a:lstStyle/>
          <a:p>
            <a:fld id="{121F9196-C982-4B01-9384-55A88EC11B89}" type="slidenum">
              <a:rPr lang="en-US" smtClean="0"/>
              <a:t>‹#›</a:t>
            </a:fld>
            <a:endParaRPr lang="en-US" dirty="0"/>
          </a:p>
        </p:txBody>
      </p:sp>
    </p:spTree>
    <p:extLst>
      <p:ext uri="{BB962C8B-B14F-4D97-AF65-F5344CB8AC3E}">
        <p14:creationId xmlns:p14="http://schemas.microsoft.com/office/powerpoint/2010/main" val="15614832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38AE49-B25D-448F-BF58-E805680A5ED3}"/>
              </a:ext>
            </a:extLst>
          </p:cNvPr>
          <p:cNvSpPr>
            <a:spLocks noGrp="1"/>
          </p:cNvSpPr>
          <p:nvPr>
            <p:ph type="dt" sz="half" idx="10"/>
          </p:nvPr>
        </p:nvSpPr>
        <p:spPr/>
        <p:txBody>
          <a:bodyPr/>
          <a:lstStyle/>
          <a:p>
            <a:fld id="{23C8E2DE-CE3F-42A9-A718-5D3D4BD14CF9}" type="datetimeFigureOut">
              <a:rPr lang="en-US" smtClean="0"/>
              <a:t>4/18/2026</a:t>
            </a:fld>
            <a:endParaRPr lang="en-US" dirty="0"/>
          </a:p>
        </p:txBody>
      </p:sp>
      <p:sp>
        <p:nvSpPr>
          <p:cNvPr id="3" name="Footer Placeholder 2">
            <a:extLst>
              <a:ext uri="{FF2B5EF4-FFF2-40B4-BE49-F238E27FC236}">
                <a16:creationId xmlns:a16="http://schemas.microsoft.com/office/drawing/2014/main" id="{09528DB6-0309-4C53-B37C-8FE328CDACF1}"/>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DDF50FE5-048C-475E-B3AD-E28D718CC0D2}"/>
              </a:ext>
            </a:extLst>
          </p:cNvPr>
          <p:cNvSpPr>
            <a:spLocks noGrp="1"/>
          </p:cNvSpPr>
          <p:nvPr>
            <p:ph type="sldNum" sz="quarter" idx="12"/>
          </p:nvPr>
        </p:nvSpPr>
        <p:spPr/>
        <p:txBody>
          <a:bodyPr/>
          <a:lstStyle/>
          <a:p>
            <a:fld id="{121F9196-C982-4B01-9384-55A88EC11B89}" type="slidenum">
              <a:rPr lang="en-US" smtClean="0"/>
              <a:t>‹#›</a:t>
            </a:fld>
            <a:endParaRPr lang="en-US" dirty="0"/>
          </a:p>
        </p:txBody>
      </p:sp>
    </p:spTree>
    <p:extLst>
      <p:ext uri="{BB962C8B-B14F-4D97-AF65-F5344CB8AC3E}">
        <p14:creationId xmlns:p14="http://schemas.microsoft.com/office/powerpoint/2010/main" val="29538775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350E3-2ADA-426E-A617-5C57B5F3E8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75BFB05-946D-495A-8852-FA3F49A542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1B6EB8E-4FF8-4B94-B18A-7BAB93F2DB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042E9CB-BCB0-46BF-B3D9-B3E6A648C280}"/>
              </a:ext>
            </a:extLst>
          </p:cNvPr>
          <p:cNvSpPr>
            <a:spLocks noGrp="1"/>
          </p:cNvSpPr>
          <p:nvPr>
            <p:ph type="dt" sz="half" idx="10"/>
          </p:nvPr>
        </p:nvSpPr>
        <p:spPr/>
        <p:txBody>
          <a:bodyPr/>
          <a:lstStyle/>
          <a:p>
            <a:fld id="{23C8E2DE-CE3F-42A9-A718-5D3D4BD14CF9}" type="datetimeFigureOut">
              <a:rPr lang="en-US" smtClean="0"/>
              <a:t>4/18/2026</a:t>
            </a:fld>
            <a:endParaRPr lang="en-US" dirty="0"/>
          </a:p>
        </p:txBody>
      </p:sp>
      <p:sp>
        <p:nvSpPr>
          <p:cNvPr id="6" name="Footer Placeholder 5">
            <a:extLst>
              <a:ext uri="{FF2B5EF4-FFF2-40B4-BE49-F238E27FC236}">
                <a16:creationId xmlns:a16="http://schemas.microsoft.com/office/drawing/2014/main" id="{8732D61C-4287-45D1-B7AA-63EAEF6FD48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1957BFD-1726-4562-9F43-5B4B33AE1742}"/>
              </a:ext>
            </a:extLst>
          </p:cNvPr>
          <p:cNvSpPr>
            <a:spLocks noGrp="1"/>
          </p:cNvSpPr>
          <p:nvPr>
            <p:ph type="sldNum" sz="quarter" idx="12"/>
          </p:nvPr>
        </p:nvSpPr>
        <p:spPr/>
        <p:txBody>
          <a:bodyPr/>
          <a:lstStyle/>
          <a:p>
            <a:fld id="{121F9196-C982-4B01-9384-55A88EC11B89}" type="slidenum">
              <a:rPr lang="en-US" smtClean="0"/>
              <a:t>‹#›</a:t>
            </a:fld>
            <a:endParaRPr lang="en-US" dirty="0"/>
          </a:p>
        </p:txBody>
      </p:sp>
    </p:spTree>
    <p:extLst>
      <p:ext uri="{BB962C8B-B14F-4D97-AF65-F5344CB8AC3E}">
        <p14:creationId xmlns:p14="http://schemas.microsoft.com/office/powerpoint/2010/main" val="9916942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CE452-8938-446A-9FAF-848FC472F5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061BDF7-42F2-4E87-898A-646E6EC982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3EABE3CA-E1A6-4186-9DAA-8EC550ED01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EF29E28-1B1D-46CA-8CE4-312CCB024BD8}"/>
              </a:ext>
            </a:extLst>
          </p:cNvPr>
          <p:cNvSpPr>
            <a:spLocks noGrp="1"/>
          </p:cNvSpPr>
          <p:nvPr>
            <p:ph type="dt" sz="half" idx="10"/>
          </p:nvPr>
        </p:nvSpPr>
        <p:spPr/>
        <p:txBody>
          <a:bodyPr/>
          <a:lstStyle/>
          <a:p>
            <a:fld id="{23C8E2DE-CE3F-42A9-A718-5D3D4BD14CF9}" type="datetimeFigureOut">
              <a:rPr lang="en-US" smtClean="0"/>
              <a:t>4/18/2026</a:t>
            </a:fld>
            <a:endParaRPr lang="en-US" dirty="0"/>
          </a:p>
        </p:txBody>
      </p:sp>
      <p:sp>
        <p:nvSpPr>
          <p:cNvPr id="6" name="Footer Placeholder 5">
            <a:extLst>
              <a:ext uri="{FF2B5EF4-FFF2-40B4-BE49-F238E27FC236}">
                <a16:creationId xmlns:a16="http://schemas.microsoft.com/office/drawing/2014/main" id="{0C15E15E-EA6D-4313-9294-E399BE5AD2F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5D51D20-D6D8-429D-A1A0-CF65920FD774}"/>
              </a:ext>
            </a:extLst>
          </p:cNvPr>
          <p:cNvSpPr>
            <a:spLocks noGrp="1"/>
          </p:cNvSpPr>
          <p:nvPr>
            <p:ph type="sldNum" sz="quarter" idx="12"/>
          </p:nvPr>
        </p:nvSpPr>
        <p:spPr/>
        <p:txBody>
          <a:bodyPr/>
          <a:lstStyle/>
          <a:p>
            <a:fld id="{121F9196-C982-4B01-9384-55A88EC11B89}" type="slidenum">
              <a:rPr lang="en-US" smtClean="0"/>
              <a:t>‹#›</a:t>
            </a:fld>
            <a:endParaRPr lang="en-US" dirty="0"/>
          </a:p>
        </p:txBody>
      </p:sp>
    </p:spTree>
    <p:extLst>
      <p:ext uri="{BB962C8B-B14F-4D97-AF65-F5344CB8AC3E}">
        <p14:creationId xmlns:p14="http://schemas.microsoft.com/office/powerpoint/2010/main" val="2444765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424B5-2AEC-403A-9C1D-73F6430AE82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5B9BF11-3C14-48AC-8050-71E391A64FF8}"/>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3EA021-B2FF-46B9-B704-9E4936885986}"/>
              </a:ext>
            </a:extLst>
          </p:cNvPr>
          <p:cNvSpPr>
            <a:spLocks noGrp="1"/>
          </p:cNvSpPr>
          <p:nvPr>
            <p:ph type="dt" sz="half" idx="10"/>
          </p:nvPr>
        </p:nvSpPr>
        <p:spPr/>
        <p:txBody>
          <a:bodyPr/>
          <a:lstStyle/>
          <a:p>
            <a:fld id="{23C8E2DE-CE3F-42A9-A718-5D3D4BD14CF9}" type="datetimeFigureOut">
              <a:rPr lang="en-US" smtClean="0"/>
              <a:t>4/18/2026</a:t>
            </a:fld>
            <a:endParaRPr lang="en-US" dirty="0"/>
          </a:p>
        </p:txBody>
      </p:sp>
      <p:sp>
        <p:nvSpPr>
          <p:cNvPr id="5" name="Footer Placeholder 4">
            <a:extLst>
              <a:ext uri="{FF2B5EF4-FFF2-40B4-BE49-F238E27FC236}">
                <a16:creationId xmlns:a16="http://schemas.microsoft.com/office/drawing/2014/main" id="{56631986-F28C-49A0-BBC7-13B57A678C2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AE3C5DE-D72C-4903-B4A4-6926E1B3FB6E}"/>
              </a:ext>
            </a:extLst>
          </p:cNvPr>
          <p:cNvSpPr>
            <a:spLocks noGrp="1"/>
          </p:cNvSpPr>
          <p:nvPr>
            <p:ph type="sldNum" sz="quarter" idx="12"/>
          </p:nvPr>
        </p:nvSpPr>
        <p:spPr/>
        <p:txBody>
          <a:bodyPr/>
          <a:lstStyle/>
          <a:p>
            <a:fld id="{121F9196-C982-4B01-9384-55A88EC11B89}" type="slidenum">
              <a:rPr lang="en-US" smtClean="0"/>
              <a:t>‹#›</a:t>
            </a:fld>
            <a:endParaRPr lang="en-US" dirty="0"/>
          </a:p>
        </p:txBody>
      </p:sp>
    </p:spTree>
    <p:extLst>
      <p:ext uri="{BB962C8B-B14F-4D97-AF65-F5344CB8AC3E}">
        <p14:creationId xmlns:p14="http://schemas.microsoft.com/office/powerpoint/2010/main" val="11633183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F5524F7-1C9F-44A2-AB3A-4D688AEF5C5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99CEE8A-B408-40D4-BE01-ADF26A0DABC5}"/>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C2D47F-EC99-4C91-B3DC-77C1A8E884A7}"/>
              </a:ext>
            </a:extLst>
          </p:cNvPr>
          <p:cNvSpPr>
            <a:spLocks noGrp="1"/>
          </p:cNvSpPr>
          <p:nvPr>
            <p:ph type="dt" sz="half" idx="10"/>
          </p:nvPr>
        </p:nvSpPr>
        <p:spPr/>
        <p:txBody>
          <a:bodyPr/>
          <a:lstStyle/>
          <a:p>
            <a:fld id="{23C8E2DE-CE3F-42A9-A718-5D3D4BD14CF9}" type="datetimeFigureOut">
              <a:rPr lang="en-US" smtClean="0"/>
              <a:t>4/18/2026</a:t>
            </a:fld>
            <a:endParaRPr lang="en-US" dirty="0"/>
          </a:p>
        </p:txBody>
      </p:sp>
      <p:sp>
        <p:nvSpPr>
          <p:cNvPr id="5" name="Footer Placeholder 4">
            <a:extLst>
              <a:ext uri="{FF2B5EF4-FFF2-40B4-BE49-F238E27FC236}">
                <a16:creationId xmlns:a16="http://schemas.microsoft.com/office/drawing/2014/main" id="{19535097-42FB-4664-9C4E-6501AEE01B5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6A0BF61-A3AA-4010-85A9-E702045E7933}"/>
              </a:ext>
            </a:extLst>
          </p:cNvPr>
          <p:cNvSpPr>
            <a:spLocks noGrp="1"/>
          </p:cNvSpPr>
          <p:nvPr>
            <p:ph type="sldNum" sz="quarter" idx="12"/>
          </p:nvPr>
        </p:nvSpPr>
        <p:spPr/>
        <p:txBody>
          <a:bodyPr/>
          <a:lstStyle/>
          <a:p>
            <a:fld id="{121F9196-C982-4B01-9384-55A88EC11B89}" type="slidenum">
              <a:rPr lang="en-US" smtClean="0"/>
              <a:t>‹#›</a:t>
            </a:fld>
            <a:endParaRPr lang="en-US" dirty="0"/>
          </a:p>
        </p:txBody>
      </p:sp>
    </p:spTree>
    <p:extLst>
      <p:ext uri="{BB962C8B-B14F-4D97-AF65-F5344CB8AC3E}">
        <p14:creationId xmlns:p14="http://schemas.microsoft.com/office/powerpoint/2010/main" val="12175005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0422024-6B26-4484-AC83-D4DC93B232E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5705136-77C7-455F-8B14-69A7E82F89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A4F51F-45FB-409B-9032-8A9E9F65B8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C8E2DE-CE3F-42A9-A718-5D3D4BD14CF9}" type="datetimeFigureOut">
              <a:rPr lang="en-US" smtClean="0"/>
              <a:t>4/18/2026</a:t>
            </a:fld>
            <a:endParaRPr lang="en-US" dirty="0"/>
          </a:p>
        </p:txBody>
      </p:sp>
      <p:sp>
        <p:nvSpPr>
          <p:cNvPr id="5" name="Footer Placeholder 4">
            <a:extLst>
              <a:ext uri="{FF2B5EF4-FFF2-40B4-BE49-F238E27FC236}">
                <a16:creationId xmlns:a16="http://schemas.microsoft.com/office/drawing/2014/main" id="{5946D231-8541-40B1-96EF-4970943E19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BA5980EE-FC7C-49EC-838D-9F4130103F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21F9196-C982-4B01-9384-55A88EC11B89}" type="slidenum">
              <a:rPr lang="en-US" smtClean="0"/>
              <a:t>‹#›</a:t>
            </a:fld>
            <a:endParaRPr lang="en-US" dirty="0"/>
          </a:p>
        </p:txBody>
      </p:sp>
    </p:spTree>
    <p:extLst>
      <p:ext uri="{BB962C8B-B14F-4D97-AF65-F5344CB8AC3E}">
        <p14:creationId xmlns:p14="http://schemas.microsoft.com/office/powerpoint/2010/main" val="29166176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A096A23-E06E-4CE3-A354-FE8577FF2858}"/>
              </a:ext>
            </a:extLst>
          </p:cNvPr>
          <p:cNvPicPr>
            <a:picLocks noChangeAspect="1"/>
          </p:cNvPicPr>
          <p:nvPr/>
        </p:nvPicPr>
        <p:blipFill rotWithShape="1">
          <a:blip r:embed="rId2"/>
          <a:srcRect l="48551" t="18823" r="2859" b="11334"/>
          <a:stretch/>
        </p:blipFill>
        <p:spPr>
          <a:xfrm>
            <a:off x="7759817" y="2754933"/>
            <a:ext cx="4038973" cy="3870351"/>
          </a:xfrm>
          <a:prstGeom prst="rect">
            <a:avLst/>
          </a:prstGeom>
        </p:spPr>
      </p:pic>
      <p:sp>
        <p:nvSpPr>
          <p:cNvPr id="2" name="Title 1">
            <a:extLst>
              <a:ext uri="{FF2B5EF4-FFF2-40B4-BE49-F238E27FC236}">
                <a16:creationId xmlns:a16="http://schemas.microsoft.com/office/drawing/2014/main" id="{C192EEAC-5E87-4F8D-BFFD-509A8A189C64}"/>
              </a:ext>
            </a:extLst>
          </p:cNvPr>
          <p:cNvSpPr>
            <a:spLocks noGrp="1"/>
          </p:cNvSpPr>
          <p:nvPr>
            <p:ph type="ctrTitle"/>
          </p:nvPr>
        </p:nvSpPr>
        <p:spPr>
          <a:xfrm>
            <a:off x="612559" y="707108"/>
            <a:ext cx="10963923" cy="2766056"/>
          </a:xfrm>
        </p:spPr>
        <p:txBody>
          <a:bodyPr>
            <a:normAutofit/>
          </a:bodyPr>
          <a:lstStyle/>
          <a:p>
            <a:r>
              <a:rPr lang="en-US" b="1" dirty="0">
                <a:latin typeface="+mn-lt"/>
              </a:rPr>
              <a:t>CS 703 Applied Data Science Project</a:t>
            </a:r>
            <a:br>
              <a:rPr lang="en-US" b="1" dirty="0">
                <a:latin typeface="+mn-lt"/>
              </a:rPr>
            </a:br>
            <a:r>
              <a:rPr lang="en-US" b="1" dirty="0">
                <a:latin typeface="+mn-lt"/>
              </a:rPr>
              <a:t>Weekly Status Report</a:t>
            </a:r>
          </a:p>
        </p:txBody>
      </p:sp>
      <p:sp>
        <p:nvSpPr>
          <p:cNvPr id="3" name="Subtitle 2">
            <a:extLst>
              <a:ext uri="{FF2B5EF4-FFF2-40B4-BE49-F238E27FC236}">
                <a16:creationId xmlns:a16="http://schemas.microsoft.com/office/drawing/2014/main" id="{66A17E27-9A2B-457B-B8EF-8303126321D0}"/>
              </a:ext>
            </a:extLst>
          </p:cNvPr>
          <p:cNvSpPr>
            <a:spLocks noGrp="1"/>
          </p:cNvSpPr>
          <p:nvPr>
            <p:ph type="subTitle" idx="1"/>
          </p:nvPr>
        </p:nvSpPr>
        <p:spPr>
          <a:xfrm>
            <a:off x="3355514" y="5205112"/>
            <a:ext cx="5478011" cy="945780"/>
          </a:xfrm>
        </p:spPr>
        <p:txBody>
          <a:bodyPr>
            <a:normAutofit/>
          </a:bodyPr>
          <a:lstStyle/>
          <a:p>
            <a:r>
              <a:rPr lang="en-US" b="1" dirty="0"/>
              <a:t>Professor Nicholas Nardi</a:t>
            </a:r>
          </a:p>
          <a:p>
            <a:r>
              <a:rPr lang="en-US" b="1" dirty="0"/>
              <a:t>Spring 2026</a:t>
            </a:r>
          </a:p>
        </p:txBody>
      </p:sp>
    </p:spTree>
    <p:extLst>
      <p:ext uri="{BB962C8B-B14F-4D97-AF65-F5344CB8AC3E}">
        <p14:creationId xmlns:p14="http://schemas.microsoft.com/office/powerpoint/2010/main" val="9796362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4">
            <a:extLst>
              <a:ext uri="{FF2B5EF4-FFF2-40B4-BE49-F238E27FC236}">
                <a16:creationId xmlns:a16="http://schemas.microsoft.com/office/drawing/2014/main" id="{2B833F67-049E-4EA0-B16B-09CDE980CA72}"/>
              </a:ext>
            </a:extLst>
          </p:cNvPr>
          <p:cNvSpPr>
            <a:spLocks noGrp="1"/>
          </p:cNvSpPr>
          <p:nvPr>
            <p:ph type="sldNum" sz="quarter" idx="12"/>
          </p:nvPr>
        </p:nvSpPr>
        <p:spPr>
          <a:xfrm>
            <a:off x="7772400" y="6248400"/>
            <a:ext cx="2895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fld id="{67843107-EA24-43F0-93AA-C883E221B05F}" type="slidenum">
              <a:rPr lang="en-US" altLang="en-US" sz="1400">
                <a:latin typeface="Times New Roman" panose="02020603050405020304" pitchFamily="18" charset="0"/>
              </a:rPr>
              <a:pPr algn="ctr">
                <a:spcBef>
                  <a:spcPct val="0"/>
                </a:spcBef>
                <a:buFontTx/>
                <a:buNone/>
              </a:pPr>
              <a:t>2</a:t>
            </a:fld>
            <a:endParaRPr lang="en-US" altLang="en-US" sz="1400" dirty="0"/>
          </a:p>
        </p:txBody>
      </p:sp>
      <p:sp>
        <p:nvSpPr>
          <p:cNvPr id="10243" name="Rectangle 2">
            <a:extLst>
              <a:ext uri="{FF2B5EF4-FFF2-40B4-BE49-F238E27FC236}">
                <a16:creationId xmlns:a16="http://schemas.microsoft.com/office/drawing/2014/main" id="{5D1677E3-8C55-4E59-A951-761D50ED2C07}"/>
              </a:ext>
            </a:extLst>
          </p:cNvPr>
          <p:cNvSpPr>
            <a:spLocks noGrp="1" noChangeArrowheads="1"/>
          </p:cNvSpPr>
          <p:nvPr>
            <p:ph type="title"/>
          </p:nvPr>
        </p:nvSpPr>
        <p:spPr/>
        <p:txBody>
          <a:bodyPr/>
          <a:lstStyle/>
          <a:p>
            <a:r>
              <a:rPr lang="en-US" altLang="en-US" dirty="0"/>
              <a:t>So, What is This Status About?...</a:t>
            </a:r>
          </a:p>
        </p:txBody>
      </p:sp>
      <p:sp>
        <p:nvSpPr>
          <p:cNvPr id="10244" name="Rectangle 3">
            <a:extLst>
              <a:ext uri="{FF2B5EF4-FFF2-40B4-BE49-F238E27FC236}">
                <a16:creationId xmlns:a16="http://schemas.microsoft.com/office/drawing/2014/main" id="{19C0EEF4-B104-4D25-8EAD-B092B4058F70}"/>
              </a:ext>
            </a:extLst>
          </p:cNvPr>
          <p:cNvSpPr>
            <a:spLocks noGrp="1" noChangeArrowheads="1"/>
          </p:cNvSpPr>
          <p:nvPr>
            <p:ph type="body" idx="1"/>
          </p:nvPr>
        </p:nvSpPr>
        <p:spPr>
          <a:xfrm>
            <a:off x="599090" y="1219200"/>
            <a:ext cx="10993816" cy="4331855"/>
          </a:xfrm>
        </p:spPr>
        <p:txBody>
          <a:bodyPr>
            <a:normAutofit/>
          </a:bodyPr>
          <a:lstStyle/>
          <a:p>
            <a:pPr>
              <a:lnSpc>
                <a:spcPct val="100000"/>
              </a:lnSpc>
            </a:pPr>
            <a:r>
              <a:rPr lang="en-US" altLang="en-US" dirty="0"/>
              <a:t>In the “Real” World, </a:t>
            </a:r>
            <a:r>
              <a:rPr lang="en-US" altLang="en-US" b="1" dirty="0"/>
              <a:t>EVERY</a:t>
            </a:r>
            <a:r>
              <a:rPr lang="en-US" altLang="en-US" dirty="0"/>
              <a:t> Project is Reported on </a:t>
            </a:r>
            <a:r>
              <a:rPr lang="en-US" altLang="en-US" b="1" dirty="0"/>
              <a:t>EVERY</a:t>
            </a:r>
            <a:r>
              <a:rPr lang="en-US" altLang="en-US" dirty="0"/>
              <a:t> Week…</a:t>
            </a:r>
          </a:p>
          <a:p>
            <a:pPr>
              <a:lnSpc>
                <a:spcPct val="100000"/>
              </a:lnSpc>
            </a:pPr>
            <a:r>
              <a:rPr lang="en-US" altLang="en-US" dirty="0"/>
              <a:t>Management is Informed as to Whether the Project is On Schedule, On Budget, and If There Any Issues or Risks That Could Impact the Project in the Long or Short Term…</a:t>
            </a:r>
          </a:p>
          <a:p>
            <a:pPr>
              <a:lnSpc>
                <a:spcPct val="100000"/>
              </a:lnSpc>
            </a:pPr>
            <a:r>
              <a:rPr lang="en-US" altLang="en-US" dirty="0"/>
              <a:t>As This Class Wants to Simulate the “Real” World, You Need to Report on Your Project </a:t>
            </a:r>
            <a:r>
              <a:rPr lang="en-US" altLang="en-US" b="1" dirty="0"/>
              <a:t>EVERY</a:t>
            </a:r>
            <a:r>
              <a:rPr lang="en-US" altLang="en-US" dirty="0"/>
              <a:t> Week…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03C8C-9854-4C80-91FA-53596C056A1D}"/>
              </a:ext>
            </a:extLst>
          </p:cNvPr>
          <p:cNvSpPr>
            <a:spLocks noGrp="1"/>
          </p:cNvSpPr>
          <p:nvPr>
            <p:ph type="title"/>
          </p:nvPr>
        </p:nvSpPr>
        <p:spPr/>
        <p:txBody>
          <a:bodyPr/>
          <a:lstStyle/>
          <a:p>
            <a:r>
              <a:rPr lang="en-US" b="1" dirty="0">
                <a:latin typeface="+mn-lt"/>
              </a:rPr>
              <a:t>Ok, So How Does This Work?…</a:t>
            </a:r>
          </a:p>
        </p:txBody>
      </p:sp>
      <p:sp>
        <p:nvSpPr>
          <p:cNvPr id="3" name="Content Placeholder 2">
            <a:extLst>
              <a:ext uri="{FF2B5EF4-FFF2-40B4-BE49-F238E27FC236}">
                <a16:creationId xmlns:a16="http://schemas.microsoft.com/office/drawing/2014/main" id="{90E5CA62-8FE4-4E06-9A9B-099D2C15AC7A}"/>
              </a:ext>
            </a:extLst>
          </p:cNvPr>
          <p:cNvSpPr>
            <a:spLocks noGrp="1"/>
          </p:cNvSpPr>
          <p:nvPr>
            <p:ph idx="1"/>
          </p:nvPr>
        </p:nvSpPr>
        <p:spPr>
          <a:xfrm>
            <a:off x="599090" y="1087967"/>
            <a:ext cx="10993816" cy="4703233"/>
          </a:xfrm>
        </p:spPr>
        <p:txBody>
          <a:bodyPr>
            <a:normAutofit/>
          </a:bodyPr>
          <a:lstStyle/>
          <a:p>
            <a:pPr>
              <a:lnSpc>
                <a:spcPct val="100000"/>
              </a:lnSpc>
            </a:pPr>
            <a:r>
              <a:rPr lang="en-US" b="1" dirty="0"/>
              <a:t>EVERY</a:t>
            </a:r>
            <a:r>
              <a:rPr lang="en-US" dirty="0"/>
              <a:t> Week, You Need to Submit a </a:t>
            </a:r>
            <a:r>
              <a:rPr lang="en-US" b="1" dirty="0"/>
              <a:t>FORMAL STATUS REPORT </a:t>
            </a:r>
            <a:r>
              <a:rPr lang="en-US" dirty="0"/>
              <a:t>Detailing the Overall Status of Your Project…</a:t>
            </a:r>
          </a:p>
          <a:p>
            <a:pPr>
              <a:lnSpc>
                <a:spcPct val="100000"/>
              </a:lnSpc>
            </a:pPr>
            <a:r>
              <a:rPr lang="en-US" dirty="0"/>
              <a:t>There Will Be Two Parts to Your Weekly Status : </a:t>
            </a:r>
          </a:p>
          <a:p>
            <a:pPr lvl="1">
              <a:lnSpc>
                <a:spcPct val="100000"/>
              </a:lnSpc>
              <a:buFont typeface="Wingdings" panose="05000000000000000000" pitchFamily="2" charset="2"/>
              <a:buChar char="ü"/>
            </a:pPr>
            <a:r>
              <a:rPr lang="en-US" sz="2000" dirty="0"/>
              <a:t> </a:t>
            </a:r>
            <a:r>
              <a:rPr lang="en-US" dirty="0"/>
              <a:t>Formal Project Status…</a:t>
            </a:r>
          </a:p>
          <a:p>
            <a:pPr lvl="2">
              <a:lnSpc>
                <a:spcPct val="100000"/>
              </a:lnSpc>
              <a:buFont typeface="Wingdings" panose="05000000000000000000" pitchFamily="2" charset="2"/>
              <a:buChar char="§"/>
            </a:pPr>
            <a:r>
              <a:rPr lang="en-US" dirty="0"/>
              <a:t>Provides Insight Into Activities Completed, Activities in Progress, and Activities to Be Started…</a:t>
            </a:r>
          </a:p>
          <a:p>
            <a:pPr lvl="2">
              <a:lnSpc>
                <a:spcPct val="100000"/>
              </a:lnSpc>
              <a:buFont typeface="Wingdings" panose="05000000000000000000" pitchFamily="2" charset="2"/>
              <a:buChar char="§"/>
            </a:pPr>
            <a:r>
              <a:rPr lang="en-US" dirty="0"/>
              <a:t>Alerts Management (Me) of Any Issues or Concerns That Need to Be Addressed…</a:t>
            </a:r>
          </a:p>
          <a:p>
            <a:pPr lvl="1">
              <a:lnSpc>
                <a:spcPct val="100000"/>
              </a:lnSpc>
              <a:buFont typeface="Wingdings" panose="05000000000000000000" pitchFamily="2" charset="2"/>
              <a:buChar char="ü"/>
            </a:pPr>
            <a:r>
              <a:rPr lang="en-US" dirty="0"/>
              <a:t>Personal Reflection…</a:t>
            </a:r>
          </a:p>
          <a:p>
            <a:pPr lvl="2">
              <a:lnSpc>
                <a:spcPct val="100000"/>
              </a:lnSpc>
              <a:buFont typeface="Wingdings" panose="05000000000000000000" pitchFamily="2" charset="2"/>
              <a:buChar char="§"/>
            </a:pPr>
            <a:r>
              <a:rPr lang="en-US" dirty="0"/>
              <a:t>This is Like a Diary…It is Your </a:t>
            </a:r>
            <a:r>
              <a:rPr lang="en-US" b="1" i="1" u="sng" dirty="0"/>
              <a:t>THOUGHTS</a:t>
            </a:r>
            <a:r>
              <a:rPr lang="en-US" dirty="0"/>
              <a:t> and </a:t>
            </a:r>
            <a:r>
              <a:rPr lang="en-US" b="1" i="1" u="sng" dirty="0"/>
              <a:t>FEELINGS</a:t>
            </a:r>
            <a:r>
              <a:rPr lang="en-US" dirty="0"/>
              <a:t> on the Project and the Class, and How You Think Things Are Going…</a:t>
            </a:r>
          </a:p>
          <a:p>
            <a:pPr lvl="2">
              <a:lnSpc>
                <a:spcPct val="100000"/>
              </a:lnSpc>
              <a:buFont typeface="Wingdings" panose="05000000000000000000" pitchFamily="2" charset="2"/>
              <a:buChar char="§"/>
            </a:pPr>
            <a:r>
              <a:rPr lang="en-US" dirty="0"/>
              <a:t>It is </a:t>
            </a:r>
            <a:r>
              <a:rPr lang="en-US" b="1" i="1" u="sng" dirty="0"/>
              <a:t>NOT</a:t>
            </a:r>
            <a:r>
              <a:rPr lang="en-US" dirty="0"/>
              <a:t> a Rehash of Activities You Are Performing…Please Make Sure You Are Clear on This…</a:t>
            </a:r>
            <a:endParaRPr lang="en-US" altLang="en-US" dirty="0"/>
          </a:p>
        </p:txBody>
      </p:sp>
    </p:spTree>
    <p:extLst>
      <p:ext uri="{BB962C8B-B14F-4D97-AF65-F5344CB8AC3E}">
        <p14:creationId xmlns:p14="http://schemas.microsoft.com/office/powerpoint/2010/main" val="13651575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03C8C-9854-4C80-91FA-53596C056A1D}"/>
              </a:ext>
            </a:extLst>
          </p:cNvPr>
          <p:cNvSpPr>
            <a:spLocks noGrp="1"/>
          </p:cNvSpPr>
          <p:nvPr>
            <p:ph type="title"/>
          </p:nvPr>
        </p:nvSpPr>
        <p:spPr/>
        <p:txBody>
          <a:bodyPr/>
          <a:lstStyle/>
          <a:p>
            <a:r>
              <a:rPr lang="en-US" b="1" dirty="0">
                <a:latin typeface="+mn-lt"/>
              </a:rPr>
              <a:t>Let’s Take This a Slide at a Time…</a:t>
            </a:r>
          </a:p>
        </p:txBody>
      </p:sp>
      <p:sp>
        <p:nvSpPr>
          <p:cNvPr id="3" name="Content Placeholder 2">
            <a:extLst>
              <a:ext uri="{FF2B5EF4-FFF2-40B4-BE49-F238E27FC236}">
                <a16:creationId xmlns:a16="http://schemas.microsoft.com/office/drawing/2014/main" id="{90E5CA62-8FE4-4E06-9A9B-099D2C15AC7A}"/>
              </a:ext>
            </a:extLst>
          </p:cNvPr>
          <p:cNvSpPr>
            <a:spLocks noGrp="1"/>
          </p:cNvSpPr>
          <p:nvPr>
            <p:ph idx="1"/>
          </p:nvPr>
        </p:nvSpPr>
        <p:spPr>
          <a:xfrm>
            <a:off x="599090" y="1176867"/>
            <a:ext cx="10993816" cy="4614333"/>
          </a:xfrm>
        </p:spPr>
        <p:txBody>
          <a:bodyPr>
            <a:normAutofit/>
          </a:bodyPr>
          <a:lstStyle/>
          <a:p>
            <a:pPr>
              <a:lnSpc>
                <a:spcPct val="120000"/>
              </a:lnSpc>
            </a:pPr>
            <a:r>
              <a:rPr lang="en-US" sz="2400" dirty="0"/>
              <a:t>The Following Slides Discuss What Should Be Included on Each Slide of Your Status…</a:t>
            </a:r>
          </a:p>
          <a:p>
            <a:pPr>
              <a:lnSpc>
                <a:spcPct val="120000"/>
              </a:lnSpc>
            </a:pPr>
            <a:r>
              <a:rPr lang="en-US" sz="2400" dirty="0"/>
              <a:t>At the End of Those Slides is a Complete Sample Status Report…</a:t>
            </a:r>
          </a:p>
          <a:p>
            <a:pPr>
              <a:lnSpc>
                <a:spcPct val="120000"/>
              </a:lnSpc>
            </a:pPr>
            <a:r>
              <a:rPr lang="en-US" altLang="en-US" sz="2400" b="1" dirty="0">
                <a:ea typeface="ＭＳ Ｐゴシック" panose="020B0600070205080204" pitchFamily="34" charset="-128"/>
              </a:rPr>
              <a:t>IF ANYTHING DOES NOT MAKE SENSE, MAKE SURE YOU ASK</a:t>
            </a:r>
            <a:r>
              <a:rPr lang="en-US" altLang="en-US" sz="2400" dirty="0">
                <a:ea typeface="ＭＳ Ｐゴシック" panose="020B0600070205080204" pitchFamily="34" charset="-128"/>
              </a:rPr>
              <a:t>…</a:t>
            </a:r>
            <a:endParaRPr lang="en-US" altLang="en-US" sz="3200" dirty="0">
              <a:ea typeface="ＭＳ Ｐゴシック" panose="020B0600070205080204" pitchFamily="34" charset="-128"/>
            </a:endParaRPr>
          </a:p>
        </p:txBody>
      </p:sp>
    </p:spTree>
    <p:extLst>
      <p:ext uri="{BB962C8B-B14F-4D97-AF65-F5344CB8AC3E}">
        <p14:creationId xmlns:p14="http://schemas.microsoft.com/office/powerpoint/2010/main" val="2154293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60C92-3E93-702C-309C-B96B65299496}"/>
              </a:ext>
            </a:extLst>
          </p:cNvPr>
          <p:cNvSpPr>
            <a:spLocks noGrp="1"/>
          </p:cNvSpPr>
          <p:nvPr>
            <p:ph type="title"/>
          </p:nvPr>
        </p:nvSpPr>
        <p:spPr/>
        <p:txBody>
          <a:bodyPr/>
          <a:lstStyle/>
          <a:p>
            <a:r>
              <a:rPr lang="en-US" dirty="0"/>
              <a:t>Title Slide…</a:t>
            </a:r>
          </a:p>
        </p:txBody>
      </p:sp>
      <p:sp>
        <p:nvSpPr>
          <p:cNvPr id="3" name="Content Placeholder 2">
            <a:extLst>
              <a:ext uri="{FF2B5EF4-FFF2-40B4-BE49-F238E27FC236}">
                <a16:creationId xmlns:a16="http://schemas.microsoft.com/office/drawing/2014/main" id="{C49A5BF8-F8C6-D027-D44B-25383C43E3A5}"/>
              </a:ext>
            </a:extLst>
          </p:cNvPr>
          <p:cNvSpPr>
            <a:spLocks noGrp="1"/>
          </p:cNvSpPr>
          <p:nvPr>
            <p:ph idx="1"/>
          </p:nvPr>
        </p:nvSpPr>
        <p:spPr>
          <a:xfrm>
            <a:off x="586390" y="1124607"/>
            <a:ext cx="10993816" cy="4538773"/>
          </a:xfrm>
        </p:spPr>
        <p:txBody>
          <a:bodyPr>
            <a:normAutofit/>
          </a:bodyPr>
          <a:lstStyle/>
          <a:p>
            <a:pPr>
              <a:lnSpc>
                <a:spcPct val="100000"/>
              </a:lnSpc>
            </a:pPr>
            <a:r>
              <a:rPr lang="en-US" sz="3600" dirty="0"/>
              <a:t>Contains :</a:t>
            </a:r>
          </a:p>
          <a:p>
            <a:pPr lvl="1">
              <a:lnSpc>
                <a:spcPct val="100000"/>
              </a:lnSpc>
              <a:buFont typeface="Wingdings" panose="05000000000000000000" pitchFamily="2" charset="2"/>
              <a:buChar char="§"/>
            </a:pPr>
            <a:r>
              <a:rPr lang="en-US" sz="3200" dirty="0"/>
              <a:t>Name of the Project…</a:t>
            </a:r>
          </a:p>
          <a:p>
            <a:pPr lvl="1">
              <a:lnSpc>
                <a:spcPct val="100000"/>
              </a:lnSpc>
              <a:buFont typeface="Wingdings" panose="05000000000000000000" pitchFamily="2" charset="2"/>
              <a:buChar char="§"/>
            </a:pPr>
            <a:r>
              <a:rPr lang="en-US" sz="3200" dirty="0"/>
              <a:t>Week Ending Date…</a:t>
            </a:r>
          </a:p>
          <a:p>
            <a:pPr lvl="2">
              <a:lnSpc>
                <a:spcPct val="100000"/>
              </a:lnSpc>
              <a:buFont typeface="Wingdings" panose="05000000000000000000" pitchFamily="2" charset="2"/>
              <a:buChar char="§"/>
            </a:pPr>
            <a:r>
              <a:rPr lang="en-US" sz="2800" b="1" dirty="0"/>
              <a:t>Note</a:t>
            </a:r>
            <a:r>
              <a:rPr lang="en-US" sz="2800" dirty="0"/>
              <a:t> : the </a:t>
            </a:r>
            <a:r>
              <a:rPr lang="en-US" sz="2800" b="1" u="sng" dirty="0"/>
              <a:t>Project Week</a:t>
            </a:r>
            <a:r>
              <a:rPr lang="en-US" sz="2800" u="sng" dirty="0"/>
              <a:t> </a:t>
            </a:r>
            <a:r>
              <a:rPr lang="en-US" sz="2800" dirty="0"/>
              <a:t>Always Ends on a Friday…</a:t>
            </a:r>
          </a:p>
          <a:p>
            <a:pPr lvl="1">
              <a:lnSpc>
                <a:spcPct val="100000"/>
              </a:lnSpc>
              <a:buFont typeface="Wingdings" panose="05000000000000000000" pitchFamily="2" charset="2"/>
              <a:buChar char="§"/>
            </a:pPr>
            <a:r>
              <a:rPr lang="en-US" sz="3200" dirty="0"/>
              <a:t>Your Name…</a:t>
            </a:r>
          </a:p>
          <a:p>
            <a:pPr lvl="1">
              <a:lnSpc>
                <a:spcPct val="100000"/>
              </a:lnSpc>
              <a:buFont typeface="Wingdings" panose="05000000000000000000" pitchFamily="2" charset="2"/>
              <a:buChar char="§"/>
            </a:pPr>
            <a:r>
              <a:rPr lang="en-US" sz="3200" dirty="0"/>
              <a:t>Status Submit Date…This is Typically a Saturday…</a:t>
            </a:r>
          </a:p>
          <a:p>
            <a:pPr lvl="2">
              <a:lnSpc>
                <a:spcPct val="100000"/>
              </a:lnSpc>
              <a:buFont typeface="Wingdings" panose="05000000000000000000" pitchFamily="2" charset="2"/>
              <a:buChar char="§"/>
            </a:pPr>
            <a:r>
              <a:rPr lang="en-US" sz="2800" dirty="0"/>
              <a:t>If You Submit Your Status Late, the Submit Date Should Reflect That…</a:t>
            </a:r>
          </a:p>
        </p:txBody>
      </p:sp>
    </p:spTree>
    <p:extLst>
      <p:ext uri="{BB962C8B-B14F-4D97-AF65-F5344CB8AC3E}">
        <p14:creationId xmlns:p14="http://schemas.microsoft.com/office/powerpoint/2010/main" val="485222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A8F94C7-F7E1-1E26-2B28-91F9378F91F9}"/>
              </a:ext>
            </a:extLst>
          </p:cNvPr>
          <p:cNvSpPr>
            <a:spLocks noGrp="1"/>
          </p:cNvSpPr>
          <p:nvPr>
            <p:ph type="ctrTitle"/>
          </p:nvPr>
        </p:nvSpPr>
        <p:spPr>
          <a:xfrm>
            <a:off x="629669" y="661481"/>
            <a:ext cx="10976499" cy="5155659"/>
          </a:xfrm>
        </p:spPr>
        <p:txBody>
          <a:bodyPr>
            <a:normAutofit/>
          </a:bodyPr>
          <a:lstStyle/>
          <a:p>
            <a:r>
              <a:rPr lang="en-US" sz="5400" b="1" dirty="0">
                <a:latin typeface="+mn-lt"/>
              </a:rPr>
              <a:t>Education Analysis</a:t>
            </a:r>
            <a:br>
              <a:rPr lang="en-US" sz="5400" b="1" dirty="0">
                <a:latin typeface="+mn-lt"/>
              </a:rPr>
            </a:br>
            <a:r>
              <a:rPr lang="en-US" sz="5400" b="1" dirty="0">
                <a:latin typeface="+mn-lt"/>
              </a:rPr>
              <a:t>Status Report</a:t>
            </a:r>
            <a:br>
              <a:rPr lang="en-US" sz="5400" b="1" dirty="0">
                <a:latin typeface="+mn-lt"/>
              </a:rPr>
            </a:br>
            <a:r>
              <a:rPr lang="en-US" sz="4000" b="1" dirty="0">
                <a:latin typeface="+mn-lt"/>
              </a:rPr>
              <a:t>Week Ending May 8, 2026</a:t>
            </a:r>
            <a:br>
              <a:rPr lang="en-US" sz="4000" b="1" dirty="0">
                <a:latin typeface="+mn-lt"/>
              </a:rPr>
            </a:br>
            <a:br>
              <a:rPr lang="en-US" sz="4000" b="1" dirty="0">
                <a:latin typeface="+mn-lt"/>
              </a:rPr>
            </a:br>
            <a:br>
              <a:rPr lang="en-US" sz="4000" b="1" dirty="0">
                <a:latin typeface="+mn-lt"/>
              </a:rPr>
            </a:br>
            <a:r>
              <a:rPr lang="en-US" sz="4000" b="1" dirty="0">
                <a:latin typeface="+mn-lt"/>
              </a:rPr>
              <a:t>                                                    </a:t>
            </a:r>
            <a:r>
              <a:rPr lang="en-US" sz="3600" b="1" dirty="0">
                <a:latin typeface="+mn-lt"/>
              </a:rPr>
              <a:t>Submitted by John Smith</a:t>
            </a:r>
            <a:br>
              <a:rPr lang="en-US" sz="3600" b="1" dirty="0">
                <a:latin typeface="+mn-lt"/>
              </a:rPr>
            </a:br>
            <a:r>
              <a:rPr lang="en-US" sz="3600" b="1" dirty="0">
                <a:latin typeface="+mn-lt"/>
              </a:rPr>
              <a:t>							May 10, 2026</a:t>
            </a:r>
            <a:endParaRPr lang="en-US" sz="4800" b="1" dirty="0">
              <a:latin typeface="+mn-lt"/>
            </a:endParaRPr>
          </a:p>
        </p:txBody>
      </p:sp>
      <p:sp>
        <p:nvSpPr>
          <p:cNvPr id="2" name="Speech Bubble: Oval 1">
            <a:extLst>
              <a:ext uri="{FF2B5EF4-FFF2-40B4-BE49-F238E27FC236}">
                <a16:creationId xmlns:a16="http://schemas.microsoft.com/office/drawing/2014/main" id="{3CEF48A6-DA9B-F6B7-4307-BD80E4015A4D}"/>
              </a:ext>
            </a:extLst>
          </p:cNvPr>
          <p:cNvSpPr/>
          <p:nvPr/>
        </p:nvSpPr>
        <p:spPr>
          <a:xfrm>
            <a:off x="409553" y="173859"/>
            <a:ext cx="2155847" cy="1210442"/>
          </a:xfrm>
          <a:prstGeom prst="wedgeEllipseCallout">
            <a:avLst>
              <a:gd name="adj1" fmla="val 82779"/>
              <a:gd name="adj2" fmla="val 76357"/>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FF0000"/>
                </a:solidFill>
              </a:rPr>
              <a:t>NAME OF PROJECT…</a:t>
            </a:r>
          </a:p>
        </p:txBody>
      </p:sp>
      <p:sp>
        <p:nvSpPr>
          <p:cNvPr id="4" name="Speech Bubble: Oval 3">
            <a:extLst>
              <a:ext uri="{FF2B5EF4-FFF2-40B4-BE49-F238E27FC236}">
                <a16:creationId xmlns:a16="http://schemas.microsoft.com/office/drawing/2014/main" id="{E245E8B8-C97B-1B78-D6A0-014604B31C53}"/>
              </a:ext>
            </a:extLst>
          </p:cNvPr>
          <p:cNvSpPr/>
          <p:nvPr/>
        </p:nvSpPr>
        <p:spPr>
          <a:xfrm>
            <a:off x="1165123" y="3831167"/>
            <a:ext cx="3450537" cy="1485900"/>
          </a:xfrm>
          <a:prstGeom prst="wedgeEllipseCallout">
            <a:avLst>
              <a:gd name="adj1" fmla="val 95144"/>
              <a:gd name="adj2" fmla="val -60694"/>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FF0000"/>
                </a:solidFill>
              </a:rPr>
              <a:t>WEEK ENDING DATE – This is Always a </a:t>
            </a:r>
            <a:r>
              <a:rPr lang="en-US" sz="2000" b="1" u="sng" dirty="0">
                <a:solidFill>
                  <a:srgbClr val="FF0000"/>
                </a:solidFill>
              </a:rPr>
              <a:t>Friday</a:t>
            </a:r>
            <a:r>
              <a:rPr lang="en-US" sz="2000" dirty="0">
                <a:solidFill>
                  <a:srgbClr val="FF0000"/>
                </a:solidFill>
              </a:rPr>
              <a:t> Date…</a:t>
            </a:r>
          </a:p>
        </p:txBody>
      </p:sp>
      <p:sp>
        <p:nvSpPr>
          <p:cNvPr id="7" name="Speech Bubble: Oval 6">
            <a:extLst>
              <a:ext uri="{FF2B5EF4-FFF2-40B4-BE49-F238E27FC236}">
                <a16:creationId xmlns:a16="http://schemas.microsoft.com/office/drawing/2014/main" id="{B58E275D-135C-B41E-FB3A-5207640784F9}"/>
              </a:ext>
            </a:extLst>
          </p:cNvPr>
          <p:cNvSpPr/>
          <p:nvPr/>
        </p:nvSpPr>
        <p:spPr>
          <a:xfrm>
            <a:off x="9849887" y="3116544"/>
            <a:ext cx="2155847" cy="1210442"/>
          </a:xfrm>
          <a:prstGeom prst="wedgeEllipseCallout">
            <a:avLst>
              <a:gd name="adj1" fmla="val -38777"/>
              <a:gd name="adj2" fmla="val 80949"/>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FF0000"/>
                </a:solidFill>
              </a:rPr>
              <a:t>YOUR NAME</a:t>
            </a:r>
          </a:p>
        </p:txBody>
      </p:sp>
      <p:sp>
        <p:nvSpPr>
          <p:cNvPr id="9" name="Speech Bubble: Oval 8">
            <a:extLst>
              <a:ext uri="{FF2B5EF4-FFF2-40B4-BE49-F238E27FC236}">
                <a16:creationId xmlns:a16="http://schemas.microsoft.com/office/drawing/2014/main" id="{61454219-4D69-A02E-7420-AE439204E846}"/>
              </a:ext>
            </a:extLst>
          </p:cNvPr>
          <p:cNvSpPr/>
          <p:nvPr/>
        </p:nvSpPr>
        <p:spPr>
          <a:xfrm>
            <a:off x="4395020" y="5317067"/>
            <a:ext cx="2543412" cy="1418560"/>
          </a:xfrm>
          <a:prstGeom prst="wedgeEllipseCallout">
            <a:avLst>
              <a:gd name="adj1" fmla="val 86108"/>
              <a:gd name="adj2" fmla="val -32005"/>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FF0000"/>
                </a:solidFill>
              </a:rPr>
              <a:t>DATE STATUS WAS SUBMITTED…</a:t>
            </a:r>
          </a:p>
        </p:txBody>
      </p:sp>
    </p:spTree>
    <p:extLst>
      <p:ext uri="{BB962C8B-B14F-4D97-AF65-F5344CB8AC3E}">
        <p14:creationId xmlns:p14="http://schemas.microsoft.com/office/powerpoint/2010/main" val="4695996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 Slide…</a:t>
            </a:r>
          </a:p>
        </p:txBody>
      </p:sp>
      <p:sp>
        <p:nvSpPr>
          <p:cNvPr id="3" name="Content Placeholder 2"/>
          <p:cNvSpPr>
            <a:spLocks noGrp="1"/>
          </p:cNvSpPr>
          <p:nvPr>
            <p:ph idx="1"/>
          </p:nvPr>
        </p:nvSpPr>
        <p:spPr>
          <a:xfrm>
            <a:off x="599089" y="1166070"/>
            <a:ext cx="10993815" cy="4492303"/>
          </a:xfrm>
        </p:spPr>
        <p:txBody>
          <a:bodyPr>
            <a:normAutofit/>
          </a:bodyPr>
          <a:lstStyle/>
          <a:p>
            <a:pPr>
              <a:lnSpc>
                <a:spcPct val="100000"/>
              </a:lnSpc>
            </a:pPr>
            <a:r>
              <a:rPr lang="en-US" sz="2400" dirty="0"/>
              <a:t>Status Overview…</a:t>
            </a:r>
          </a:p>
          <a:p>
            <a:pPr>
              <a:lnSpc>
                <a:spcPct val="100000"/>
              </a:lnSpc>
            </a:pPr>
            <a:r>
              <a:rPr lang="en-US" sz="2400" dirty="0"/>
              <a:t>Items Completed This Week…</a:t>
            </a:r>
          </a:p>
          <a:p>
            <a:pPr>
              <a:lnSpc>
                <a:spcPct val="100000"/>
              </a:lnSpc>
            </a:pPr>
            <a:r>
              <a:rPr lang="en-US" sz="2400" dirty="0"/>
              <a:t>Items In Progress…</a:t>
            </a:r>
          </a:p>
          <a:p>
            <a:pPr>
              <a:lnSpc>
                <a:spcPct val="100000"/>
              </a:lnSpc>
            </a:pPr>
            <a:r>
              <a:rPr lang="en-US" sz="2400" dirty="0"/>
              <a:t>Items To Be Started…</a:t>
            </a:r>
          </a:p>
          <a:p>
            <a:pPr>
              <a:lnSpc>
                <a:spcPct val="100000"/>
              </a:lnSpc>
            </a:pPr>
            <a:r>
              <a:rPr lang="en-US" sz="2400" dirty="0"/>
              <a:t>Samples of Items Completed This Week…</a:t>
            </a:r>
          </a:p>
          <a:p>
            <a:pPr>
              <a:lnSpc>
                <a:spcPct val="100000"/>
              </a:lnSpc>
            </a:pPr>
            <a:r>
              <a:rPr lang="en-US" sz="2400" dirty="0"/>
              <a:t>Issues, Risks, Concerns…</a:t>
            </a:r>
          </a:p>
          <a:p>
            <a:pPr>
              <a:lnSpc>
                <a:spcPct val="100000"/>
              </a:lnSpc>
            </a:pPr>
            <a:r>
              <a:rPr lang="en-US" sz="2400" dirty="0"/>
              <a:t>Next Steps…</a:t>
            </a:r>
          </a:p>
          <a:p>
            <a:pPr>
              <a:lnSpc>
                <a:spcPct val="100000"/>
              </a:lnSpc>
            </a:pPr>
            <a:r>
              <a:rPr lang="en-US" sz="2400" dirty="0"/>
              <a:t>Personal Reflection…</a:t>
            </a:r>
            <a:endParaRPr lang="en-US" dirty="0"/>
          </a:p>
        </p:txBody>
      </p:sp>
      <p:sp>
        <p:nvSpPr>
          <p:cNvPr id="4" name="Speech Bubble: Oval 3">
            <a:extLst>
              <a:ext uri="{FF2B5EF4-FFF2-40B4-BE49-F238E27FC236}">
                <a16:creationId xmlns:a16="http://schemas.microsoft.com/office/drawing/2014/main" id="{E8EDA9C3-8BEA-3A61-5945-D077063CA5EB}"/>
              </a:ext>
            </a:extLst>
          </p:cNvPr>
          <p:cNvSpPr/>
          <p:nvPr/>
        </p:nvSpPr>
        <p:spPr>
          <a:xfrm>
            <a:off x="6872748" y="557047"/>
            <a:ext cx="4548785" cy="3764229"/>
          </a:xfrm>
          <a:prstGeom prst="wedgeEllipseCallout">
            <a:avLst>
              <a:gd name="adj1" fmla="val -102226"/>
              <a:gd name="adj2" fmla="val -44697"/>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FF0000"/>
                </a:solidFill>
              </a:rPr>
              <a:t>THIS IS THE </a:t>
            </a:r>
            <a:r>
              <a:rPr lang="en-US" sz="2000" b="1" i="1" u="sng" dirty="0">
                <a:solidFill>
                  <a:srgbClr val="FF0000"/>
                </a:solidFill>
              </a:rPr>
              <a:t>EXACT</a:t>
            </a:r>
            <a:r>
              <a:rPr lang="en-US" sz="2000" dirty="0">
                <a:solidFill>
                  <a:srgbClr val="FF0000"/>
                </a:solidFill>
              </a:rPr>
              <a:t> AGENDA YOU NEED TO USE…</a:t>
            </a:r>
          </a:p>
          <a:p>
            <a:pPr algn="ctr"/>
            <a:endParaRPr lang="en-US" sz="2000" dirty="0">
              <a:solidFill>
                <a:srgbClr val="FF0000"/>
              </a:solidFill>
            </a:endParaRPr>
          </a:p>
          <a:p>
            <a:pPr algn="ctr"/>
            <a:r>
              <a:rPr lang="en-US" sz="2000" dirty="0">
                <a:solidFill>
                  <a:srgbClr val="FF0000"/>
                </a:solidFill>
              </a:rPr>
              <a:t>YOUR AGENDA IS THE </a:t>
            </a:r>
            <a:r>
              <a:rPr lang="en-US" sz="2000" b="1" dirty="0">
                <a:solidFill>
                  <a:srgbClr val="FF0000"/>
                </a:solidFill>
              </a:rPr>
              <a:t>SAME</a:t>
            </a:r>
            <a:r>
              <a:rPr lang="en-US" sz="2000" dirty="0">
                <a:solidFill>
                  <a:srgbClr val="FF0000"/>
                </a:solidFill>
              </a:rPr>
              <a:t> EVERY WEEK…</a:t>
            </a:r>
          </a:p>
          <a:p>
            <a:pPr algn="ctr"/>
            <a:endParaRPr lang="en-US" sz="2000" dirty="0">
              <a:solidFill>
                <a:srgbClr val="FF0000"/>
              </a:solidFill>
            </a:endParaRPr>
          </a:p>
          <a:p>
            <a:pPr algn="ctr"/>
            <a:r>
              <a:rPr lang="en-US" sz="2000" dirty="0">
                <a:solidFill>
                  <a:srgbClr val="FF0000"/>
                </a:solidFill>
              </a:rPr>
              <a:t>YOU SHOULD SEE SOME CONTINUITY IN WHAT YOU WRITE EVERY WEEK…</a:t>
            </a:r>
          </a:p>
        </p:txBody>
      </p:sp>
      <p:sp>
        <p:nvSpPr>
          <p:cNvPr id="6" name="Speech Bubble: Oval 5">
            <a:extLst>
              <a:ext uri="{FF2B5EF4-FFF2-40B4-BE49-F238E27FC236}">
                <a16:creationId xmlns:a16="http://schemas.microsoft.com/office/drawing/2014/main" id="{CCADDA2A-D87E-616A-E9FF-74AAFDCD29FE}"/>
              </a:ext>
            </a:extLst>
          </p:cNvPr>
          <p:cNvSpPr/>
          <p:nvPr/>
        </p:nvSpPr>
        <p:spPr>
          <a:xfrm>
            <a:off x="5225846" y="4462871"/>
            <a:ext cx="2458340" cy="1838082"/>
          </a:xfrm>
          <a:prstGeom prst="wedgeEllipseCallout">
            <a:avLst>
              <a:gd name="adj1" fmla="val -86016"/>
              <a:gd name="adj2" fmla="val -63133"/>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FF0000"/>
                </a:solidFill>
              </a:rPr>
              <a:t>The Agenda </a:t>
            </a:r>
            <a:r>
              <a:rPr lang="en-US" sz="2400" b="1" u="sng" dirty="0">
                <a:solidFill>
                  <a:srgbClr val="FF0000"/>
                </a:solidFill>
              </a:rPr>
              <a:t>NEVER</a:t>
            </a:r>
            <a:r>
              <a:rPr lang="en-US" sz="2000" dirty="0">
                <a:solidFill>
                  <a:srgbClr val="FF0000"/>
                </a:solidFill>
              </a:rPr>
              <a:t> Changes…</a:t>
            </a:r>
          </a:p>
        </p:txBody>
      </p:sp>
    </p:spTree>
    <p:extLst>
      <p:ext uri="{BB962C8B-B14F-4D97-AF65-F5344CB8AC3E}">
        <p14:creationId xmlns:p14="http://schemas.microsoft.com/office/powerpoint/2010/main" val="25951269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Status Overview – Part 1…</a:t>
            </a:r>
          </a:p>
        </p:txBody>
      </p:sp>
      <p:sp>
        <p:nvSpPr>
          <p:cNvPr id="3" name="Content Placeholder 2"/>
          <p:cNvSpPr>
            <a:spLocks noGrp="1"/>
          </p:cNvSpPr>
          <p:nvPr>
            <p:ph idx="1"/>
          </p:nvPr>
        </p:nvSpPr>
        <p:spPr>
          <a:xfrm>
            <a:off x="599089" y="1124608"/>
            <a:ext cx="10993815" cy="4701005"/>
          </a:xfrm>
        </p:spPr>
        <p:txBody>
          <a:bodyPr>
            <a:normAutofit/>
          </a:bodyPr>
          <a:lstStyle/>
          <a:p>
            <a:pPr>
              <a:lnSpc>
                <a:spcPct val="100000"/>
              </a:lnSpc>
            </a:pPr>
            <a:r>
              <a:rPr lang="en-US" dirty="0"/>
              <a:t>This Slide is a </a:t>
            </a:r>
            <a:r>
              <a:rPr lang="en-US" i="1" dirty="0"/>
              <a:t>Snapshot</a:t>
            </a:r>
            <a:r>
              <a:rPr lang="en-US" dirty="0"/>
              <a:t> of the Entire Project…</a:t>
            </a:r>
          </a:p>
          <a:p>
            <a:pPr>
              <a:lnSpc>
                <a:spcPct val="100000"/>
              </a:lnSpc>
            </a:pPr>
            <a:r>
              <a:rPr lang="en-US" dirty="0"/>
              <a:t>You Should Show Your Status as Being: </a:t>
            </a:r>
          </a:p>
          <a:p>
            <a:pPr lvl="1">
              <a:lnSpc>
                <a:spcPct val="100000"/>
              </a:lnSpc>
              <a:buFont typeface="Wingdings" panose="05000000000000000000" pitchFamily="2" charset="2"/>
              <a:buChar char="ü"/>
            </a:pPr>
            <a:r>
              <a:rPr lang="en-US" dirty="0">
                <a:highlight>
                  <a:srgbClr val="00FF00"/>
                </a:highlight>
              </a:rPr>
              <a:t>GREEN</a:t>
            </a:r>
            <a:r>
              <a:rPr lang="en-US" dirty="0"/>
              <a:t> - </a:t>
            </a:r>
            <a:r>
              <a:rPr lang="en-US" b="1" i="1" dirty="0"/>
              <a:t>Project</a:t>
            </a:r>
            <a:r>
              <a:rPr lang="en-US" dirty="0"/>
              <a:t> on Plan, </a:t>
            </a:r>
            <a:r>
              <a:rPr lang="en-US" b="1" i="1" dirty="0"/>
              <a:t>Project</a:t>
            </a:r>
            <a:r>
              <a:rPr lang="en-US" dirty="0"/>
              <a:t> on Budget, No </a:t>
            </a:r>
            <a:r>
              <a:rPr lang="en-US" b="1" i="1" dirty="0"/>
              <a:t>Project</a:t>
            </a:r>
            <a:r>
              <a:rPr lang="en-US" dirty="0"/>
              <a:t> Impacting Issues…</a:t>
            </a:r>
          </a:p>
          <a:p>
            <a:pPr lvl="1">
              <a:lnSpc>
                <a:spcPct val="100000"/>
              </a:lnSpc>
              <a:buFont typeface="Wingdings" panose="05000000000000000000" pitchFamily="2" charset="2"/>
              <a:buChar char="ü"/>
            </a:pPr>
            <a:r>
              <a:rPr lang="en-US" dirty="0">
                <a:highlight>
                  <a:srgbClr val="FFFF00"/>
                </a:highlight>
              </a:rPr>
              <a:t>YELLOW</a:t>
            </a:r>
            <a:r>
              <a:rPr lang="en-US" dirty="0"/>
              <a:t> - </a:t>
            </a:r>
            <a:r>
              <a:rPr lang="en-US" b="1" i="1" dirty="0"/>
              <a:t>Project</a:t>
            </a:r>
            <a:r>
              <a:rPr lang="en-US" dirty="0"/>
              <a:t> Generally on Plan, </a:t>
            </a:r>
            <a:r>
              <a:rPr lang="en-US" b="1" i="1" dirty="0"/>
              <a:t>Project</a:t>
            </a:r>
            <a:r>
              <a:rPr lang="en-US" dirty="0"/>
              <a:t> Generally on Budget, Potential Issues Exist That Could Impact the </a:t>
            </a:r>
            <a:r>
              <a:rPr lang="en-US" b="1" i="1" dirty="0"/>
              <a:t>Project</a:t>
            </a:r>
            <a:r>
              <a:rPr lang="en-US" dirty="0"/>
              <a:t>…</a:t>
            </a:r>
          </a:p>
          <a:p>
            <a:pPr lvl="1">
              <a:lnSpc>
                <a:spcPct val="100000"/>
              </a:lnSpc>
              <a:buFont typeface="Wingdings" panose="05000000000000000000" pitchFamily="2" charset="2"/>
              <a:buChar char="ü"/>
            </a:pPr>
            <a:r>
              <a:rPr lang="en-US" dirty="0">
                <a:highlight>
                  <a:srgbClr val="FF0000"/>
                </a:highlight>
              </a:rPr>
              <a:t>RED</a:t>
            </a:r>
            <a:r>
              <a:rPr lang="en-US" dirty="0"/>
              <a:t> - Project is </a:t>
            </a:r>
            <a:r>
              <a:rPr lang="en-US" b="1" i="1" dirty="0"/>
              <a:t>NOT</a:t>
            </a:r>
            <a:r>
              <a:rPr lang="en-US" dirty="0"/>
              <a:t> on Plan, Project is </a:t>
            </a:r>
            <a:r>
              <a:rPr lang="en-US" b="1" i="1" dirty="0"/>
              <a:t>NOT</a:t>
            </a:r>
            <a:r>
              <a:rPr lang="en-US" dirty="0"/>
              <a:t> on Budget, Issues Exist That Are Impacting the Project…</a:t>
            </a:r>
          </a:p>
          <a:p>
            <a:pPr>
              <a:lnSpc>
                <a:spcPct val="100000"/>
              </a:lnSpc>
            </a:pPr>
            <a:r>
              <a:rPr lang="en-US" b="1" dirty="0"/>
              <a:t>NOTE : </a:t>
            </a:r>
            <a:r>
              <a:rPr lang="en-US" dirty="0"/>
              <a:t>If Your Project is </a:t>
            </a:r>
            <a:r>
              <a:rPr lang="en-US" b="1" u="sng" dirty="0"/>
              <a:t>NOT</a:t>
            </a:r>
            <a:r>
              <a:rPr lang="en-US" dirty="0"/>
              <a:t> Green, You Need to Include on This Slide a </a:t>
            </a:r>
            <a:r>
              <a:rPr lang="en-US" b="1" i="1" dirty="0"/>
              <a:t>SHORT</a:t>
            </a:r>
            <a:r>
              <a:rPr lang="en-US" dirty="0"/>
              <a:t> Description Explaining Why…Detailed Explanations Should Appear Later in the Status…</a:t>
            </a:r>
          </a:p>
        </p:txBody>
      </p:sp>
    </p:spTree>
    <p:extLst>
      <p:ext uri="{BB962C8B-B14F-4D97-AF65-F5344CB8AC3E}">
        <p14:creationId xmlns:p14="http://schemas.microsoft.com/office/powerpoint/2010/main" val="19635620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Status Overview – Part 2…</a:t>
            </a:r>
          </a:p>
        </p:txBody>
      </p:sp>
      <p:sp>
        <p:nvSpPr>
          <p:cNvPr id="3" name="Content Placeholder 2"/>
          <p:cNvSpPr>
            <a:spLocks noGrp="1"/>
          </p:cNvSpPr>
          <p:nvPr>
            <p:ph idx="1"/>
          </p:nvPr>
        </p:nvSpPr>
        <p:spPr>
          <a:xfrm>
            <a:off x="599089" y="1124608"/>
            <a:ext cx="11057414" cy="4465031"/>
          </a:xfrm>
        </p:spPr>
        <p:txBody>
          <a:bodyPr>
            <a:normAutofit/>
          </a:bodyPr>
          <a:lstStyle/>
          <a:p>
            <a:pPr>
              <a:lnSpc>
                <a:spcPct val="100000"/>
              </a:lnSpc>
            </a:pPr>
            <a:r>
              <a:rPr lang="en-US" dirty="0"/>
              <a:t>Show MAJOR Items Completed (i.e., “Data Analysis Completed”)…</a:t>
            </a:r>
          </a:p>
          <a:p>
            <a:pPr>
              <a:lnSpc>
                <a:spcPct val="100000"/>
              </a:lnSpc>
            </a:pPr>
            <a:r>
              <a:rPr lang="en-US" dirty="0"/>
              <a:t>Do </a:t>
            </a:r>
            <a:r>
              <a:rPr lang="en-US" b="1" i="1" dirty="0"/>
              <a:t>NOT</a:t>
            </a:r>
            <a:r>
              <a:rPr lang="en-US" dirty="0"/>
              <a:t> Show the Detail Behind the Item Completed (i.e., “Uploaded Tables”, “Cleaned Keys”, etc.)…</a:t>
            </a:r>
          </a:p>
          <a:p>
            <a:pPr>
              <a:lnSpc>
                <a:spcPct val="100000"/>
              </a:lnSpc>
            </a:pPr>
            <a:r>
              <a:rPr lang="en-US" dirty="0"/>
              <a:t>You Can Also Clip a Snapshot of Your Project Plan to Show Your Progress…</a:t>
            </a:r>
          </a:p>
          <a:p>
            <a:pPr>
              <a:lnSpc>
                <a:spcPct val="100000"/>
              </a:lnSpc>
            </a:pPr>
            <a:r>
              <a:rPr lang="en-US" dirty="0"/>
              <a:t>Be Sure to Show </a:t>
            </a:r>
            <a:r>
              <a:rPr lang="en-US" b="1" i="1" u="sng" dirty="0"/>
              <a:t>Original/Revised/Actual Start/End Dates </a:t>
            </a:r>
            <a:r>
              <a:rPr lang="en-US" dirty="0"/>
              <a:t>for All Major Milestones…</a:t>
            </a:r>
          </a:p>
          <a:p>
            <a:pPr>
              <a:lnSpc>
                <a:spcPct val="100000"/>
              </a:lnSpc>
            </a:pPr>
            <a:r>
              <a:rPr lang="en-US" b="1" dirty="0"/>
              <a:t>IMPORTANT NOTE: </a:t>
            </a:r>
            <a:r>
              <a:rPr lang="en-US" b="1" u="sng" dirty="0"/>
              <a:t>EVERY</a:t>
            </a:r>
            <a:r>
              <a:rPr lang="en-US" b="1" dirty="0"/>
              <a:t> Task in This Status </a:t>
            </a:r>
            <a:r>
              <a:rPr lang="en-US" b="1" u="sng" dirty="0"/>
              <a:t>MUST</a:t>
            </a:r>
            <a:r>
              <a:rPr lang="en-US" b="1" dirty="0"/>
              <a:t> Have an ORIGINAL/REVISE/ACTUAL Start and End Date…</a:t>
            </a:r>
            <a:endParaRPr lang="en-US" dirty="0"/>
          </a:p>
        </p:txBody>
      </p:sp>
    </p:spTree>
    <p:extLst>
      <p:ext uri="{BB962C8B-B14F-4D97-AF65-F5344CB8AC3E}">
        <p14:creationId xmlns:p14="http://schemas.microsoft.com/office/powerpoint/2010/main" val="34002606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Status Overview…</a:t>
            </a:r>
          </a:p>
        </p:txBody>
      </p:sp>
      <p:sp>
        <p:nvSpPr>
          <p:cNvPr id="3" name="Content Placeholder 2"/>
          <p:cNvSpPr>
            <a:spLocks noGrp="1"/>
          </p:cNvSpPr>
          <p:nvPr>
            <p:ph idx="1"/>
          </p:nvPr>
        </p:nvSpPr>
        <p:spPr>
          <a:xfrm>
            <a:off x="599089" y="1194216"/>
            <a:ext cx="10993815" cy="4453209"/>
          </a:xfrm>
        </p:spPr>
        <p:txBody>
          <a:bodyPr>
            <a:normAutofit/>
          </a:bodyPr>
          <a:lstStyle/>
          <a:p>
            <a:pPr>
              <a:lnSpc>
                <a:spcPct val="100000"/>
              </a:lnSpc>
            </a:pPr>
            <a:r>
              <a:rPr lang="en-US" sz="2400" dirty="0"/>
              <a:t>Project Status is </a:t>
            </a:r>
            <a:r>
              <a:rPr lang="en-US" sz="2400" dirty="0">
                <a:highlight>
                  <a:srgbClr val="00FF00"/>
                </a:highlight>
              </a:rPr>
              <a:t>Green</a:t>
            </a:r>
            <a:endParaRPr lang="en-US" sz="2400" dirty="0"/>
          </a:p>
          <a:p>
            <a:pPr>
              <a:lnSpc>
                <a:spcPct val="100000"/>
              </a:lnSpc>
            </a:pPr>
            <a:r>
              <a:rPr lang="en-US" sz="2400" dirty="0"/>
              <a:t>Completed 1.0 Business Understanding</a:t>
            </a:r>
          </a:p>
          <a:p>
            <a:pPr lvl="1">
              <a:lnSpc>
                <a:spcPct val="100000"/>
              </a:lnSpc>
              <a:buFont typeface="Wingdings" panose="05000000000000000000" pitchFamily="2" charset="2"/>
              <a:buChar char="ü"/>
            </a:pPr>
            <a:r>
              <a:rPr lang="en-US" sz="2000" dirty="0"/>
              <a:t>Original Start Date : May 4, 2026, Revised Start Date : N/A, Actual Start Date : May 4, 2026</a:t>
            </a:r>
          </a:p>
          <a:p>
            <a:pPr lvl="1">
              <a:lnSpc>
                <a:spcPct val="100000"/>
              </a:lnSpc>
              <a:buFont typeface="Wingdings" panose="05000000000000000000" pitchFamily="2" charset="2"/>
              <a:buChar char="ü"/>
            </a:pPr>
            <a:r>
              <a:rPr lang="en-US" sz="2000" dirty="0"/>
              <a:t>Original End Date : May 8, 2026, Revised End Date : N/A, Actual End Date : May 9, 2026</a:t>
            </a:r>
          </a:p>
          <a:p>
            <a:pPr>
              <a:lnSpc>
                <a:spcPct val="100000"/>
              </a:lnSpc>
            </a:pPr>
            <a:r>
              <a:rPr lang="en-US" sz="2400" dirty="0"/>
              <a:t>All Items on Plan and On Budget</a:t>
            </a:r>
          </a:p>
          <a:p>
            <a:pPr>
              <a:lnSpc>
                <a:spcPct val="100000"/>
              </a:lnSpc>
            </a:pPr>
            <a:r>
              <a:rPr lang="en-US" sz="2400" dirty="0"/>
              <a:t>No Major issues</a:t>
            </a:r>
          </a:p>
        </p:txBody>
      </p:sp>
      <p:sp>
        <p:nvSpPr>
          <p:cNvPr id="5" name="Speech Bubble: Oval 4">
            <a:extLst>
              <a:ext uri="{FF2B5EF4-FFF2-40B4-BE49-F238E27FC236}">
                <a16:creationId xmlns:a16="http://schemas.microsoft.com/office/drawing/2014/main" id="{0D916D3B-9CBB-898E-3CF7-FCB2587286F5}"/>
              </a:ext>
            </a:extLst>
          </p:cNvPr>
          <p:cNvSpPr/>
          <p:nvPr/>
        </p:nvSpPr>
        <p:spPr>
          <a:xfrm>
            <a:off x="7755744" y="4279114"/>
            <a:ext cx="3837160" cy="2261052"/>
          </a:xfrm>
          <a:prstGeom prst="wedgeEllipseCallout">
            <a:avLst>
              <a:gd name="adj1" fmla="val -79832"/>
              <a:gd name="adj2" fmla="val -48673"/>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0000"/>
                </a:solidFill>
              </a:rPr>
              <a:t>NOTE</a:t>
            </a:r>
            <a:r>
              <a:rPr lang="en-US" sz="2400" dirty="0">
                <a:solidFill>
                  <a:srgbClr val="FF0000"/>
                </a:solidFill>
              </a:rPr>
              <a:t>: THIS IS A </a:t>
            </a:r>
            <a:r>
              <a:rPr lang="en-US" sz="2400" b="1" i="1" dirty="0">
                <a:solidFill>
                  <a:srgbClr val="FF0000"/>
                </a:solidFill>
              </a:rPr>
              <a:t>SAMPLE</a:t>
            </a:r>
            <a:r>
              <a:rPr lang="en-US" sz="2400" dirty="0">
                <a:solidFill>
                  <a:srgbClr val="FF0000"/>
                </a:solidFill>
              </a:rPr>
              <a:t> OF A STATUS THAT HAS </a:t>
            </a:r>
            <a:r>
              <a:rPr lang="en-US" sz="2400" b="1" u="sng" dirty="0">
                <a:solidFill>
                  <a:srgbClr val="FF0000"/>
                </a:solidFill>
              </a:rPr>
              <a:t>NO</a:t>
            </a:r>
            <a:r>
              <a:rPr lang="en-US" sz="2400" dirty="0">
                <a:solidFill>
                  <a:srgbClr val="FF0000"/>
                </a:solidFill>
              </a:rPr>
              <a:t> ISSUES…</a:t>
            </a:r>
          </a:p>
        </p:txBody>
      </p:sp>
    </p:spTree>
    <p:extLst>
      <p:ext uri="{BB962C8B-B14F-4D97-AF65-F5344CB8AC3E}">
        <p14:creationId xmlns:p14="http://schemas.microsoft.com/office/powerpoint/2010/main" val="16488349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BCA8C-E8A8-7DB3-F7B0-900005C709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110308-9A0B-1C25-9290-F92A1A753170}"/>
              </a:ext>
            </a:extLst>
          </p:cNvPr>
          <p:cNvSpPr>
            <a:spLocks noGrp="1"/>
          </p:cNvSpPr>
          <p:nvPr>
            <p:ph type="title"/>
          </p:nvPr>
        </p:nvSpPr>
        <p:spPr/>
        <p:txBody>
          <a:bodyPr/>
          <a:lstStyle/>
          <a:p>
            <a:r>
              <a:rPr lang="en-US" dirty="0"/>
              <a:t>Status Overview…</a:t>
            </a:r>
          </a:p>
        </p:txBody>
      </p:sp>
      <p:sp>
        <p:nvSpPr>
          <p:cNvPr id="3" name="Content Placeholder 2">
            <a:extLst>
              <a:ext uri="{FF2B5EF4-FFF2-40B4-BE49-F238E27FC236}">
                <a16:creationId xmlns:a16="http://schemas.microsoft.com/office/drawing/2014/main" id="{6BB604C5-4540-C4D0-9EED-022B6C8B0A60}"/>
              </a:ext>
            </a:extLst>
          </p:cNvPr>
          <p:cNvSpPr>
            <a:spLocks noGrp="1"/>
          </p:cNvSpPr>
          <p:nvPr>
            <p:ph idx="1"/>
          </p:nvPr>
        </p:nvSpPr>
        <p:spPr>
          <a:xfrm>
            <a:off x="599089" y="1194216"/>
            <a:ext cx="10993815" cy="4453209"/>
          </a:xfrm>
        </p:spPr>
        <p:txBody>
          <a:bodyPr>
            <a:normAutofit/>
          </a:bodyPr>
          <a:lstStyle/>
          <a:p>
            <a:pPr>
              <a:lnSpc>
                <a:spcPct val="100000"/>
              </a:lnSpc>
            </a:pPr>
            <a:r>
              <a:rPr lang="en-US" sz="2400" dirty="0"/>
              <a:t>Project Status is </a:t>
            </a:r>
            <a:r>
              <a:rPr lang="en-US" sz="2400" dirty="0">
                <a:highlight>
                  <a:srgbClr val="00FF00"/>
                </a:highlight>
              </a:rPr>
              <a:t>Green</a:t>
            </a:r>
            <a:endParaRPr lang="en-US" sz="2400" dirty="0"/>
          </a:p>
          <a:p>
            <a:pPr>
              <a:lnSpc>
                <a:spcPct val="100000"/>
              </a:lnSpc>
            </a:pPr>
            <a:r>
              <a:rPr lang="en-US" sz="2400" dirty="0"/>
              <a:t>Completed 1.0 Business Understanding</a:t>
            </a:r>
          </a:p>
          <a:p>
            <a:pPr lvl="1">
              <a:lnSpc>
                <a:spcPct val="100000"/>
              </a:lnSpc>
              <a:buFont typeface="Wingdings" panose="05000000000000000000" pitchFamily="2" charset="2"/>
              <a:buChar char="ü"/>
            </a:pPr>
            <a:r>
              <a:rPr lang="en-US" sz="2000" dirty="0"/>
              <a:t>Original Start Date : May 4, 2026, Revised Start Date : N/A, Actual Start Date : May 4, 2026</a:t>
            </a:r>
          </a:p>
          <a:p>
            <a:pPr lvl="1">
              <a:lnSpc>
                <a:spcPct val="100000"/>
              </a:lnSpc>
              <a:buFont typeface="Wingdings" panose="05000000000000000000" pitchFamily="2" charset="2"/>
              <a:buChar char="ü"/>
            </a:pPr>
            <a:r>
              <a:rPr lang="en-US" sz="2000" dirty="0"/>
              <a:t>Original End Date : May 8, 2026, Revised End Date : N/A, Actual End Date : May 9, 2026</a:t>
            </a:r>
          </a:p>
          <a:p>
            <a:pPr>
              <a:lnSpc>
                <a:spcPct val="100000"/>
              </a:lnSpc>
            </a:pPr>
            <a:r>
              <a:rPr lang="en-US" sz="2400" dirty="0"/>
              <a:t>All Items on Plan and On Budget</a:t>
            </a:r>
          </a:p>
          <a:p>
            <a:pPr>
              <a:lnSpc>
                <a:spcPct val="100000"/>
              </a:lnSpc>
            </a:pPr>
            <a:r>
              <a:rPr lang="en-US" sz="2400" dirty="0"/>
              <a:t>No Major issues</a:t>
            </a:r>
          </a:p>
        </p:txBody>
      </p:sp>
      <p:sp>
        <p:nvSpPr>
          <p:cNvPr id="5" name="Speech Bubble: Oval 4">
            <a:extLst>
              <a:ext uri="{FF2B5EF4-FFF2-40B4-BE49-F238E27FC236}">
                <a16:creationId xmlns:a16="http://schemas.microsoft.com/office/drawing/2014/main" id="{94F1F29C-83CC-0865-2322-74BC8EB990EC}"/>
              </a:ext>
            </a:extLst>
          </p:cNvPr>
          <p:cNvSpPr/>
          <p:nvPr/>
        </p:nvSpPr>
        <p:spPr>
          <a:xfrm>
            <a:off x="7755744" y="4279114"/>
            <a:ext cx="3837160" cy="2261052"/>
          </a:xfrm>
          <a:prstGeom prst="wedgeEllipseCallout">
            <a:avLst>
              <a:gd name="adj1" fmla="val -79832"/>
              <a:gd name="adj2" fmla="val -48673"/>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0000"/>
                </a:solidFill>
              </a:rPr>
              <a:t>NOTE</a:t>
            </a:r>
            <a:r>
              <a:rPr lang="en-US" sz="2400" dirty="0">
                <a:solidFill>
                  <a:srgbClr val="FF0000"/>
                </a:solidFill>
              </a:rPr>
              <a:t>: THIS IS A </a:t>
            </a:r>
            <a:r>
              <a:rPr lang="en-US" sz="2400" b="1" i="1" dirty="0">
                <a:solidFill>
                  <a:srgbClr val="FF0000"/>
                </a:solidFill>
              </a:rPr>
              <a:t>SAMPLE</a:t>
            </a:r>
            <a:r>
              <a:rPr lang="en-US" sz="2400" dirty="0">
                <a:solidFill>
                  <a:srgbClr val="FF0000"/>
                </a:solidFill>
              </a:rPr>
              <a:t> OF A STATUS THAT HAS </a:t>
            </a:r>
            <a:r>
              <a:rPr lang="en-US" sz="2400" b="1" u="sng" dirty="0">
                <a:solidFill>
                  <a:srgbClr val="FF0000"/>
                </a:solidFill>
              </a:rPr>
              <a:t>NO</a:t>
            </a:r>
            <a:r>
              <a:rPr lang="en-US" sz="2400" dirty="0">
                <a:solidFill>
                  <a:srgbClr val="FF0000"/>
                </a:solidFill>
              </a:rPr>
              <a:t> ISSUES…</a:t>
            </a:r>
          </a:p>
        </p:txBody>
      </p:sp>
      <p:sp>
        <p:nvSpPr>
          <p:cNvPr id="4" name="Speech Bubble: Oval 3">
            <a:extLst>
              <a:ext uri="{FF2B5EF4-FFF2-40B4-BE49-F238E27FC236}">
                <a16:creationId xmlns:a16="http://schemas.microsoft.com/office/drawing/2014/main" id="{570EEFAC-448F-CD38-6A20-47D4433EF58A}"/>
              </a:ext>
            </a:extLst>
          </p:cNvPr>
          <p:cNvSpPr/>
          <p:nvPr/>
        </p:nvSpPr>
        <p:spPr>
          <a:xfrm>
            <a:off x="7328040" y="474234"/>
            <a:ext cx="3837160" cy="1300748"/>
          </a:xfrm>
          <a:prstGeom prst="wedgeEllipseCallout">
            <a:avLst>
              <a:gd name="adj1" fmla="val -137485"/>
              <a:gd name="adj2" fmla="val 19401"/>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0000"/>
                </a:solidFill>
              </a:rPr>
              <a:t>Notice the Status Color…</a:t>
            </a:r>
          </a:p>
        </p:txBody>
      </p:sp>
    </p:spTree>
    <p:extLst>
      <p:ext uri="{BB962C8B-B14F-4D97-AF65-F5344CB8AC3E}">
        <p14:creationId xmlns:p14="http://schemas.microsoft.com/office/powerpoint/2010/main" val="35241899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C9906-CDDE-6321-61C7-378390E3FB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AADD67-0A71-DCF6-B700-9D866890490D}"/>
              </a:ext>
            </a:extLst>
          </p:cNvPr>
          <p:cNvSpPr>
            <a:spLocks noGrp="1"/>
          </p:cNvSpPr>
          <p:nvPr>
            <p:ph type="title"/>
          </p:nvPr>
        </p:nvSpPr>
        <p:spPr/>
        <p:txBody>
          <a:bodyPr/>
          <a:lstStyle/>
          <a:p>
            <a:r>
              <a:rPr lang="en-US" dirty="0"/>
              <a:t>Status Overview…</a:t>
            </a:r>
          </a:p>
        </p:txBody>
      </p:sp>
      <p:sp>
        <p:nvSpPr>
          <p:cNvPr id="3" name="Content Placeholder 2">
            <a:extLst>
              <a:ext uri="{FF2B5EF4-FFF2-40B4-BE49-F238E27FC236}">
                <a16:creationId xmlns:a16="http://schemas.microsoft.com/office/drawing/2014/main" id="{2751A6A0-0C7F-5A4C-F5FC-4299C0C045CC}"/>
              </a:ext>
            </a:extLst>
          </p:cNvPr>
          <p:cNvSpPr>
            <a:spLocks noGrp="1"/>
          </p:cNvSpPr>
          <p:nvPr>
            <p:ph idx="1"/>
          </p:nvPr>
        </p:nvSpPr>
        <p:spPr>
          <a:xfrm>
            <a:off x="599089" y="1194216"/>
            <a:ext cx="10993815" cy="4453209"/>
          </a:xfrm>
        </p:spPr>
        <p:txBody>
          <a:bodyPr>
            <a:normAutofit/>
          </a:bodyPr>
          <a:lstStyle/>
          <a:p>
            <a:pPr>
              <a:lnSpc>
                <a:spcPct val="100000"/>
              </a:lnSpc>
            </a:pPr>
            <a:r>
              <a:rPr lang="en-US" sz="2400" dirty="0"/>
              <a:t>Project Status is </a:t>
            </a:r>
            <a:r>
              <a:rPr lang="en-US" sz="2400" dirty="0">
                <a:highlight>
                  <a:srgbClr val="00FF00"/>
                </a:highlight>
              </a:rPr>
              <a:t>Green</a:t>
            </a:r>
            <a:endParaRPr lang="en-US" sz="2400" dirty="0"/>
          </a:p>
          <a:p>
            <a:pPr>
              <a:lnSpc>
                <a:spcPct val="100000"/>
              </a:lnSpc>
            </a:pPr>
            <a:r>
              <a:rPr lang="en-US" sz="2400" dirty="0"/>
              <a:t>Completed 1.0 Business Understanding</a:t>
            </a:r>
          </a:p>
          <a:p>
            <a:pPr lvl="1">
              <a:lnSpc>
                <a:spcPct val="100000"/>
              </a:lnSpc>
              <a:buFont typeface="Wingdings" panose="05000000000000000000" pitchFamily="2" charset="2"/>
              <a:buChar char="ü"/>
            </a:pPr>
            <a:r>
              <a:rPr lang="en-US" sz="2000" dirty="0"/>
              <a:t>Original Start Date : May 4, 2026, Revised Start Date : N/A, Actual Start Date : May 4, 2026</a:t>
            </a:r>
          </a:p>
          <a:p>
            <a:pPr lvl="1">
              <a:lnSpc>
                <a:spcPct val="100000"/>
              </a:lnSpc>
              <a:buFont typeface="Wingdings" panose="05000000000000000000" pitchFamily="2" charset="2"/>
              <a:buChar char="ü"/>
            </a:pPr>
            <a:r>
              <a:rPr lang="en-US" sz="2000" dirty="0"/>
              <a:t>Original End Date : May 8, 2026, Revised End Date : N/A, Actual End Date : May 9, 2026</a:t>
            </a:r>
          </a:p>
          <a:p>
            <a:pPr>
              <a:lnSpc>
                <a:spcPct val="100000"/>
              </a:lnSpc>
            </a:pPr>
            <a:r>
              <a:rPr lang="en-US" sz="2400" dirty="0"/>
              <a:t>All Items on Plan and On Budget</a:t>
            </a:r>
          </a:p>
          <a:p>
            <a:pPr>
              <a:lnSpc>
                <a:spcPct val="100000"/>
              </a:lnSpc>
            </a:pPr>
            <a:r>
              <a:rPr lang="en-US" sz="2400" dirty="0"/>
              <a:t>No Major issues</a:t>
            </a:r>
          </a:p>
        </p:txBody>
      </p:sp>
      <p:sp>
        <p:nvSpPr>
          <p:cNvPr id="5" name="Speech Bubble: Oval 4">
            <a:extLst>
              <a:ext uri="{FF2B5EF4-FFF2-40B4-BE49-F238E27FC236}">
                <a16:creationId xmlns:a16="http://schemas.microsoft.com/office/drawing/2014/main" id="{191EAAD0-30BA-83E3-AF74-009AF7501AD3}"/>
              </a:ext>
            </a:extLst>
          </p:cNvPr>
          <p:cNvSpPr/>
          <p:nvPr/>
        </p:nvSpPr>
        <p:spPr>
          <a:xfrm>
            <a:off x="7755744" y="4279114"/>
            <a:ext cx="3837160" cy="2261052"/>
          </a:xfrm>
          <a:prstGeom prst="wedgeEllipseCallout">
            <a:avLst>
              <a:gd name="adj1" fmla="val -79832"/>
              <a:gd name="adj2" fmla="val -48673"/>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0000"/>
                </a:solidFill>
              </a:rPr>
              <a:t>NOTE</a:t>
            </a:r>
            <a:r>
              <a:rPr lang="en-US" sz="2400" dirty="0">
                <a:solidFill>
                  <a:srgbClr val="FF0000"/>
                </a:solidFill>
              </a:rPr>
              <a:t>: THIS IS A </a:t>
            </a:r>
            <a:r>
              <a:rPr lang="en-US" sz="2400" b="1" i="1" dirty="0">
                <a:solidFill>
                  <a:srgbClr val="FF0000"/>
                </a:solidFill>
              </a:rPr>
              <a:t>SAMPLE</a:t>
            </a:r>
            <a:r>
              <a:rPr lang="en-US" sz="2400" dirty="0">
                <a:solidFill>
                  <a:srgbClr val="FF0000"/>
                </a:solidFill>
              </a:rPr>
              <a:t> OF A STATUS THAT HAS </a:t>
            </a:r>
            <a:r>
              <a:rPr lang="en-US" sz="2400" b="1" u="sng" dirty="0">
                <a:solidFill>
                  <a:srgbClr val="FF0000"/>
                </a:solidFill>
              </a:rPr>
              <a:t>NO</a:t>
            </a:r>
            <a:r>
              <a:rPr lang="en-US" sz="2400" dirty="0">
                <a:solidFill>
                  <a:srgbClr val="FF0000"/>
                </a:solidFill>
              </a:rPr>
              <a:t> ISSUES…</a:t>
            </a:r>
          </a:p>
        </p:txBody>
      </p:sp>
      <p:sp>
        <p:nvSpPr>
          <p:cNvPr id="4" name="Speech Bubble: Oval 3">
            <a:extLst>
              <a:ext uri="{FF2B5EF4-FFF2-40B4-BE49-F238E27FC236}">
                <a16:creationId xmlns:a16="http://schemas.microsoft.com/office/drawing/2014/main" id="{4C60072C-A512-5793-7E8F-D6B7762ABA64}"/>
              </a:ext>
            </a:extLst>
          </p:cNvPr>
          <p:cNvSpPr/>
          <p:nvPr/>
        </p:nvSpPr>
        <p:spPr>
          <a:xfrm>
            <a:off x="7328040" y="474234"/>
            <a:ext cx="3837160" cy="1300748"/>
          </a:xfrm>
          <a:prstGeom prst="wedgeEllipseCallout">
            <a:avLst>
              <a:gd name="adj1" fmla="val -137485"/>
              <a:gd name="adj2" fmla="val 19401"/>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0000"/>
                </a:solidFill>
              </a:rPr>
              <a:t>Notice the Status Color…</a:t>
            </a:r>
          </a:p>
        </p:txBody>
      </p:sp>
      <p:sp>
        <p:nvSpPr>
          <p:cNvPr id="6" name="Speech Bubble: Oval 5">
            <a:extLst>
              <a:ext uri="{FF2B5EF4-FFF2-40B4-BE49-F238E27FC236}">
                <a16:creationId xmlns:a16="http://schemas.microsoft.com/office/drawing/2014/main" id="{3CC870EC-8CFF-1BA1-EDB4-D64405064AC9}"/>
              </a:ext>
            </a:extLst>
          </p:cNvPr>
          <p:cNvSpPr/>
          <p:nvPr/>
        </p:nvSpPr>
        <p:spPr>
          <a:xfrm>
            <a:off x="1005223" y="4089406"/>
            <a:ext cx="3837160" cy="1627627"/>
          </a:xfrm>
          <a:prstGeom prst="wedgeEllipseCallout">
            <a:avLst>
              <a:gd name="adj1" fmla="val -7957"/>
              <a:gd name="adj2" fmla="val -169485"/>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0000"/>
                </a:solidFill>
              </a:rPr>
              <a:t>Note : </a:t>
            </a:r>
            <a:r>
              <a:rPr lang="en-US" sz="2400" dirty="0">
                <a:solidFill>
                  <a:srgbClr val="FF0000"/>
                </a:solidFill>
              </a:rPr>
              <a:t>This is a Major Task That Was COMPLETED This Week…</a:t>
            </a:r>
          </a:p>
        </p:txBody>
      </p:sp>
    </p:spTree>
    <p:extLst>
      <p:ext uri="{BB962C8B-B14F-4D97-AF65-F5344CB8AC3E}">
        <p14:creationId xmlns:p14="http://schemas.microsoft.com/office/powerpoint/2010/main" val="34082013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9D1A4-9CC6-7C72-60DD-DE8B3571D3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6473CB-D533-6C59-576E-DA7AB281ECC9}"/>
              </a:ext>
            </a:extLst>
          </p:cNvPr>
          <p:cNvSpPr>
            <a:spLocks noGrp="1"/>
          </p:cNvSpPr>
          <p:nvPr>
            <p:ph type="title"/>
          </p:nvPr>
        </p:nvSpPr>
        <p:spPr/>
        <p:txBody>
          <a:bodyPr/>
          <a:lstStyle/>
          <a:p>
            <a:r>
              <a:rPr lang="en-US" dirty="0"/>
              <a:t>Status Overview…</a:t>
            </a:r>
          </a:p>
        </p:txBody>
      </p:sp>
      <p:sp>
        <p:nvSpPr>
          <p:cNvPr id="3" name="Content Placeholder 2">
            <a:extLst>
              <a:ext uri="{FF2B5EF4-FFF2-40B4-BE49-F238E27FC236}">
                <a16:creationId xmlns:a16="http://schemas.microsoft.com/office/drawing/2014/main" id="{9CB3E549-C39B-64A4-7D05-64B5DEC3FBA9}"/>
              </a:ext>
            </a:extLst>
          </p:cNvPr>
          <p:cNvSpPr>
            <a:spLocks noGrp="1"/>
          </p:cNvSpPr>
          <p:nvPr>
            <p:ph idx="1"/>
          </p:nvPr>
        </p:nvSpPr>
        <p:spPr>
          <a:xfrm>
            <a:off x="599089" y="1194216"/>
            <a:ext cx="10993815" cy="4453209"/>
          </a:xfrm>
        </p:spPr>
        <p:txBody>
          <a:bodyPr>
            <a:normAutofit/>
          </a:bodyPr>
          <a:lstStyle/>
          <a:p>
            <a:pPr>
              <a:lnSpc>
                <a:spcPct val="100000"/>
              </a:lnSpc>
            </a:pPr>
            <a:r>
              <a:rPr lang="en-US" sz="2400" dirty="0"/>
              <a:t>Project Status is </a:t>
            </a:r>
            <a:r>
              <a:rPr lang="en-US" sz="2400" dirty="0">
                <a:highlight>
                  <a:srgbClr val="00FF00"/>
                </a:highlight>
              </a:rPr>
              <a:t>Green</a:t>
            </a:r>
            <a:endParaRPr lang="en-US" sz="2400" dirty="0"/>
          </a:p>
          <a:p>
            <a:pPr>
              <a:lnSpc>
                <a:spcPct val="100000"/>
              </a:lnSpc>
            </a:pPr>
            <a:r>
              <a:rPr lang="en-US" sz="2400" dirty="0"/>
              <a:t>Completed 1.0 Business Understanding</a:t>
            </a:r>
          </a:p>
          <a:p>
            <a:pPr lvl="1">
              <a:lnSpc>
                <a:spcPct val="100000"/>
              </a:lnSpc>
              <a:buFont typeface="Wingdings" panose="05000000000000000000" pitchFamily="2" charset="2"/>
              <a:buChar char="ü"/>
            </a:pPr>
            <a:r>
              <a:rPr lang="en-US" sz="2000" dirty="0"/>
              <a:t>Original Start Date : May 4, 2026, Revised Start Date : N/A, Actual Start Date : May 4, 2026</a:t>
            </a:r>
          </a:p>
          <a:p>
            <a:pPr lvl="1">
              <a:lnSpc>
                <a:spcPct val="100000"/>
              </a:lnSpc>
              <a:buFont typeface="Wingdings" panose="05000000000000000000" pitchFamily="2" charset="2"/>
              <a:buChar char="ü"/>
            </a:pPr>
            <a:r>
              <a:rPr lang="en-US" sz="2000" dirty="0"/>
              <a:t>Original End Date : May 8, 2026, Revised End Date : N/A, Actual End Date : May 9, 2026</a:t>
            </a:r>
          </a:p>
          <a:p>
            <a:pPr>
              <a:lnSpc>
                <a:spcPct val="100000"/>
              </a:lnSpc>
            </a:pPr>
            <a:r>
              <a:rPr lang="en-US" sz="2400" dirty="0"/>
              <a:t>All Items on Plan and On Budget</a:t>
            </a:r>
          </a:p>
          <a:p>
            <a:pPr>
              <a:lnSpc>
                <a:spcPct val="100000"/>
              </a:lnSpc>
            </a:pPr>
            <a:r>
              <a:rPr lang="en-US" sz="2400" dirty="0"/>
              <a:t>No Major issues</a:t>
            </a:r>
          </a:p>
        </p:txBody>
      </p:sp>
      <p:sp>
        <p:nvSpPr>
          <p:cNvPr id="5" name="Speech Bubble: Oval 4">
            <a:extLst>
              <a:ext uri="{FF2B5EF4-FFF2-40B4-BE49-F238E27FC236}">
                <a16:creationId xmlns:a16="http://schemas.microsoft.com/office/drawing/2014/main" id="{210C2212-604D-47C5-1382-6739F26E0408}"/>
              </a:ext>
            </a:extLst>
          </p:cNvPr>
          <p:cNvSpPr/>
          <p:nvPr/>
        </p:nvSpPr>
        <p:spPr>
          <a:xfrm>
            <a:off x="4820815" y="3973947"/>
            <a:ext cx="3837160" cy="2261052"/>
          </a:xfrm>
          <a:prstGeom prst="wedgeEllipseCallout">
            <a:avLst>
              <a:gd name="adj1" fmla="val -654"/>
              <a:gd name="adj2" fmla="val -83896"/>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0000"/>
                </a:solidFill>
              </a:rPr>
              <a:t>We Will Discuss Date Formats Shortly!...</a:t>
            </a:r>
          </a:p>
        </p:txBody>
      </p:sp>
      <p:sp>
        <p:nvSpPr>
          <p:cNvPr id="7" name="Rectangle: Rounded Corners 6">
            <a:extLst>
              <a:ext uri="{FF2B5EF4-FFF2-40B4-BE49-F238E27FC236}">
                <a16:creationId xmlns:a16="http://schemas.microsoft.com/office/drawing/2014/main" id="{A05326A8-51D4-7EC6-B31E-6C09958DDF47}"/>
              </a:ext>
            </a:extLst>
          </p:cNvPr>
          <p:cNvSpPr/>
          <p:nvPr/>
        </p:nvSpPr>
        <p:spPr>
          <a:xfrm>
            <a:off x="1017639" y="2094271"/>
            <a:ext cx="9955161" cy="870155"/>
          </a:xfrm>
          <a:prstGeom prst="round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9565989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Status Overview…</a:t>
            </a:r>
          </a:p>
        </p:txBody>
      </p:sp>
      <p:sp>
        <p:nvSpPr>
          <p:cNvPr id="3" name="Content Placeholder 2"/>
          <p:cNvSpPr>
            <a:spLocks noGrp="1"/>
          </p:cNvSpPr>
          <p:nvPr>
            <p:ph idx="1"/>
          </p:nvPr>
        </p:nvSpPr>
        <p:spPr>
          <a:xfrm>
            <a:off x="599089" y="1194216"/>
            <a:ext cx="10993815" cy="4453209"/>
          </a:xfrm>
        </p:spPr>
        <p:txBody>
          <a:bodyPr>
            <a:normAutofit/>
          </a:bodyPr>
          <a:lstStyle/>
          <a:p>
            <a:pPr>
              <a:lnSpc>
                <a:spcPct val="100000"/>
              </a:lnSpc>
            </a:pPr>
            <a:r>
              <a:rPr lang="en-US" sz="2400" dirty="0"/>
              <a:t>Project Status is </a:t>
            </a:r>
            <a:r>
              <a:rPr lang="en-US" sz="2400" dirty="0">
                <a:highlight>
                  <a:srgbClr val="FFFF00"/>
                </a:highlight>
              </a:rPr>
              <a:t>Yellow</a:t>
            </a:r>
          </a:p>
          <a:p>
            <a:pPr>
              <a:lnSpc>
                <a:spcPct val="100000"/>
              </a:lnSpc>
            </a:pPr>
            <a:r>
              <a:rPr lang="en-US" sz="2400" dirty="0"/>
              <a:t>1.0 Business Understanding in progress</a:t>
            </a:r>
          </a:p>
          <a:p>
            <a:pPr lvl="1">
              <a:lnSpc>
                <a:spcPct val="100000"/>
              </a:lnSpc>
              <a:buFont typeface="Wingdings" panose="05000000000000000000" pitchFamily="2" charset="2"/>
              <a:buChar char="ü"/>
            </a:pPr>
            <a:r>
              <a:rPr lang="en-US" sz="2000" dirty="0"/>
              <a:t>Original Start Date : April 28, 2026, Revised Start Date : N/A, Actual Start Date : April 28, 2026</a:t>
            </a:r>
          </a:p>
          <a:p>
            <a:pPr lvl="1">
              <a:lnSpc>
                <a:spcPct val="100000"/>
              </a:lnSpc>
              <a:buFont typeface="Wingdings" panose="05000000000000000000" pitchFamily="2" charset="2"/>
              <a:buChar char="ü"/>
            </a:pPr>
            <a:r>
              <a:rPr lang="en-US" sz="2000" dirty="0"/>
              <a:t>Original End Date : May 10, 2026, Revised End Date : N/A, Actual End Date : N/A</a:t>
            </a:r>
          </a:p>
          <a:p>
            <a:pPr>
              <a:lnSpc>
                <a:spcPct val="100000"/>
              </a:lnSpc>
            </a:pPr>
            <a:r>
              <a:rPr lang="en-US" sz="2400" dirty="0"/>
              <a:t>Did not understand section of 1.0 Business Understanding in the CRISP-DM documentation…met with Professor Nardi on May 5 to review… </a:t>
            </a:r>
          </a:p>
          <a:p>
            <a:pPr>
              <a:lnSpc>
                <a:spcPct val="100000"/>
              </a:lnSpc>
            </a:pPr>
            <a:r>
              <a:rPr lang="en-US" sz="2400" dirty="0"/>
              <a:t>Anticipate completing Scope Document by May 12</a:t>
            </a:r>
          </a:p>
          <a:p>
            <a:pPr>
              <a:lnSpc>
                <a:spcPct val="100000"/>
              </a:lnSpc>
            </a:pPr>
            <a:r>
              <a:rPr lang="en-US" sz="2400" dirty="0"/>
              <a:t>No other major issues</a:t>
            </a:r>
          </a:p>
        </p:txBody>
      </p:sp>
      <p:sp>
        <p:nvSpPr>
          <p:cNvPr id="4" name="Speech Bubble: Oval 3">
            <a:extLst>
              <a:ext uri="{FF2B5EF4-FFF2-40B4-BE49-F238E27FC236}">
                <a16:creationId xmlns:a16="http://schemas.microsoft.com/office/drawing/2014/main" id="{AA1A47A7-5C16-C4E7-ABD9-A69119792D81}"/>
              </a:ext>
            </a:extLst>
          </p:cNvPr>
          <p:cNvSpPr/>
          <p:nvPr/>
        </p:nvSpPr>
        <p:spPr>
          <a:xfrm>
            <a:off x="9070257" y="4557252"/>
            <a:ext cx="2777329" cy="1950183"/>
          </a:xfrm>
          <a:prstGeom prst="wedgeEllipseCallout">
            <a:avLst>
              <a:gd name="adj1" fmla="val -78239"/>
              <a:gd name="adj2" fmla="val -87061"/>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NOTE</a:t>
            </a:r>
            <a:r>
              <a:rPr lang="en-US" dirty="0">
                <a:solidFill>
                  <a:srgbClr val="FF0000"/>
                </a:solidFill>
              </a:rPr>
              <a:t>: THIS IS A </a:t>
            </a:r>
            <a:r>
              <a:rPr lang="en-US" b="1" i="1" dirty="0">
                <a:solidFill>
                  <a:srgbClr val="FF0000"/>
                </a:solidFill>
              </a:rPr>
              <a:t>SAMPLE</a:t>
            </a:r>
            <a:r>
              <a:rPr lang="en-US" dirty="0">
                <a:solidFill>
                  <a:srgbClr val="FF0000"/>
                </a:solidFill>
              </a:rPr>
              <a:t> OF A STATUS THAT </a:t>
            </a:r>
            <a:r>
              <a:rPr lang="en-US" b="1" i="1" dirty="0">
                <a:solidFill>
                  <a:srgbClr val="FF0000"/>
                </a:solidFill>
              </a:rPr>
              <a:t>HAS</a:t>
            </a:r>
            <a:r>
              <a:rPr lang="en-US" dirty="0">
                <a:solidFill>
                  <a:srgbClr val="FF0000"/>
                </a:solidFill>
              </a:rPr>
              <a:t> AN ISSUE…</a:t>
            </a:r>
          </a:p>
        </p:txBody>
      </p:sp>
    </p:spTree>
    <p:extLst>
      <p:ext uri="{BB962C8B-B14F-4D97-AF65-F5344CB8AC3E}">
        <p14:creationId xmlns:p14="http://schemas.microsoft.com/office/powerpoint/2010/main" val="22075181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E987A-A41A-7F45-A51E-8AD52F43A9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E17864-396B-D8B9-D53D-BA434B10712D}"/>
              </a:ext>
            </a:extLst>
          </p:cNvPr>
          <p:cNvSpPr>
            <a:spLocks noGrp="1"/>
          </p:cNvSpPr>
          <p:nvPr>
            <p:ph type="title"/>
          </p:nvPr>
        </p:nvSpPr>
        <p:spPr/>
        <p:txBody>
          <a:bodyPr/>
          <a:lstStyle/>
          <a:p>
            <a:r>
              <a:rPr lang="en-US" dirty="0"/>
              <a:t>Status Overview…</a:t>
            </a:r>
          </a:p>
        </p:txBody>
      </p:sp>
      <p:sp>
        <p:nvSpPr>
          <p:cNvPr id="3" name="Content Placeholder 2">
            <a:extLst>
              <a:ext uri="{FF2B5EF4-FFF2-40B4-BE49-F238E27FC236}">
                <a16:creationId xmlns:a16="http://schemas.microsoft.com/office/drawing/2014/main" id="{C2D883EE-D6D3-2C50-823A-35AEF2AED1C1}"/>
              </a:ext>
            </a:extLst>
          </p:cNvPr>
          <p:cNvSpPr>
            <a:spLocks noGrp="1"/>
          </p:cNvSpPr>
          <p:nvPr>
            <p:ph idx="1"/>
          </p:nvPr>
        </p:nvSpPr>
        <p:spPr>
          <a:xfrm>
            <a:off x="599089" y="1194216"/>
            <a:ext cx="10993815" cy="4453209"/>
          </a:xfrm>
        </p:spPr>
        <p:txBody>
          <a:bodyPr>
            <a:normAutofit/>
          </a:bodyPr>
          <a:lstStyle/>
          <a:p>
            <a:pPr>
              <a:lnSpc>
                <a:spcPct val="100000"/>
              </a:lnSpc>
            </a:pPr>
            <a:r>
              <a:rPr lang="en-US" sz="2400" dirty="0"/>
              <a:t>Project Status is </a:t>
            </a:r>
            <a:r>
              <a:rPr lang="en-US" sz="2400" dirty="0">
                <a:highlight>
                  <a:srgbClr val="FFFF00"/>
                </a:highlight>
              </a:rPr>
              <a:t>Yellow</a:t>
            </a:r>
          </a:p>
          <a:p>
            <a:pPr>
              <a:lnSpc>
                <a:spcPct val="100000"/>
              </a:lnSpc>
            </a:pPr>
            <a:r>
              <a:rPr lang="en-US" sz="2400" dirty="0"/>
              <a:t>1.0 Business Understanding in progress</a:t>
            </a:r>
          </a:p>
          <a:p>
            <a:pPr lvl="1">
              <a:lnSpc>
                <a:spcPct val="100000"/>
              </a:lnSpc>
              <a:buFont typeface="Wingdings" panose="05000000000000000000" pitchFamily="2" charset="2"/>
              <a:buChar char="ü"/>
            </a:pPr>
            <a:r>
              <a:rPr lang="en-US" sz="2000" dirty="0"/>
              <a:t>Original Start Date : April 28, 2026, Revised Start Date : N/A, Actual Start Date : April 28, 2026</a:t>
            </a:r>
          </a:p>
          <a:p>
            <a:pPr lvl="1">
              <a:lnSpc>
                <a:spcPct val="100000"/>
              </a:lnSpc>
              <a:buFont typeface="Wingdings" panose="05000000000000000000" pitchFamily="2" charset="2"/>
              <a:buChar char="ü"/>
            </a:pPr>
            <a:r>
              <a:rPr lang="en-US" sz="2000" dirty="0"/>
              <a:t>Original End Date : May 10, 2026, Revised End Date : N/A, Actual End Date : N/A</a:t>
            </a:r>
          </a:p>
          <a:p>
            <a:pPr>
              <a:lnSpc>
                <a:spcPct val="100000"/>
              </a:lnSpc>
            </a:pPr>
            <a:r>
              <a:rPr lang="en-US" sz="2400" dirty="0"/>
              <a:t>Did not understand section of 1.0 Business Understanding in the CRISP-DM documentation…met with Professor Nardi on May 5 to review… </a:t>
            </a:r>
          </a:p>
          <a:p>
            <a:pPr>
              <a:lnSpc>
                <a:spcPct val="100000"/>
              </a:lnSpc>
            </a:pPr>
            <a:r>
              <a:rPr lang="en-US" sz="2400" dirty="0"/>
              <a:t>Anticipate completing Scope Document by May 12</a:t>
            </a:r>
          </a:p>
          <a:p>
            <a:pPr>
              <a:lnSpc>
                <a:spcPct val="100000"/>
              </a:lnSpc>
            </a:pPr>
            <a:r>
              <a:rPr lang="en-US" sz="2400" dirty="0"/>
              <a:t>No other major issues</a:t>
            </a:r>
          </a:p>
        </p:txBody>
      </p:sp>
      <p:sp>
        <p:nvSpPr>
          <p:cNvPr id="4" name="Speech Bubble: Oval 3">
            <a:extLst>
              <a:ext uri="{FF2B5EF4-FFF2-40B4-BE49-F238E27FC236}">
                <a16:creationId xmlns:a16="http://schemas.microsoft.com/office/drawing/2014/main" id="{5784C913-A748-F051-3249-39804542847F}"/>
              </a:ext>
            </a:extLst>
          </p:cNvPr>
          <p:cNvSpPr/>
          <p:nvPr/>
        </p:nvSpPr>
        <p:spPr>
          <a:xfrm>
            <a:off x="7328040" y="474234"/>
            <a:ext cx="3837160" cy="1300748"/>
          </a:xfrm>
          <a:prstGeom prst="wedgeEllipseCallout">
            <a:avLst>
              <a:gd name="adj1" fmla="val -137485"/>
              <a:gd name="adj2" fmla="val 19401"/>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0000"/>
                </a:solidFill>
              </a:rPr>
              <a:t>Notice the Status Color…</a:t>
            </a:r>
          </a:p>
        </p:txBody>
      </p:sp>
      <p:sp>
        <p:nvSpPr>
          <p:cNvPr id="7" name="Speech Bubble: Oval 6">
            <a:extLst>
              <a:ext uri="{FF2B5EF4-FFF2-40B4-BE49-F238E27FC236}">
                <a16:creationId xmlns:a16="http://schemas.microsoft.com/office/drawing/2014/main" id="{2762238E-7D01-1C04-ADC7-44367B912E20}"/>
              </a:ext>
            </a:extLst>
          </p:cNvPr>
          <p:cNvSpPr/>
          <p:nvPr/>
        </p:nvSpPr>
        <p:spPr>
          <a:xfrm>
            <a:off x="9070257" y="4557252"/>
            <a:ext cx="2777329" cy="1950183"/>
          </a:xfrm>
          <a:prstGeom prst="wedgeEllipseCallout">
            <a:avLst>
              <a:gd name="adj1" fmla="val -78239"/>
              <a:gd name="adj2" fmla="val -87061"/>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NOTE</a:t>
            </a:r>
            <a:r>
              <a:rPr lang="en-US" dirty="0">
                <a:solidFill>
                  <a:srgbClr val="FF0000"/>
                </a:solidFill>
              </a:rPr>
              <a:t>: THIS IS A </a:t>
            </a:r>
            <a:r>
              <a:rPr lang="en-US" b="1" i="1" dirty="0">
                <a:solidFill>
                  <a:srgbClr val="FF0000"/>
                </a:solidFill>
              </a:rPr>
              <a:t>SAMPLE</a:t>
            </a:r>
            <a:r>
              <a:rPr lang="en-US" dirty="0">
                <a:solidFill>
                  <a:srgbClr val="FF0000"/>
                </a:solidFill>
              </a:rPr>
              <a:t> OF A STATUS THAT </a:t>
            </a:r>
            <a:r>
              <a:rPr lang="en-US" b="1" i="1" dirty="0">
                <a:solidFill>
                  <a:srgbClr val="FF0000"/>
                </a:solidFill>
              </a:rPr>
              <a:t>HAS</a:t>
            </a:r>
            <a:r>
              <a:rPr lang="en-US" dirty="0">
                <a:solidFill>
                  <a:srgbClr val="FF0000"/>
                </a:solidFill>
              </a:rPr>
              <a:t> AN ISSUE…</a:t>
            </a:r>
          </a:p>
        </p:txBody>
      </p:sp>
    </p:spTree>
    <p:extLst>
      <p:ext uri="{BB962C8B-B14F-4D97-AF65-F5344CB8AC3E}">
        <p14:creationId xmlns:p14="http://schemas.microsoft.com/office/powerpoint/2010/main" val="22415425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E8A74-1B85-B5BF-0072-FFA5C92E75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C59E5E-3249-CF5F-CA46-4F1210D6A3D1}"/>
              </a:ext>
            </a:extLst>
          </p:cNvPr>
          <p:cNvSpPr>
            <a:spLocks noGrp="1"/>
          </p:cNvSpPr>
          <p:nvPr>
            <p:ph type="title"/>
          </p:nvPr>
        </p:nvSpPr>
        <p:spPr/>
        <p:txBody>
          <a:bodyPr/>
          <a:lstStyle/>
          <a:p>
            <a:r>
              <a:rPr lang="en-US" dirty="0"/>
              <a:t>Status Overview…</a:t>
            </a:r>
          </a:p>
        </p:txBody>
      </p:sp>
      <p:sp>
        <p:nvSpPr>
          <p:cNvPr id="3" name="Content Placeholder 2">
            <a:extLst>
              <a:ext uri="{FF2B5EF4-FFF2-40B4-BE49-F238E27FC236}">
                <a16:creationId xmlns:a16="http://schemas.microsoft.com/office/drawing/2014/main" id="{43C5D7D8-4FCA-7432-12A6-319A9E194700}"/>
              </a:ext>
            </a:extLst>
          </p:cNvPr>
          <p:cNvSpPr>
            <a:spLocks noGrp="1"/>
          </p:cNvSpPr>
          <p:nvPr>
            <p:ph idx="1"/>
          </p:nvPr>
        </p:nvSpPr>
        <p:spPr>
          <a:xfrm>
            <a:off x="599089" y="1194216"/>
            <a:ext cx="10993815" cy="4453209"/>
          </a:xfrm>
        </p:spPr>
        <p:txBody>
          <a:bodyPr>
            <a:normAutofit/>
          </a:bodyPr>
          <a:lstStyle/>
          <a:p>
            <a:pPr>
              <a:lnSpc>
                <a:spcPct val="100000"/>
              </a:lnSpc>
            </a:pPr>
            <a:r>
              <a:rPr lang="en-US" sz="2400" dirty="0"/>
              <a:t>Project Status is </a:t>
            </a:r>
            <a:r>
              <a:rPr lang="en-US" sz="2400" dirty="0">
                <a:highlight>
                  <a:srgbClr val="FFFF00"/>
                </a:highlight>
              </a:rPr>
              <a:t>Yellow</a:t>
            </a:r>
          </a:p>
          <a:p>
            <a:pPr>
              <a:lnSpc>
                <a:spcPct val="100000"/>
              </a:lnSpc>
            </a:pPr>
            <a:r>
              <a:rPr lang="en-US" sz="2400" dirty="0"/>
              <a:t>1.0 Business Understanding in progress</a:t>
            </a:r>
          </a:p>
          <a:p>
            <a:pPr lvl="1">
              <a:lnSpc>
                <a:spcPct val="100000"/>
              </a:lnSpc>
              <a:buFont typeface="Wingdings" panose="05000000000000000000" pitchFamily="2" charset="2"/>
              <a:buChar char="ü"/>
            </a:pPr>
            <a:r>
              <a:rPr lang="en-US" sz="2000" dirty="0"/>
              <a:t>Original Start Date : April 28, 2026, Revised Start Date : N/A, Actual Start Date : April 28, 2026</a:t>
            </a:r>
          </a:p>
          <a:p>
            <a:pPr lvl="1">
              <a:lnSpc>
                <a:spcPct val="100000"/>
              </a:lnSpc>
              <a:buFont typeface="Wingdings" panose="05000000000000000000" pitchFamily="2" charset="2"/>
              <a:buChar char="ü"/>
            </a:pPr>
            <a:r>
              <a:rPr lang="en-US" sz="2000" dirty="0"/>
              <a:t>Original End Date : May 10, 2026, Revised End Date : N/A, Actual End Date : N/A</a:t>
            </a:r>
          </a:p>
          <a:p>
            <a:pPr>
              <a:lnSpc>
                <a:spcPct val="100000"/>
              </a:lnSpc>
            </a:pPr>
            <a:r>
              <a:rPr lang="en-US" sz="2400" dirty="0"/>
              <a:t>Did not understand section of 1.0 Business Understanding in the CRISP-DM documentation…met with Professor Nardi on May 5 to review…</a:t>
            </a:r>
          </a:p>
          <a:p>
            <a:pPr>
              <a:lnSpc>
                <a:spcPct val="100000"/>
              </a:lnSpc>
            </a:pPr>
            <a:r>
              <a:rPr lang="en-US" sz="2400" dirty="0"/>
              <a:t>Anticipate completing Scope Document by May 12</a:t>
            </a:r>
          </a:p>
          <a:p>
            <a:pPr>
              <a:lnSpc>
                <a:spcPct val="100000"/>
              </a:lnSpc>
            </a:pPr>
            <a:r>
              <a:rPr lang="en-US" sz="2400" dirty="0"/>
              <a:t>No other major issues</a:t>
            </a:r>
          </a:p>
        </p:txBody>
      </p:sp>
      <p:sp>
        <p:nvSpPr>
          <p:cNvPr id="4" name="Speech Bubble: Oval 3">
            <a:extLst>
              <a:ext uri="{FF2B5EF4-FFF2-40B4-BE49-F238E27FC236}">
                <a16:creationId xmlns:a16="http://schemas.microsoft.com/office/drawing/2014/main" id="{63610841-2C3A-0F55-90A9-D8D63BD6AADC}"/>
              </a:ext>
            </a:extLst>
          </p:cNvPr>
          <p:cNvSpPr/>
          <p:nvPr/>
        </p:nvSpPr>
        <p:spPr>
          <a:xfrm>
            <a:off x="7328040" y="474234"/>
            <a:ext cx="3837160" cy="1300748"/>
          </a:xfrm>
          <a:prstGeom prst="wedgeEllipseCallout">
            <a:avLst>
              <a:gd name="adj1" fmla="val -137485"/>
              <a:gd name="adj2" fmla="val 19401"/>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0000"/>
                </a:solidFill>
              </a:rPr>
              <a:t>Notice the Status Color…</a:t>
            </a:r>
          </a:p>
        </p:txBody>
      </p:sp>
      <p:sp>
        <p:nvSpPr>
          <p:cNvPr id="6" name="Speech Bubble: Oval 5">
            <a:extLst>
              <a:ext uri="{FF2B5EF4-FFF2-40B4-BE49-F238E27FC236}">
                <a16:creationId xmlns:a16="http://schemas.microsoft.com/office/drawing/2014/main" id="{EB3A62C7-7CC2-2446-F267-C35827A48D75}"/>
              </a:ext>
            </a:extLst>
          </p:cNvPr>
          <p:cNvSpPr/>
          <p:nvPr/>
        </p:nvSpPr>
        <p:spPr>
          <a:xfrm>
            <a:off x="4177416" y="4839206"/>
            <a:ext cx="3837160" cy="1627627"/>
          </a:xfrm>
          <a:prstGeom prst="wedgeEllipseCallout">
            <a:avLst>
              <a:gd name="adj1" fmla="val -23331"/>
              <a:gd name="adj2" fmla="val -91558"/>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0000"/>
                </a:solidFill>
              </a:rPr>
              <a:t>Note the Reason WHY the Task is Late…</a:t>
            </a:r>
          </a:p>
        </p:txBody>
      </p:sp>
      <p:sp>
        <p:nvSpPr>
          <p:cNvPr id="7" name="Speech Bubble: Oval 6">
            <a:extLst>
              <a:ext uri="{FF2B5EF4-FFF2-40B4-BE49-F238E27FC236}">
                <a16:creationId xmlns:a16="http://schemas.microsoft.com/office/drawing/2014/main" id="{05039A35-D0A9-8B10-C4F5-E6AAE3EA4DB0}"/>
              </a:ext>
            </a:extLst>
          </p:cNvPr>
          <p:cNvSpPr/>
          <p:nvPr/>
        </p:nvSpPr>
        <p:spPr>
          <a:xfrm>
            <a:off x="9070257" y="4557252"/>
            <a:ext cx="2777329" cy="1950183"/>
          </a:xfrm>
          <a:prstGeom prst="wedgeEllipseCallout">
            <a:avLst>
              <a:gd name="adj1" fmla="val -78239"/>
              <a:gd name="adj2" fmla="val -87061"/>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NOTE</a:t>
            </a:r>
            <a:r>
              <a:rPr lang="en-US" dirty="0">
                <a:solidFill>
                  <a:srgbClr val="FF0000"/>
                </a:solidFill>
              </a:rPr>
              <a:t>: THIS IS A </a:t>
            </a:r>
            <a:r>
              <a:rPr lang="en-US" b="1" i="1" dirty="0">
                <a:solidFill>
                  <a:srgbClr val="FF0000"/>
                </a:solidFill>
              </a:rPr>
              <a:t>SAMPLE</a:t>
            </a:r>
            <a:r>
              <a:rPr lang="en-US" dirty="0">
                <a:solidFill>
                  <a:srgbClr val="FF0000"/>
                </a:solidFill>
              </a:rPr>
              <a:t> OF A STATUS THAT </a:t>
            </a:r>
            <a:r>
              <a:rPr lang="en-US" b="1" i="1" dirty="0">
                <a:solidFill>
                  <a:srgbClr val="FF0000"/>
                </a:solidFill>
              </a:rPr>
              <a:t>HAS</a:t>
            </a:r>
            <a:r>
              <a:rPr lang="en-US" dirty="0">
                <a:solidFill>
                  <a:srgbClr val="FF0000"/>
                </a:solidFill>
              </a:rPr>
              <a:t> AN ISSUE…</a:t>
            </a:r>
          </a:p>
        </p:txBody>
      </p:sp>
    </p:spTree>
    <p:extLst>
      <p:ext uri="{BB962C8B-B14F-4D97-AF65-F5344CB8AC3E}">
        <p14:creationId xmlns:p14="http://schemas.microsoft.com/office/powerpoint/2010/main" val="41586582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Items Completed in Current Week…</a:t>
            </a:r>
          </a:p>
        </p:txBody>
      </p:sp>
      <p:sp>
        <p:nvSpPr>
          <p:cNvPr id="3" name="Content Placeholder 2"/>
          <p:cNvSpPr>
            <a:spLocks noGrp="1"/>
          </p:cNvSpPr>
          <p:nvPr>
            <p:ph idx="1"/>
          </p:nvPr>
        </p:nvSpPr>
        <p:spPr>
          <a:xfrm>
            <a:off x="599090" y="1059679"/>
            <a:ext cx="10993816" cy="4760007"/>
          </a:xfrm>
        </p:spPr>
        <p:txBody>
          <a:bodyPr>
            <a:normAutofit/>
          </a:bodyPr>
          <a:lstStyle/>
          <a:p>
            <a:pPr marL="228600" lvl="1">
              <a:lnSpc>
                <a:spcPct val="100000"/>
              </a:lnSpc>
              <a:spcBef>
                <a:spcPts val="1000"/>
              </a:spcBef>
              <a:buFont typeface="Arial" panose="020B0604020202020204" pitchFamily="34" charset="0"/>
              <a:buChar char="•"/>
            </a:pPr>
            <a:r>
              <a:rPr lang="en-US" dirty="0"/>
              <a:t>This Slide Should List Each </a:t>
            </a:r>
            <a:r>
              <a:rPr lang="en-US" b="1" dirty="0"/>
              <a:t>Task</a:t>
            </a:r>
            <a:r>
              <a:rPr lang="en-US" dirty="0"/>
              <a:t> That Was </a:t>
            </a:r>
            <a:r>
              <a:rPr lang="en-US" u="sng" dirty="0"/>
              <a:t>Completed</a:t>
            </a:r>
            <a:r>
              <a:rPr lang="en-US" dirty="0"/>
              <a:t> </a:t>
            </a:r>
            <a:r>
              <a:rPr lang="en-US" b="1" dirty="0"/>
              <a:t>IN THE CURRENT WEEK</a:t>
            </a:r>
            <a:r>
              <a:rPr lang="en-US" dirty="0"/>
              <a:t>; That is, </a:t>
            </a:r>
            <a:r>
              <a:rPr lang="en-US" b="1" u="sng" dirty="0"/>
              <a:t>Since</a:t>
            </a:r>
            <a:r>
              <a:rPr lang="en-US" dirty="0"/>
              <a:t> the </a:t>
            </a:r>
            <a:r>
              <a:rPr lang="en-US" b="1" dirty="0"/>
              <a:t>PRIOR</a:t>
            </a:r>
            <a:r>
              <a:rPr lang="en-US" dirty="0"/>
              <a:t> Status…It is </a:t>
            </a:r>
            <a:r>
              <a:rPr lang="en-US" b="1" dirty="0"/>
              <a:t>NOT</a:t>
            </a:r>
            <a:r>
              <a:rPr lang="en-US" dirty="0"/>
              <a:t> a Running List of Items Completed…</a:t>
            </a:r>
          </a:p>
          <a:p>
            <a:pPr marL="228600" lvl="1">
              <a:lnSpc>
                <a:spcPct val="100000"/>
              </a:lnSpc>
              <a:spcBef>
                <a:spcPts val="1000"/>
              </a:spcBef>
              <a:buFont typeface="Arial" panose="020B0604020202020204" pitchFamily="34" charset="0"/>
              <a:buChar char="•"/>
            </a:pPr>
            <a:r>
              <a:rPr lang="en-US" dirty="0"/>
              <a:t>Every Item Completed Should Have a </a:t>
            </a:r>
            <a:r>
              <a:rPr lang="en-US" b="1" dirty="0"/>
              <a:t>SHORT</a:t>
            </a:r>
            <a:r>
              <a:rPr lang="en-US" dirty="0"/>
              <a:t> Description (i.e., 1 or 2 Sentences) of What Was Completed…</a:t>
            </a:r>
          </a:p>
          <a:p>
            <a:pPr marL="228600" lvl="1">
              <a:lnSpc>
                <a:spcPct val="100000"/>
              </a:lnSpc>
              <a:spcBef>
                <a:spcPts val="1000"/>
              </a:spcBef>
              <a:buFont typeface="Arial" panose="020B0604020202020204" pitchFamily="34" charset="0"/>
              <a:buChar char="•"/>
            </a:pPr>
            <a:r>
              <a:rPr lang="en-US" b="1" i="1" u="sng" dirty="0"/>
              <a:t>For Every Item Completed, You Must Show the Original/Revised/Actual Start Date and the Original/Revised/Actual End Date…</a:t>
            </a:r>
          </a:p>
          <a:p>
            <a:pPr marL="228600" lvl="1">
              <a:lnSpc>
                <a:spcPct val="100000"/>
              </a:lnSpc>
              <a:spcBef>
                <a:spcPts val="1000"/>
              </a:spcBef>
              <a:buFont typeface="Arial" panose="020B0604020202020204" pitchFamily="34" charset="0"/>
              <a:buChar char="•"/>
            </a:pPr>
            <a:r>
              <a:rPr lang="en-US" dirty="0"/>
              <a:t>Your Project May Not Have Something Due </a:t>
            </a:r>
            <a:r>
              <a:rPr lang="en-US" b="1" dirty="0"/>
              <a:t>EVERY</a:t>
            </a:r>
            <a:r>
              <a:rPr lang="en-US" dirty="0"/>
              <a:t> Week…If That is the Case, Simply Say </a:t>
            </a:r>
            <a:r>
              <a:rPr lang="en-US" b="1" i="1" dirty="0"/>
              <a:t>“Per Plan, No Items Completed This Week” </a:t>
            </a:r>
            <a:r>
              <a:rPr lang="en-US" dirty="0"/>
              <a:t>or Words to That Effect…</a:t>
            </a:r>
          </a:p>
          <a:p>
            <a:pPr marL="228600" lvl="1">
              <a:lnSpc>
                <a:spcPct val="100000"/>
              </a:lnSpc>
              <a:spcBef>
                <a:spcPts val="1000"/>
              </a:spcBef>
              <a:buFont typeface="Arial" panose="020B0604020202020204" pitchFamily="34" charset="0"/>
              <a:buChar char="•"/>
            </a:pPr>
            <a:r>
              <a:rPr lang="en-US" b="1" dirty="0"/>
              <a:t>Any Task Completed But Not Completed on Time Needs to Have an Explanation as to Why…</a:t>
            </a:r>
            <a:endParaRPr lang="en-US" sz="2800" dirty="0"/>
          </a:p>
        </p:txBody>
      </p:sp>
    </p:spTree>
    <p:extLst>
      <p:ext uri="{BB962C8B-B14F-4D97-AF65-F5344CB8AC3E}">
        <p14:creationId xmlns:p14="http://schemas.microsoft.com/office/powerpoint/2010/main" val="10689521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C54A5-304C-E450-1A85-11F196C00D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248E13-A70F-0504-8383-47DC17186B93}"/>
              </a:ext>
            </a:extLst>
          </p:cNvPr>
          <p:cNvSpPr>
            <a:spLocks noGrp="1"/>
          </p:cNvSpPr>
          <p:nvPr>
            <p:ph type="title"/>
          </p:nvPr>
        </p:nvSpPr>
        <p:spPr>
          <a:xfrm>
            <a:off x="599090" y="196966"/>
            <a:ext cx="11414570" cy="927642"/>
          </a:xfrm>
        </p:spPr>
        <p:txBody>
          <a:bodyPr>
            <a:normAutofit/>
          </a:bodyPr>
          <a:lstStyle/>
          <a:p>
            <a:r>
              <a:rPr lang="en-US" dirty="0"/>
              <a:t>Hmmm, So What If I Completed PART of a Task…</a:t>
            </a:r>
          </a:p>
        </p:txBody>
      </p:sp>
      <p:sp>
        <p:nvSpPr>
          <p:cNvPr id="3" name="Content Placeholder 2">
            <a:extLst>
              <a:ext uri="{FF2B5EF4-FFF2-40B4-BE49-F238E27FC236}">
                <a16:creationId xmlns:a16="http://schemas.microsoft.com/office/drawing/2014/main" id="{D197FEE6-FE51-44B5-EBE0-558920213AF0}"/>
              </a:ext>
            </a:extLst>
          </p:cNvPr>
          <p:cNvSpPr>
            <a:spLocks noGrp="1"/>
          </p:cNvSpPr>
          <p:nvPr>
            <p:ph idx="1"/>
          </p:nvPr>
        </p:nvSpPr>
        <p:spPr>
          <a:xfrm>
            <a:off x="599090" y="1124608"/>
            <a:ext cx="10993816" cy="4695078"/>
          </a:xfrm>
        </p:spPr>
        <p:txBody>
          <a:bodyPr>
            <a:normAutofit/>
          </a:bodyPr>
          <a:lstStyle/>
          <a:p>
            <a:pPr marL="228600" lvl="1">
              <a:lnSpc>
                <a:spcPct val="100000"/>
              </a:lnSpc>
              <a:spcBef>
                <a:spcPts val="1000"/>
              </a:spcBef>
              <a:buFont typeface="Arial" panose="020B0604020202020204" pitchFamily="34" charset="0"/>
              <a:buChar char="•"/>
            </a:pPr>
            <a:r>
              <a:rPr lang="en-US" dirty="0"/>
              <a:t>For the Purposes of This Status, an “Item” is Considered to Be an ENTIRE Task on the Project Plan That Has a Defined Start and End Date…</a:t>
            </a:r>
          </a:p>
          <a:p>
            <a:pPr marL="228600" lvl="1">
              <a:lnSpc>
                <a:spcPct val="100000"/>
              </a:lnSpc>
              <a:spcBef>
                <a:spcPts val="1000"/>
              </a:spcBef>
              <a:buFont typeface="Arial" panose="020B0604020202020204" pitchFamily="34" charset="0"/>
              <a:buChar char="•"/>
            </a:pPr>
            <a:r>
              <a:rPr lang="en-US" sz="2800" dirty="0"/>
              <a:t>For Example…</a:t>
            </a:r>
          </a:p>
          <a:p>
            <a:pPr marL="685800" lvl="2">
              <a:lnSpc>
                <a:spcPct val="100000"/>
              </a:lnSpc>
              <a:spcBef>
                <a:spcPts val="1000"/>
              </a:spcBef>
              <a:buFont typeface="Arial" panose="020B0604020202020204" pitchFamily="34" charset="0"/>
              <a:buChar char="•"/>
            </a:pPr>
            <a:r>
              <a:rPr lang="en-US" sz="2400" dirty="0"/>
              <a:t>Your Project Plan Has a Task “2.0 Data Understanding” With a Start Date of September 8 and an End Date of September 22…</a:t>
            </a:r>
          </a:p>
          <a:p>
            <a:pPr marL="685800" lvl="2">
              <a:lnSpc>
                <a:spcPct val="100000"/>
              </a:lnSpc>
              <a:spcBef>
                <a:spcPts val="1000"/>
              </a:spcBef>
              <a:buFont typeface="Arial" panose="020B0604020202020204" pitchFamily="34" charset="0"/>
              <a:buChar char="•"/>
            </a:pPr>
            <a:r>
              <a:rPr lang="en-US" sz="2400" dirty="0"/>
              <a:t>At the End of the First Week, You Completed </a:t>
            </a:r>
            <a:r>
              <a:rPr lang="en-US" sz="2400" b="1" i="1" u="sng" dirty="0"/>
              <a:t>Part</a:t>
            </a:r>
            <a:r>
              <a:rPr lang="en-US" sz="2400" dirty="0"/>
              <a:t> of the Task But Not All…</a:t>
            </a:r>
          </a:p>
          <a:p>
            <a:pPr marL="685800" lvl="2">
              <a:lnSpc>
                <a:spcPct val="100000"/>
              </a:lnSpc>
              <a:spcBef>
                <a:spcPts val="1000"/>
              </a:spcBef>
              <a:buFont typeface="Arial" panose="020B0604020202020204" pitchFamily="34" charset="0"/>
              <a:buChar char="•"/>
            </a:pPr>
            <a:r>
              <a:rPr lang="en-US" sz="2400" dirty="0"/>
              <a:t>This Would Be Considered an </a:t>
            </a:r>
            <a:r>
              <a:rPr lang="en-US" sz="2400" b="1" dirty="0"/>
              <a:t>Item In Progress </a:t>
            </a:r>
            <a:r>
              <a:rPr lang="en-US" sz="2400" dirty="0"/>
              <a:t>– </a:t>
            </a:r>
            <a:r>
              <a:rPr lang="en-US" sz="2400" b="1" i="1" u="sng" dirty="0"/>
              <a:t>NOT</a:t>
            </a:r>
            <a:r>
              <a:rPr lang="en-US" sz="2400" dirty="0"/>
              <a:t> Completed…</a:t>
            </a:r>
          </a:p>
          <a:p>
            <a:pPr marL="685800" lvl="2">
              <a:lnSpc>
                <a:spcPct val="100000"/>
              </a:lnSpc>
              <a:spcBef>
                <a:spcPts val="1000"/>
              </a:spcBef>
              <a:buFont typeface="Arial" panose="020B0604020202020204" pitchFamily="34" charset="0"/>
              <a:buChar char="•"/>
            </a:pPr>
            <a:r>
              <a:rPr lang="en-US" sz="2400" dirty="0"/>
              <a:t>Tasks are Only Considered Completed When the </a:t>
            </a:r>
            <a:r>
              <a:rPr lang="en-US" sz="2400" b="1" i="1" dirty="0"/>
              <a:t>ENTIRE TASK </a:t>
            </a:r>
            <a:r>
              <a:rPr lang="en-US" sz="2400" dirty="0"/>
              <a:t>is Done…</a:t>
            </a:r>
          </a:p>
        </p:txBody>
      </p:sp>
    </p:spTree>
    <p:extLst>
      <p:ext uri="{BB962C8B-B14F-4D97-AF65-F5344CB8AC3E}">
        <p14:creationId xmlns:p14="http://schemas.microsoft.com/office/powerpoint/2010/main" val="42681991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89808-123E-DCA8-2118-81F6C6F9A1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426BC2-43CD-AD4D-F2B0-F013B1A34B41}"/>
              </a:ext>
            </a:extLst>
          </p:cNvPr>
          <p:cNvSpPr>
            <a:spLocks noGrp="1"/>
          </p:cNvSpPr>
          <p:nvPr>
            <p:ph type="title"/>
          </p:nvPr>
        </p:nvSpPr>
        <p:spPr/>
        <p:txBody>
          <a:bodyPr>
            <a:normAutofit/>
          </a:bodyPr>
          <a:lstStyle/>
          <a:p>
            <a:r>
              <a:rPr lang="en-US" dirty="0"/>
              <a:t>But Completing a Task Early is Good, Right?…</a:t>
            </a:r>
          </a:p>
        </p:txBody>
      </p:sp>
      <p:sp>
        <p:nvSpPr>
          <p:cNvPr id="3" name="Content Placeholder 2">
            <a:extLst>
              <a:ext uri="{FF2B5EF4-FFF2-40B4-BE49-F238E27FC236}">
                <a16:creationId xmlns:a16="http://schemas.microsoft.com/office/drawing/2014/main" id="{58E8418F-9A3E-9E97-8844-13B97C105918}"/>
              </a:ext>
            </a:extLst>
          </p:cNvPr>
          <p:cNvSpPr>
            <a:spLocks noGrp="1"/>
          </p:cNvSpPr>
          <p:nvPr>
            <p:ph idx="1"/>
          </p:nvPr>
        </p:nvSpPr>
        <p:spPr>
          <a:xfrm>
            <a:off x="599090" y="1001949"/>
            <a:ext cx="10993816" cy="4776281"/>
          </a:xfrm>
        </p:spPr>
        <p:txBody>
          <a:bodyPr>
            <a:normAutofit fontScale="85000" lnSpcReduction="20000"/>
          </a:bodyPr>
          <a:lstStyle/>
          <a:p>
            <a:pPr marL="228600" lvl="1">
              <a:lnSpc>
                <a:spcPct val="120000"/>
              </a:lnSpc>
              <a:spcBef>
                <a:spcPts val="1000"/>
              </a:spcBef>
              <a:buFont typeface="Arial" panose="020B0604020202020204" pitchFamily="34" charset="0"/>
              <a:buChar char="•"/>
            </a:pPr>
            <a:r>
              <a:rPr lang="en-US" sz="2800" dirty="0"/>
              <a:t>Tasks Completed a Day or Two Early are Fine…</a:t>
            </a:r>
          </a:p>
          <a:p>
            <a:pPr marL="228600" lvl="1">
              <a:lnSpc>
                <a:spcPct val="120000"/>
              </a:lnSpc>
              <a:spcBef>
                <a:spcPts val="1000"/>
              </a:spcBef>
              <a:buFont typeface="Arial" panose="020B0604020202020204" pitchFamily="34" charset="0"/>
              <a:buChar char="•"/>
            </a:pPr>
            <a:r>
              <a:rPr lang="en-US" sz="2800" dirty="0"/>
              <a:t>Tasks Completed a Week or So Early are </a:t>
            </a:r>
            <a:r>
              <a:rPr lang="en-US" sz="2800" b="1" dirty="0"/>
              <a:t>NOT</a:t>
            </a:r>
            <a:r>
              <a:rPr lang="en-US" sz="2800" dirty="0"/>
              <a:t> Fine and ALSO Require an Explanation...</a:t>
            </a:r>
          </a:p>
          <a:p>
            <a:pPr marL="228600" lvl="1">
              <a:lnSpc>
                <a:spcPct val="120000"/>
              </a:lnSpc>
              <a:spcBef>
                <a:spcPts val="1000"/>
              </a:spcBef>
              <a:buFont typeface="Arial" panose="020B0604020202020204" pitchFamily="34" charset="0"/>
              <a:buChar char="•"/>
            </a:pPr>
            <a:r>
              <a:rPr lang="en-US" sz="2800" dirty="0"/>
              <a:t>There are TWO Main Reasons for This…</a:t>
            </a:r>
          </a:p>
          <a:p>
            <a:pPr marL="685800" lvl="2">
              <a:lnSpc>
                <a:spcPct val="120000"/>
              </a:lnSpc>
              <a:spcBef>
                <a:spcPts val="1000"/>
              </a:spcBef>
              <a:buFont typeface="Arial" panose="020B0604020202020204" pitchFamily="34" charset="0"/>
              <a:buChar char="•"/>
            </a:pPr>
            <a:r>
              <a:rPr lang="en-US" sz="2100" dirty="0"/>
              <a:t>First…</a:t>
            </a:r>
          </a:p>
          <a:p>
            <a:pPr marL="1143000" lvl="3">
              <a:lnSpc>
                <a:spcPct val="120000"/>
              </a:lnSpc>
              <a:spcBef>
                <a:spcPts val="1000"/>
              </a:spcBef>
              <a:buFont typeface="Arial" panose="020B0604020202020204" pitchFamily="34" charset="0"/>
              <a:buChar char="•"/>
            </a:pPr>
            <a:r>
              <a:rPr lang="en-US" sz="2100" dirty="0"/>
              <a:t>An Organization Has Set Aside Money and Resource for Your Project Based on YOUR Estimates…</a:t>
            </a:r>
          </a:p>
          <a:p>
            <a:pPr marL="1143000" lvl="3">
              <a:lnSpc>
                <a:spcPct val="120000"/>
              </a:lnSpc>
              <a:spcBef>
                <a:spcPts val="1000"/>
              </a:spcBef>
              <a:buFont typeface="Arial" panose="020B0604020202020204" pitchFamily="34" charset="0"/>
              <a:buChar char="•"/>
            </a:pPr>
            <a:r>
              <a:rPr lang="en-US" sz="2100" dirty="0"/>
              <a:t>If You are a Week or So Early, That Typically Means You are UNDER Budget…</a:t>
            </a:r>
          </a:p>
          <a:p>
            <a:pPr marL="1143000" lvl="3">
              <a:lnSpc>
                <a:spcPct val="120000"/>
              </a:lnSpc>
              <a:spcBef>
                <a:spcPts val="1000"/>
              </a:spcBef>
              <a:buFont typeface="Arial" panose="020B0604020202020204" pitchFamily="34" charset="0"/>
              <a:buChar char="•"/>
            </a:pPr>
            <a:r>
              <a:rPr lang="en-US" sz="2100" dirty="0"/>
              <a:t>If a Project is Under Budget, an Organization can Reallocate Those Funds to a Project that is Over Budget, or to Initiate a New Project, or to Anything They Want…</a:t>
            </a:r>
          </a:p>
          <a:p>
            <a:pPr marL="685800" lvl="2">
              <a:lnSpc>
                <a:spcPct val="120000"/>
              </a:lnSpc>
              <a:spcBef>
                <a:spcPts val="1000"/>
              </a:spcBef>
              <a:buFont typeface="Arial" panose="020B0604020202020204" pitchFamily="34" charset="0"/>
              <a:buChar char="•"/>
            </a:pPr>
            <a:r>
              <a:rPr lang="en-US" sz="2100" dirty="0"/>
              <a:t>Second…</a:t>
            </a:r>
          </a:p>
          <a:p>
            <a:pPr marL="1143000" lvl="3">
              <a:lnSpc>
                <a:spcPct val="120000"/>
              </a:lnSpc>
              <a:spcBef>
                <a:spcPts val="1000"/>
              </a:spcBef>
              <a:buFont typeface="Arial" panose="020B0604020202020204" pitchFamily="34" charset="0"/>
              <a:buChar char="•"/>
            </a:pPr>
            <a:r>
              <a:rPr lang="en-US" sz="2100" dirty="0"/>
              <a:t>Task Completion is Also a Measure of How Well YOU Understand and Estimate Projects…</a:t>
            </a:r>
          </a:p>
          <a:p>
            <a:pPr marL="1143000" lvl="3">
              <a:lnSpc>
                <a:spcPct val="120000"/>
              </a:lnSpc>
              <a:spcBef>
                <a:spcPts val="1000"/>
              </a:spcBef>
              <a:buFont typeface="Arial" panose="020B0604020202020204" pitchFamily="34" charset="0"/>
              <a:buChar char="•"/>
            </a:pPr>
            <a:r>
              <a:rPr lang="en-US" sz="2100" dirty="0"/>
              <a:t>If ONE Task Takes Less Time Than You Said, What About All the Subsequent Tasks?...</a:t>
            </a:r>
          </a:p>
        </p:txBody>
      </p:sp>
    </p:spTree>
    <p:extLst>
      <p:ext uri="{BB962C8B-B14F-4D97-AF65-F5344CB8AC3E}">
        <p14:creationId xmlns:p14="http://schemas.microsoft.com/office/powerpoint/2010/main" val="41691022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Items In Progress…</a:t>
            </a:r>
          </a:p>
        </p:txBody>
      </p:sp>
      <p:sp>
        <p:nvSpPr>
          <p:cNvPr id="3" name="Content Placeholder 2"/>
          <p:cNvSpPr>
            <a:spLocks noGrp="1"/>
          </p:cNvSpPr>
          <p:nvPr>
            <p:ph idx="1"/>
          </p:nvPr>
        </p:nvSpPr>
        <p:spPr>
          <a:xfrm>
            <a:off x="599090" y="1050587"/>
            <a:ext cx="10993816" cy="4824919"/>
          </a:xfrm>
        </p:spPr>
        <p:txBody>
          <a:bodyPr>
            <a:normAutofit/>
          </a:bodyPr>
          <a:lstStyle/>
          <a:p>
            <a:pPr>
              <a:lnSpc>
                <a:spcPct val="100000"/>
              </a:lnSpc>
            </a:pPr>
            <a:r>
              <a:rPr lang="en-US" sz="2400" dirty="0">
                <a:solidFill>
                  <a:prstClr val="black"/>
                </a:solidFill>
              </a:rPr>
              <a:t>Your Project Should </a:t>
            </a:r>
            <a:r>
              <a:rPr lang="en-US" sz="2400" b="1" dirty="0">
                <a:solidFill>
                  <a:prstClr val="black"/>
                </a:solidFill>
              </a:rPr>
              <a:t>ALWAYS</a:t>
            </a:r>
            <a:r>
              <a:rPr lang="en-US" sz="2400" dirty="0">
                <a:solidFill>
                  <a:prstClr val="black"/>
                </a:solidFill>
              </a:rPr>
              <a:t> Have </a:t>
            </a:r>
            <a:r>
              <a:rPr lang="en-US" sz="2400" b="1" dirty="0">
                <a:solidFill>
                  <a:prstClr val="black"/>
                </a:solidFill>
              </a:rPr>
              <a:t>SOMETHING</a:t>
            </a:r>
            <a:r>
              <a:rPr lang="en-US" sz="2400" dirty="0">
                <a:solidFill>
                  <a:prstClr val="black"/>
                </a:solidFill>
              </a:rPr>
              <a:t> In Progress…</a:t>
            </a:r>
          </a:p>
          <a:p>
            <a:pPr>
              <a:lnSpc>
                <a:spcPct val="100000"/>
              </a:lnSpc>
            </a:pPr>
            <a:r>
              <a:rPr lang="en-US" sz="2400" dirty="0">
                <a:solidFill>
                  <a:prstClr val="black"/>
                </a:solidFill>
              </a:rPr>
              <a:t>For This Slide :</a:t>
            </a:r>
          </a:p>
          <a:p>
            <a:pPr lvl="1">
              <a:lnSpc>
                <a:spcPct val="100000"/>
              </a:lnSpc>
              <a:buFont typeface="Wingdings" panose="05000000000000000000" pitchFamily="2" charset="2"/>
              <a:buChar char="ü"/>
            </a:pPr>
            <a:r>
              <a:rPr lang="en-US" sz="2000" dirty="0">
                <a:solidFill>
                  <a:prstClr val="black"/>
                </a:solidFill>
              </a:rPr>
              <a:t>List EACH Task That is in Progress…</a:t>
            </a:r>
          </a:p>
          <a:p>
            <a:pPr lvl="1">
              <a:lnSpc>
                <a:spcPct val="100000"/>
              </a:lnSpc>
              <a:buFont typeface="Wingdings" panose="05000000000000000000" pitchFamily="2" charset="2"/>
              <a:buChar char="ü"/>
            </a:pPr>
            <a:r>
              <a:rPr lang="en-US" sz="2000" dirty="0">
                <a:solidFill>
                  <a:prstClr val="black"/>
                </a:solidFill>
              </a:rPr>
              <a:t>Provide a Task Status (i.e., Green, Yellow, Red)…Again, </a:t>
            </a:r>
            <a:r>
              <a:rPr lang="en-US" sz="2000" b="1" dirty="0">
                <a:solidFill>
                  <a:prstClr val="black"/>
                </a:solidFill>
              </a:rPr>
              <a:t>Any Task That is Yellow or Red Needs to Have an Explanation as to Why and Some Mitigation Plan to Get Back on Plan</a:t>
            </a:r>
            <a:r>
              <a:rPr lang="en-US" sz="2000" dirty="0">
                <a:solidFill>
                  <a:prstClr val="black"/>
                </a:solidFill>
              </a:rPr>
              <a:t>…</a:t>
            </a:r>
          </a:p>
          <a:p>
            <a:pPr lvl="1">
              <a:lnSpc>
                <a:spcPct val="100000"/>
              </a:lnSpc>
              <a:buFont typeface="Wingdings" panose="05000000000000000000" pitchFamily="2" charset="2"/>
              <a:buChar char="ü"/>
            </a:pPr>
            <a:r>
              <a:rPr lang="en-US" sz="2000" dirty="0">
                <a:solidFill>
                  <a:prstClr val="black"/>
                </a:solidFill>
              </a:rPr>
              <a:t>Percent Complete (i.e., Where You Stand With Each Task)…</a:t>
            </a:r>
          </a:p>
          <a:p>
            <a:pPr lvl="1">
              <a:lnSpc>
                <a:spcPct val="100000"/>
              </a:lnSpc>
              <a:buFont typeface="Wingdings" panose="05000000000000000000" pitchFamily="2" charset="2"/>
              <a:buChar char="ü"/>
            </a:pPr>
            <a:r>
              <a:rPr lang="en-US" sz="2000" dirty="0">
                <a:solidFill>
                  <a:prstClr val="black"/>
                </a:solidFill>
              </a:rPr>
              <a:t>Original/Revised/Actual Start Date…Original/Revised End Date…</a:t>
            </a:r>
          </a:p>
          <a:p>
            <a:pPr lvl="2">
              <a:lnSpc>
                <a:spcPct val="100000"/>
              </a:lnSpc>
              <a:buFont typeface="Wingdings" panose="05000000000000000000" pitchFamily="2" charset="2"/>
              <a:buChar char="Ø"/>
            </a:pPr>
            <a:r>
              <a:rPr lang="en-US" sz="1600" b="1" dirty="0">
                <a:solidFill>
                  <a:prstClr val="black"/>
                </a:solidFill>
              </a:rPr>
              <a:t>NOTE: AS THE TASK IS "IN PROGRESS" THERE IS </a:t>
            </a:r>
            <a:r>
              <a:rPr lang="en-US" sz="1600" b="1" u="sng" dirty="0">
                <a:solidFill>
                  <a:prstClr val="black"/>
                </a:solidFill>
              </a:rPr>
              <a:t>NO</a:t>
            </a:r>
            <a:r>
              <a:rPr lang="en-US" sz="1600" b="1" dirty="0">
                <a:solidFill>
                  <a:prstClr val="black"/>
                </a:solidFill>
              </a:rPr>
              <a:t> ACTUAL END DATE…</a:t>
            </a:r>
          </a:p>
          <a:p>
            <a:pPr lvl="1">
              <a:lnSpc>
                <a:spcPct val="100000"/>
              </a:lnSpc>
              <a:buFont typeface="Wingdings" panose="05000000000000000000" pitchFamily="2" charset="2"/>
              <a:buChar char="ü"/>
            </a:pPr>
            <a:r>
              <a:rPr lang="en-US" sz="2000" dirty="0">
                <a:solidFill>
                  <a:prstClr val="black"/>
                </a:solidFill>
              </a:rPr>
              <a:t>Any Comments, Questions, Issues, Concerns Or Risks That You Have Regarding the Task…</a:t>
            </a:r>
          </a:p>
          <a:p>
            <a:pPr lvl="2">
              <a:lnSpc>
                <a:spcPct val="100000"/>
              </a:lnSpc>
            </a:pPr>
            <a:endParaRPr lang="en-US" sz="1600" dirty="0">
              <a:solidFill>
                <a:prstClr val="black"/>
              </a:solidFill>
            </a:endParaRPr>
          </a:p>
          <a:p>
            <a:pPr marL="0" indent="0">
              <a:lnSpc>
                <a:spcPct val="100000"/>
              </a:lnSpc>
              <a:buNone/>
            </a:pPr>
            <a:r>
              <a:rPr lang="en-US" sz="2000" b="1" i="1" dirty="0">
                <a:solidFill>
                  <a:prstClr val="black"/>
                </a:solidFill>
              </a:rPr>
              <a:t>NOTE: </a:t>
            </a:r>
            <a:r>
              <a:rPr lang="en-US" sz="2000" i="1" dirty="0">
                <a:solidFill>
                  <a:prstClr val="black"/>
                </a:solidFill>
              </a:rPr>
              <a:t>Your Project Plan Should Have Most of This Information…You May Include a Snapshot of Your Project Plan Here and Then Supplement What is Missing…</a:t>
            </a:r>
          </a:p>
        </p:txBody>
      </p:sp>
    </p:spTree>
    <p:extLst>
      <p:ext uri="{BB962C8B-B14F-4D97-AF65-F5344CB8AC3E}">
        <p14:creationId xmlns:p14="http://schemas.microsoft.com/office/powerpoint/2010/main" val="14130091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Items To Be Started…</a:t>
            </a:r>
          </a:p>
        </p:txBody>
      </p:sp>
      <p:sp>
        <p:nvSpPr>
          <p:cNvPr id="3" name="Content Placeholder 2"/>
          <p:cNvSpPr>
            <a:spLocks noGrp="1"/>
          </p:cNvSpPr>
          <p:nvPr>
            <p:ph idx="1"/>
          </p:nvPr>
        </p:nvSpPr>
        <p:spPr>
          <a:xfrm>
            <a:off x="599090" y="1124608"/>
            <a:ext cx="10993816" cy="4624439"/>
          </a:xfrm>
        </p:spPr>
        <p:txBody>
          <a:bodyPr>
            <a:normAutofit/>
          </a:bodyPr>
          <a:lstStyle/>
          <a:p>
            <a:pPr marL="228600" lvl="1">
              <a:lnSpc>
                <a:spcPct val="100000"/>
              </a:lnSpc>
              <a:spcBef>
                <a:spcPts val="1000"/>
              </a:spcBef>
              <a:buFont typeface="Arial" panose="020B0604020202020204" pitchFamily="34" charset="0"/>
              <a:buChar char="•"/>
            </a:pPr>
            <a:r>
              <a:rPr lang="en-US" dirty="0">
                <a:solidFill>
                  <a:prstClr val="black"/>
                </a:solidFill>
              </a:rPr>
              <a:t>Your Project Should </a:t>
            </a:r>
            <a:r>
              <a:rPr lang="en-US" b="1" dirty="0">
                <a:solidFill>
                  <a:prstClr val="black"/>
                </a:solidFill>
              </a:rPr>
              <a:t>ALWAYS</a:t>
            </a:r>
            <a:r>
              <a:rPr lang="en-US" dirty="0">
                <a:solidFill>
                  <a:prstClr val="black"/>
                </a:solidFill>
              </a:rPr>
              <a:t> Have </a:t>
            </a:r>
            <a:r>
              <a:rPr lang="en-US" b="1" dirty="0">
                <a:solidFill>
                  <a:prstClr val="black"/>
                </a:solidFill>
              </a:rPr>
              <a:t>SOMETHING</a:t>
            </a:r>
            <a:r>
              <a:rPr lang="en-US" dirty="0">
                <a:solidFill>
                  <a:prstClr val="black"/>
                </a:solidFill>
              </a:rPr>
              <a:t> Waiting To Start…</a:t>
            </a:r>
          </a:p>
          <a:p>
            <a:pPr marL="228600" lvl="1">
              <a:lnSpc>
                <a:spcPct val="100000"/>
              </a:lnSpc>
              <a:spcBef>
                <a:spcPts val="1000"/>
              </a:spcBef>
              <a:buFont typeface="Arial" panose="020B0604020202020204" pitchFamily="34" charset="0"/>
              <a:buChar char="•"/>
            </a:pPr>
            <a:r>
              <a:rPr lang="en-US" dirty="0">
                <a:solidFill>
                  <a:prstClr val="black"/>
                </a:solidFill>
              </a:rPr>
              <a:t>You Should </a:t>
            </a:r>
            <a:r>
              <a:rPr lang="en-US" b="1" dirty="0">
                <a:solidFill>
                  <a:prstClr val="black"/>
                </a:solidFill>
              </a:rPr>
              <a:t>ALWAYS</a:t>
            </a:r>
            <a:r>
              <a:rPr lang="en-US" dirty="0">
                <a:solidFill>
                  <a:prstClr val="black"/>
                </a:solidFill>
              </a:rPr>
              <a:t> Have </a:t>
            </a:r>
            <a:r>
              <a:rPr lang="en-US" u="sng" dirty="0">
                <a:solidFill>
                  <a:prstClr val="black"/>
                </a:solidFill>
              </a:rPr>
              <a:t>2 or 3 Tasks</a:t>
            </a:r>
            <a:r>
              <a:rPr lang="en-US" dirty="0">
                <a:solidFill>
                  <a:prstClr val="black"/>
                </a:solidFill>
              </a:rPr>
              <a:t> Here…</a:t>
            </a:r>
          </a:p>
          <a:p>
            <a:pPr marL="228600" lvl="1">
              <a:lnSpc>
                <a:spcPct val="100000"/>
              </a:lnSpc>
              <a:spcBef>
                <a:spcPts val="1000"/>
              </a:spcBef>
              <a:buFont typeface="Arial" panose="020B0604020202020204" pitchFamily="34" charset="0"/>
              <a:buChar char="•"/>
            </a:pPr>
            <a:r>
              <a:rPr lang="en-US" dirty="0">
                <a:solidFill>
                  <a:prstClr val="black"/>
                </a:solidFill>
              </a:rPr>
              <a:t>For This Slide :</a:t>
            </a:r>
          </a:p>
          <a:p>
            <a:pPr lvl="1">
              <a:lnSpc>
                <a:spcPct val="100000"/>
              </a:lnSpc>
              <a:buFont typeface="Wingdings" panose="05000000000000000000" pitchFamily="2" charset="2"/>
              <a:buChar char="ü"/>
            </a:pPr>
            <a:r>
              <a:rPr lang="en-US" sz="2000" dirty="0">
                <a:solidFill>
                  <a:prstClr val="black"/>
                </a:solidFill>
              </a:rPr>
              <a:t>List EACH Major Task or Phase That is </a:t>
            </a:r>
            <a:r>
              <a:rPr lang="en-US" sz="2000" b="1" dirty="0">
                <a:solidFill>
                  <a:prstClr val="black"/>
                </a:solidFill>
              </a:rPr>
              <a:t>PLANNED</a:t>
            </a:r>
            <a:r>
              <a:rPr lang="en-US" sz="2000" dirty="0">
                <a:solidFill>
                  <a:prstClr val="black"/>
                </a:solidFill>
              </a:rPr>
              <a:t> To Be Started in the Next Week or Two, But Has </a:t>
            </a:r>
            <a:r>
              <a:rPr lang="en-US" sz="2000" b="1" i="1" dirty="0">
                <a:solidFill>
                  <a:prstClr val="black"/>
                </a:solidFill>
              </a:rPr>
              <a:t>Not Yet </a:t>
            </a:r>
            <a:r>
              <a:rPr lang="en-US" sz="2000" dirty="0">
                <a:solidFill>
                  <a:prstClr val="black"/>
                </a:solidFill>
              </a:rPr>
              <a:t>Been Started…</a:t>
            </a:r>
          </a:p>
          <a:p>
            <a:pPr lvl="1">
              <a:lnSpc>
                <a:spcPct val="100000"/>
              </a:lnSpc>
              <a:buFont typeface="Wingdings" panose="05000000000000000000" pitchFamily="2" charset="2"/>
              <a:buChar char="ü"/>
            </a:pPr>
            <a:r>
              <a:rPr lang="en-US" sz="2000" dirty="0">
                <a:solidFill>
                  <a:prstClr val="black"/>
                </a:solidFill>
              </a:rPr>
              <a:t>Show Original/Revised Start/End Date…</a:t>
            </a:r>
          </a:p>
          <a:p>
            <a:pPr lvl="1">
              <a:lnSpc>
                <a:spcPct val="100000"/>
              </a:lnSpc>
              <a:buFont typeface="Wingdings" panose="05000000000000000000" pitchFamily="2" charset="2"/>
              <a:buChar char="ü"/>
            </a:pPr>
            <a:r>
              <a:rPr lang="en-US" sz="2000" dirty="0">
                <a:solidFill>
                  <a:prstClr val="black"/>
                </a:solidFill>
              </a:rPr>
              <a:t>Any Comments, Questions, Issues, Concerns Or Risks That You Have Regarding That Task…</a:t>
            </a:r>
          </a:p>
          <a:p>
            <a:pPr marL="0" indent="0">
              <a:lnSpc>
                <a:spcPct val="100000"/>
              </a:lnSpc>
              <a:buNone/>
            </a:pPr>
            <a:endParaRPr lang="en-US" sz="2000" b="1" i="1" dirty="0">
              <a:solidFill>
                <a:prstClr val="black"/>
              </a:solidFill>
            </a:endParaRPr>
          </a:p>
          <a:p>
            <a:pPr marL="0" indent="0">
              <a:lnSpc>
                <a:spcPct val="100000"/>
              </a:lnSpc>
              <a:buNone/>
            </a:pPr>
            <a:r>
              <a:rPr lang="en-US" sz="2000" b="1" i="1" dirty="0">
                <a:solidFill>
                  <a:prstClr val="black"/>
                </a:solidFill>
              </a:rPr>
              <a:t>NOTE: </a:t>
            </a:r>
            <a:r>
              <a:rPr lang="en-US" sz="2000" i="1" dirty="0">
                <a:solidFill>
                  <a:prstClr val="black"/>
                </a:solidFill>
              </a:rPr>
              <a:t>Your Project Plan Should Have Most of This Information…You May Include a Snapshot of Your Project Plan Here and Then Supplement What is Missing…</a:t>
            </a:r>
          </a:p>
        </p:txBody>
      </p:sp>
    </p:spTree>
    <p:extLst>
      <p:ext uri="{BB962C8B-B14F-4D97-AF65-F5344CB8AC3E}">
        <p14:creationId xmlns:p14="http://schemas.microsoft.com/office/powerpoint/2010/main" val="3647730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B98F1-A466-48CB-914A-AD3CD3946E08}"/>
              </a:ext>
            </a:extLst>
          </p:cNvPr>
          <p:cNvSpPr>
            <a:spLocks noGrp="1"/>
          </p:cNvSpPr>
          <p:nvPr>
            <p:ph type="title"/>
          </p:nvPr>
        </p:nvSpPr>
        <p:spPr/>
        <p:txBody>
          <a:bodyPr/>
          <a:lstStyle/>
          <a:p>
            <a:r>
              <a:rPr lang="en-US" dirty="0"/>
              <a:t>Okay, Wait…Time Out!...Why All This Stuff?!...</a:t>
            </a:r>
          </a:p>
        </p:txBody>
      </p:sp>
      <p:sp>
        <p:nvSpPr>
          <p:cNvPr id="3" name="Content Placeholder 2">
            <a:extLst>
              <a:ext uri="{FF2B5EF4-FFF2-40B4-BE49-F238E27FC236}">
                <a16:creationId xmlns:a16="http://schemas.microsoft.com/office/drawing/2014/main" id="{0BD6DB35-F37B-41D3-99CE-080A3A618455}"/>
              </a:ext>
            </a:extLst>
          </p:cNvPr>
          <p:cNvSpPr>
            <a:spLocks noGrp="1"/>
          </p:cNvSpPr>
          <p:nvPr>
            <p:ph idx="1"/>
          </p:nvPr>
        </p:nvSpPr>
        <p:spPr>
          <a:xfrm>
            <a:off x="599090" y="1175657"/>
            <a:ext cx="10993816" cy="4589417"/>
          </a:xfrm>
        </p:spPr>
        <p:txBody>
          <a:bodyPr>
            <a:normAutofit fontScale="92500" lnSpcReduction="10000"/>
          </a:bodyPr>
          <a:lstStyle/>
          <a:p>
            <a:pPr>
              <a:lnSpc>
                <a:spcPct val="120000"/>
              </a:lnSpc>
            </a:pPr>
            <a:r>
              <a:rPr lang="en-US" sz="2400" dirty="0"/>
              <a:t>So, You Might Be Asking Yourself, </a:t>
            </a:r>
            <a:r>
              <a:rPr lang="en-US" sz="2400" i="1" dirty="0"/>
              <a:t>“Why Do I Need to Show Those Three Items?</a:t>
            </a:r>
            <a:r>
              <a:rPr lang="en-US" sz="2400" dirty="0"/>
              <a:t>”…</a:t>
            </a:r>
          </a:p>
          <a:p>
            <a:pPr>
              <a:lnSpc>
                <a:spcPct val="120000"/>
              </a:lnSpc>
            </a:pPr>
            <a:r>
              <a:rPr lang="en-US" sz="2400" dirty="0"/>
              <a:t>By Showing Tasks That Have Been Completed, Tasks That Are in Progress, and Tasks Coming Up, You Are Giving Management a “Three Week Spread” of What is Going on in the Project…</a:t>
            </a:r>
          </a:p>
          <a:p>
            <a:pPr>
              <a:lnSpc>
                <a:spcPct val="120000"/>
              </a:lnSpc>
            </a:pPr>
            <a:r>
              <a:rPr lang="en-US" sz="2400" dirty="0"/>
              <a:t>It Also Gives Managers That You Interact With an Opportunity to Express Concerns or Discuss Details If They Are Impacted by Those Items…</a:t>
            </a:r>
          </a:p>
          <a:p>
            <a:pPr>
              <a:lnSpc>
                <a:spcPct val="120000"/>
              </a:lnSpc>
            </a:pPr>
            <a:r>
              <a:rPr lang="en-US" sz="2400" dirty="0"/>
              <a:t>Think About School…You Know What Assignments You Have (or Should Have) Completed…You Know What Assignments You Are Working On and When You Think the Assignment Will Be Completed…and You Know What Assignments Are Coming Up So That You Can Begin to Panic…I Mean Begin to Plan…</a:t>
            </a:r>
          </a:p>
          <a:p>
            <a:pPr>
              <a:lnSpc>
                <a:spcPct val="120000"/>
              </a:lnSpc>
            </a:pPr>
            <a:r>
              <a:rPr lang="en-US" sz="2400" dirty="0"/>
              <a:t>Let’s Continue…</a:t>
            </a:r>
          </a:p>
        </p:txBody>
      </p:sp>
    </p:spTree>
    <p:extLst>
      <p:ext uri="{BB962C8B-B14F-4D97-AF65-F5344CB8AC3E}">
        <p14:creationId xmlns:p14="http://schemas.microsoft.com/office/powerpoint/2010/main" val="15637485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936FC-3A5C-7F72-1992-FF9B75CDC678}"/>
              </a:ext>
            </a:extLst>
          </p:cNvPr>
          <p:cNvSpPr>
            <a:spLocks noGrp="1"/>
          </p:cNvSpPr>
          <p:nvPr>
            <p:ph type="title"/>
          </p:nvPr>
        </p:nvSpPr>
        <p:spPr/>
        <p:txBody>
          <a:bodyPr>
            <a:normAutofit fontScale="90000"/>
          </a:bodyPr>
          <a:lstStyle/>
          <a:p>
            <a:r>
              <a:rPr lang="en-US" dirty="0"/>
              <a:t>As Long As We Are in a Time Out…Note On Dates…</a:t>
            </a:r>
          </a:p>
        </p:txBody>
      </p:sp>
      <p:sp>
        <p:nvSpPr>
          <p:cNvPr id="3" name="Content Placeholder 2">
            <a:extLst>
              <a:ext uri="{FF2B5EF4-FFF2-40B4-BE49-F238E27FC236}">
                <a16:creationId xmlns:a16="http://schemas.microsoft.com/office/drawing/2014/main" id="{8A8B7443-38FA-2E8D-4C41-3A9690D5042E}"/>
              </a:ext>
            </a:extLst>
          </p:cNvPr>
          <p:cNvSpPr>
            <a:spLocks noGrp="1"/>
          </p:cNvSpPr>
          <p:nvPr>
            <p:ph idx="1"/>
          </p:nvPr>
        </p:nvSpPr>
        <p:spPr>
          <a:xfrm>
            <a:off x="599090" y="1087966"/>
            <a:ext cx="10993816" cy="4690533"/>
          </a:xfrm>
        </p:spPr>
        <p:txBody>
          <a:bodyPr>
            <a:normAutofit/>
          </a:bodyPr>
          <a:lstStyle/>
          <a:p>
            <a:pPr>
              <a:lnSpc>
                <a:spcPct val="120000"/>
              </a:lnSpc>
            </a:pPr>
            <a:r>
              <a:rPr lang="en-US" sz="2000" dirty="0"/>
              <a:t>I Keep Mentioning Original, Revised, and Actual Dates…</a:t>
            </a:r>
          </a:p>
          <a:p>
            <a:pPr>
              <a:lnSpc>
                <a:spcPct val="120000"/>
              </a:lnSpc>
            </a:pPr>
            <a:r>
              <a:rPr lang="en-US" sz="2000" dirty="0"/>
              <a:t>But What Exactly Are Each One…</a:t>
            </a:r>
          </a:p>
          <a:p>
            <a:pPr lvl="1">
              <a:lnSpc>
                <a:spcPct val="120000"/>
              </a:lnSpc>
              <a:buFont typeface="Wingdings" panose="05000000000000000000" pitchFamily="2" charset="2"/>
              <a:buChar char="ü"/>
            </a:pPr>
            <a:r>
              <a:rPr lang="en-US" sz="1800" b="1" dirty="0"/>
              <a:t>ORIGINAL START/END DATE </a:t>
            </a:r>
            <a:r>
              <a:rPr lang="en-US" sz="1800" dirty="0"/>
              <a:t>: When You Create Your Approved Project Plan, </a:t>
            </a:r>
            <a:r>
              <a:rPr lang="en-US" sz="1800" b="1" dirty="0"/>
              <a:t>Every</a:t>
            </a:r>
            <a:r>
              <a:rPr lang="en-US" sz="1800" dirty="0"/>
              <a:t> Task is Given a Start Date and an End Date…These are the </a:t>
            </a:r>
            <a:r>
              <a:rPr lang="en-US" sz="1800" b="1" dirty="0"/>
              <a:t>ORIGINAL</a:t>
            </a:r>
            <a:r>
              <a:rPr lang="en-US" sz="1800" dirty="0"/>
              <a:t> Start and End Dates…These Dates </a:t>
            </a:r>
            <a:r>
              <a:rPr lang="en-US" sz="1800" b="1" u="sng" dirty="0"/>
              <a:t>NEVER</a:t>
            </a:r>
            <a:r>
              <a:rPr lang="en-US" sz="1800" dirty="0"/>
              <a:t> Change…</a:t>
            </a:r>
          </a:p>
          <a:p>
            <a:pPr lvl="1">
              <a:lnSpc>
                <a:spcPct val="120000"/>
              </a:lnSpc>
              <a:buFont typeface="Wingdings" panose="05000000000000000000" pitchFamily="2" charset="2"/>
              <a:buChar char="ü"/>
            </a:pPr>
            <a:r>
              <a:rPr lang="en-US" sz="1800" b="1" dirty="0"/>
              <a:t>ACTUAL START/END DATE </a:t>
            </a:r>
            <a:r>
              <a:rPr lang="en-US" sz="1800" dirty="0"/>
              <a:t>: Hopefully, Most Tasks Start on the Date We Planned and End on the Date We Planned…But That is Not Always the Case…Sometimes We Start or End a Task a Day or Two (or More) Earlier or Later…the Date That You </a:t>
            </a:r>
            <a:r>
              <a:rPr lang="en-US" sz="1800" b="1" dirty="0"/>
              <a:t>ACTUALLY</a:t>
            </a:r>
            <a:r>
              <a:rPr lang="en-US" sz="1800" dirty="0"/>
              <a:t> Start or End a Task is the </a:t>
            </a:r>
            <a:r>
              <a:rPr lang="en-US" sz="1800" b="1" dirty="0"/>
              <a:t>ACTUAL</a:t>
            </a:r>
            <a:r>
              <a:rPr lang="en-US" sz="1800" dirty="0"/>
              <a:t> Start and End Date…Only </a:t>
            </a:r>
            <a:r>
              <a:rPr lang="en-US" sz="1800" i="1" dirty="0"/>
              <a:t>Started</a:t>
            </a:r>
            <a:r>
              <a:rPr lang="en-US" sz="1800" dirty="0"/>
              <a:t> and/or </a:t>
            </a:r>
            <a:r>
              <a:rPr lang="en-US" sz="1800" i="1" dirty="0"/>
              <a:t>Completed</a:t>
            </a:r>
            <a:r>
              <a:rPr lang="en-US" sz="1800" dirty="0"/>
              <a:t> Tasks Have Actual Start/End Dates…</a:t>
            </a:r>
          </a:p>
          <a:p>
            <a:pPr lvl="1">
              <a:lnSpc>
                <a:spcPct val="120000"/>
              </a:lnSpc>
              <a:buFont typeface="Wingdings" panose="05000000000000000000" pitchFamily="2" charset="2"/>
              <a:buChar char="ü"/>
            </a:pPr>
            <a:r>
              <a:rPr lang="en-US" sz="1800" b="1" dirty="0"/>
              <a:t>REVISED START/END DATE </a:t>
            </a:r>
            <a:r>
              <a:rPr lang="en-US" sz="1800" dirty="0"/>
              <a:t>: We Plan With All Good Intentions…Then Life Happens and We are Sometimes Forced to Make Major Revisions to Our Plan…In That Case, We Need to Create Revised Dates…Revised Dates Are </a:t>
            </a:r>
            <a:r>
              <a:rPr lang="en-US" sz="1800" b="1" dirty="0"/>
              <a:t>RARELY</a:t>
            </a:r>
            <a:r>
              <a:rPr lang="en-US" sz="1800" dirty="0"/>
              <a:t> Used…They are Not Intended to Correct Poor Planning…</a:t>
            </a:r>
            <a:r>
              <a:rPr lang="en-US" sz="1800" b="1" i="1" u="sng" dirty="0"/>
              <a:t>YOU CANNOT USE A REVISED DATE UNLESS YOU DISCUSS WITH ME AND GET MY APPROVAL</a:t>
            </a:r>
            <a:r>
              <a:rPr lang="en-US" sz="1800" dirty="0"/>
              <a:t>…</a:t>
            </a:r>
          </a:p>
        </p:txBody>
      </p:sp>
    </p:spTree>
    <p:extLst>
      <p:ext uri="{BB962C8B-B14F-4D97-AF65-F5344CB8AC3E}">
        <p14:creationId xmlns:p14="http://schemas.microsoft.com/office/powerpoint/2010/main" val="30840649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22B23-D451-6620-793E-E84E925C0F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B577FE-0419-C834-8186-7A29B6F1505C}"/>
              </a:ext>
            </a:extLst>
          </p:cNvPr>
          <p:cNvSpPr>
            <a:spLocks noGrp="1"/>
          </p:cNvSpPr>
          <p:nvPr>
            <p:ph type="title"/>
          </p:nvPr>
        </p:nvSpPr>
        <p:spPr/>
        <p:txBody>
          <a:bodyPr>
            <a:normAutofit fontScale="90000"/>
          </a:bodyPr>
          <a:lstStyle/>
          <a:p>
            <a:r>
              <a:rPr lang="en-US" dirty="0"/>
              <a:t>As Long As We Are in a Time Out…Note On Dates…</a:t>
            </a:r>
          </a:p>
        </p:txBody>
      </p:sp>
      <p:sp>
        <p:nvSpPr>
          <p:cNvPr id="3" name="Content Placeholder 2">
            <a:extLst>
              <a:ext uri="{FF2B5EF4-FFF2-40B4-BE49-F238E27FC236}">
                <a16:creationId xmlns:a16="http://schemas.microsoft.com/office/drawing/2014/main" id="{FA74706C-9171-D36A-95FC-3191778002EF}"/>
              </a:ext>
            </a:extLst>
          </p:cNvPr>
          <p:cNvSpPr>
            <a:spLocks noGrp="1"/>
          </p:cNvSpPr>
          <p:nvPr>
            <p:ph idx="1"/>
          </p:nvPr>
        </p:nvSpPr>
        <p:spPr>
          <a:xfrm>
            <a:off x="599090" y="1087966"/>
            <a:ext cx="10993816" cy="4690533"/>
          </a:xfrm>
        </p:spPr>
        <p:txBody>
          <a:bodyPr>
            <a:normAutofit/>
          </a:bodyPr>
          <a:lstStyle/>
          <a:p>
            <a:pPr>
              <a:lnSpc>
                <a:spcPct val="120000"/>
              </a:lnSpc>
            </a:pPr>
            <a:r>
              <a:rPr lang="en-US" sz="2000" dirty="0"/>
              <a:t>I Keep Mentioning Original, Revised, and Actual Dates…</a:t>
            </a:r>
          </a:p>
          <a:p>
            <a:pPr>
              <a:lnSpc>
                <a:spcPct val="120000"/>
              </a:lnSpc>
            </a:pPr>
            <a:r>
              <a:rPr lang="en-US" sz="2000" dirty="0"/>
              <a:t>But What Exactly Are Each One…</a:t>
            </a:r>
          </a:p>
          <a:p>
            <a:pPr lvl="1">
              <a:lnSpc>
                <a:spcPct val="120000"/>
              </a:lnSpc>
              <a:buFont typeface="Wingdings" panose="05000000000000000000" pitchFamily="2" charset="2"/>
              <a:buChar char="ü"/>
            </a:pPr>
            <a:r>
              <a:rPr lang="en-US" sz="1800" b="1" dirty="0"/>
              <a:t>ORIGINAL START/END DATE </a:t>
            </a:r>
            <a:r>
              <a:rPr lang="en-US" sz="1800" dirty="0"/>
              <a:t>: When You Create Your Approved Project Plan, </a:t>
            </a:r>
            <a:r>
              <a:rPr lang="en-US" sz="1800" b="1" dirty="0"/>
              <a:t>Every</a:t>
            </a:r>
            <a:r>
              <a:rPr lang="en-US" sz="1800" dirty="0"/>
              <a:t> Task is Given a Start Date and an End Date…These are the </a:t>
            </a:r>
            <a:r>
              <a:rPr lang="en-US" sz="1800" b="1" dirty="0"/>
              <a:t>ORIGINAL</a:t>
            </a:r>
            <a:r>
              <a:rPr lang="en-US" sz="1800" dirty="0"/>
              <a:t> Start and End Dates…These Dates </a:t>
            </a:r>
            <a:r>
              <a:rPr lang="en-US" sz="1800" b="1" u="sng" dirty="0"/>
              <a:t>NEVER</a:t>
            </a:r>
            <a:r>
              <a:rPr lang="en-US" sz="1800" dirty="0"/>
              <a:t> Change…</a:t>
            </a:r>
          </a:p>
          <a:p>
            <a:pPr lvl="1">
              <a:lnSpc>
                <a:spcPct val="120000"/>
              </a:lnSpc>
              <a:buFont typeface="Wingdings" panose="05000000000000000000" pitchFamily="2" charset="2"/>
              <a:buChar char="ü"/>
            </a:pPr>
            <a:r>
              <a:rPr lang="en-US" sz="1800" b="1" dirty="0"/>
              <a:t>ACTUAL START/END DATE </a:t>
            </a:r>
            <a:r>
              <a:rPr lang="en-US" sz="1800" dirty="0"/>
              <a:t>: Hopefully, Most Tasks Start on the Date We Planned and End on the Date We Planned…But That is Not Always the Case…Sometimes We Start or End a Task a Day or Two (or More) Earlier or Later…the Date That You </a:t>
            </a:r>
            <a:r>
              <a:rPr lang="en-US" sz="1800" b="1" dirty="0"/>
              <a:t>ACTUALLY</a:t>
            </a:r>
            <a:r>
              <a:rPr lang="en-US" sz="1800" dirty="0"/>
              <a:t> Start or End a Task is the </a:t>
            </a:r>
            <a:r>
              <a:rPr lang="en-US" sz="1800" b="1" dirty="0"/>
              <a:t>ACTUAL</a:t>
            </a:r>
            <a:r>
              <a:rPr lang="en-US" sz="1800" dirty="0"/>
              <a:t> Start and End Date…Only </a:t>
            </a:r>
            <a:r>
              <a:rPr lang="en-US" sz="1800" i="1" dirty="0"/>
              <a:t>Started</a:t>
            </a:r>
            <a:r>
              <a:rPr lang="en-US" sz="1800" dirty="0"/>
              <a:t> and/or </a:t>
            </a:r>
            <a:r>
              <a:rPr lang="en-US" sz="1800" i="1" dirty="0"/>
              <a:t>Completed</a:t>
            </a:r>
            <a:r>
              <a:rPr lang="en-US" sz="1800" dirty="0"/>
              <a:t> Tasks Have Actual Start/End Dates…</a:t>
            </a:r>
          </a:p>
          <a:p>
            <a:pPr lvl="1">
              <a:lnSpc>
                <a:spcPct val="120000"/>
              </a:lnSpc>
              <a:buFont typeface="Wingdings" panose="05000000000000000000" pitchFamily="2" charset="2"/>
              <a:buChar char="ü"/>
            </a:pPr>
            <a:r>
              <a:rPr lang="en-US" sz="1800" b="1" dirty="0"/>
              <a:t>REVISED START/END DATE </a:t>
            </a:r>
            <a:r>
              <a:rPr lang="en-US" sz="1800" dirty="0"/>
              <a:t>: We Plan With All Good Intentions…Then Life Happens and We are Sometimes Forced to Make Major Revisions to Our Plan…In That Case, We Need to Create Revised Dates…Revised Dates Are </a:t>
            </a:r>
            <a:r>
              <a:rPr lang="en-US" sz="1800" b="1" dirty="0"/>
              <a:t>RARELY</a:t>
            </a:r>
            <a:r>
              <a:rPr lang="en-US" sz="1800" dirty="0"/>
              <a:t> Used…They are Not Intended to Correct Poor Planning…</a:t>
            </a:r>
            <a:r>
              <a:rPr lang="en-US" sz="1800" b="1" i="1" u="sng" dirty="0"/>
              <a:t>YOU CANNOT USE A REVISED DATE UNLESS YOU DISCUSS WITH ME AND GET MY APPROVAL</a:t>
            </a:r>
            <a:r>
              <a:rPr lang="en-US" sz="1800" dirty="0"/>
              <a:t>…</a:t>
            </a:r>
          </a:p>
        </p:txBody>
      </p:sp>
      <p:sp>
        <p:nvSpPr>
          <p:cNvPr id="4" name="Rectangle: Rounded Corners 3">
            <a:extLst>
              <a:ext uri="{FF2B5EF4-FFF2-40B4-BE49-F238E27FC236}">
                <a16:creationId xmlns:a16="http://schemas.microsoft.com/office/drawing/2014/main" id="{16AD611A-C7DC-5913-C181-A28867E1D387}"/>
              </a:ext>
            </a:extLst>
          </p:cNvPr>
          <p:cNvSpPr/>
          <p:nvPr/>
        </p:nvSpPr>
        <p:spPr>
          <a:xfrm>
            <a:off x="1460091" y="1607574"/>
            <a:ext cx="9261986" cy="3864077"/>
          </a:xfrm>
          <a:prstGeom prst="round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YOU MUST ALWAYS SHOW ORIGINAL, REVISED, AND ACTUAL DATES FOR EVERY TASKS…</a:t>
            </a:r>
          </a:p>
          <a:p>
            <a:pPr algn="ctr"/>
            <a:endParaRPr lang="en-US" sz="2800" b="1" dirty="0">
              <a:solidFill>
                <a:schemeClr val="tx1"/>
              </a:solidFill>
            </a:endParaRPr>
          </a:p>
          <a:p>
            <a:pPr algn="ctr"/>
            <a:r>
              <a:rPr lang="en-US" sz="2800" b="1" dirty="0">
                <a:solidFill>
                  <a:schemeClr val="tx1"/>
                </a:solidFill>
              </a:rPr>
              <a:t>IF THERE ARE NO REVISED OR ACTUAL DATES, YOU MUST STILL INCLUDE THEM – JUST PUT “N/A” AFTER THEM… </a:t>
            </a:r>
          </a:p>
        </p:txBody>
      </p:sp>
    </p:spTree>
    <p:extLst>
      <p:ext uri="{BB962C8B-B14F-4D97-AF65-F5344CB8AC3E}">
        <p14:creationId xmlns:p14="http://schemas.microsoft.com/office/powerpoint/2010/main" val="8725638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Sample of Items In Progress…</a:t>
            </a:r>
          </a:p>
        </p:txBody>
      </p:sp>
      <p:sp>
        <p:nvSpPr>
          <p:cNvPr id="6" name="Content Placeholder 2">
            <a:extLst>
              <a:ext uri="{FF2B5EF4-FFF2-40B4-BE49-F238E27FC236}">
                <a16:creationId xmlns:a16="http://schemas.microsoft.com/office/drawing/2014/main" id="{D19F4E96-3C5B-6AC9-B821-2F7E79BFBBCA}"/>
              </a:ext>
            </a:extLst>
          </p:cNvPr>
          <p:cNvSpPr>
            <a:spLocks noGrp="1"/>
          </p:cNvSpPr>
          <p:nvPr>
            <p:ph idx="1"/>
          </p:nvPr>
        </p:nvSpPr>
        <p:spPr>
          <a:xfrm>
            <a:off x="599089" y="1103586"/>
            <a:ext cx="10993815" cy="4776513"/>
          </a:xfrm>
        </p:spPr>
        <p:txBody>
          <a:bodyPr>
            <a:normAutofit lnSpcReduction="10000"/>
          </a:bodyPr>
          <a:lstStyle/>
          <a:p>
            <a:pPr>
              <a:lnSpc>
                <a:spcPct val="120000"/>
              </a:lnSpc>
            </a:pPr>
            <a:r>
              <a:rPr lang="en-US" sz="2400" dirty="0"/>
              <a:t>The Purpose of This Slide is to Show a </a:t>
            </a:r>
            <a:r>
              <a:rPr lang="en-US" sz="2400" b="1" dirty="0"/>
              <a:t>SAMPLE</a:t>
            </a:r>
            <a:r>
              <a:rPr lang="en-US" sz="2400" dirty="0"/>
              <a:t> of Something </a:t>
            </a:r>
            <a:r>
              <a:rPr lang="en-US" sz="2400" i="1" dirty="0"/>
              <a:t>Significant</a:t>
            </a:r>
            <a:r>
              <a:rPr lang="en-US" sz="2400" dirty="0"/>
              <a:t> or </a:t>
            </a:r>
            <a:r>
              <a:rPr lang="en-US" sz="2400" i="1" dirty="0"/>
              <a:t>Interesting</a:t>
            </a:r>
            <a:r>
              <a:rPr lang="en-US" sz="2400" dirty="0"/>
              <a:t> That You Are Working On or Have Completed </a:t>
            </a:r>
            <a:r>
              <a:rPr lang="en-US" sz="2400" b="1" i="1" u="sng" dirty="0"/>
              <a:t>IN THE CURRENT WEEK</a:t>
            </a:r>
            <a:r>
              <a:rPr lang="en-US" sz="2400" dirty="0"/>
              <a:t>…</a:t>
            </a:r>
          </a:p>
          <a:p>
            <a:pPr>
              <a:lnSpc>
                <a:spcPct val="120000"/>
              </a:lnSpc>
            </a:pPr>
            <a:r>
              <a:rPr lang="en-US" sz="2400" dirty="0"/>
              <a:t>You Can Show Either a Portion of  the Item or the Entire Completed Item If the Item is Not Too Large…</a:t>
            </a:r>
          </a:p>
          <a:p>
            <a:pPr>
              <a:lnSpc>
                <a:spcPct val="120000"/>
              </a:lnSpc>
            </a:pPr>
            <a:r>
              <a:rPr lang="en-US" sz="2400" dirty="0"/>
              <a:t>You Should Also Have a </a:t>
            </a:r>
            <a:r>
              <a:rPr lang="en-US" sz="2400" b="1" dirty="0"/>
              <a:t>SHORT</a:t>
            </a:r>
            <a:r>
              <a:rPr lang="en-US" sz="2400" dirty="0"/>
              <a:t> Description of the What the Item is and </a:t>
            </a:r>
            <a:r>
              <a:rPr lang="en-US" sz="2400" b="1" u="sng" dirty="0"/>
              <a:t>WHY</a:t>
            </a:r>
            <a:r>
              <a:rPr lang="en-US" sz="2400" dirty="0"/>
              <a:t> You Are Showing What You Are Showing…</a:t>
            </a:r>
          </a:p>
          <a:p>
            <a:pPr>
              <a:lnSpc>
                <a:spcPct val="120000"/>
              </a:lnSpc>
            </a:pPr>
            <a:r>
              <a:rPr lang="en-US" sz="2400" dirty="0"/>
              <a:t>For Example:</a:t>
            </a:r>
          </a:p>
          <a:p>
            <a:pPr lvl="1">
              <a:lnSpc>
                <a:spcPct val="120000"/>
              </a:lnSpc>
              <a:buFont typeface="Wingdings" panose="05000000000000000000" pitchFamily="2" charset="2"/>
              <a:buChar char="§"/>
            </a:pPr>
            <a:r>
              <a:rPr lang="en-US" sz="1800" dirty="0"/>
              <a:t>If the Completed Task was a 20-Page 1.0 Business Understanding Document, Do </a:t>
            </a:r>
            <a:r>
              <a:rPr lang="en-US" sz="1800" b="1" dirty="0"/>
              <a:t>NOT</a:t>
            </a:r>
            <a:r>
              <a:rPr lang="en-US" sz="1800" dirty="0"/>
              <a:t> Show All 20-Pages…Maybe Show One or Two Sections…</a:t>
            </a:r>
          </a:p>
          <a:p>
            <a:pPr lvl="1">
              <a:lnSpc>
                <a:spcPct val="120000"/>
              </a:lnSpc>
              <a:buFont typeface="Wingdings" panose="05000000000000000000" pitchFamily="2" charset="2"/>
              <a:buChar char="§"/>
            </a:pPr>
            <a:r>
              <a:rPr lang="en-US" sz="1800" dirty="0"/>
              <a:t>If the Completed Task Was the 3NF ERD, You Might Want to Show the Entire Completed Diagram…</a:t>
            </a:r>
          </a:p>
          <a:p>
            <a:pPr lvl="1">
              <a:lnSpc>
                <a:spcPct val="120000"/>
              </a:lnSpc>
              <a:buFont typeface="Wingdings" panose="05000000000000000000" pitchFamily="2" charset="2"/>
              <a:buChar char="§"/>
            </a:pPr>
            <a:r>
              <a:rPr lang="en-US" sz="1800" dirty="0"/>
              <a:t>Any Links You Might Have to Any Item Would Also Go Here…</a:t>
            </a:r>
            <a:r>
              <a:rPr lang="en-US" sz="1800" b="1" dirty="0"/>
              <a:t>MAKE SURE NO SPECIAL LOGIN IS REQUIRED!...</a:t>
            </a:r>
          </a:p>
        </p:txBody>
      </p:sp>
    </p:spTree>
    <p:extLst>
      <p:ext uri="{BB962C8B-B14F-4D97-AF65-F5344CB8AC3E}">
        <p14:creationId xmlns:p14="http://schemas.microsoft.com/office/powerpoint/2010/main" val="27707533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Issues, Risks, Concerns…</a:t>
            </a:r>
          </a:p>
        </p:txBody>
      </p:sp>
      <p:sp>
        <p:nvSpPr>
          <p:cNvPr id="3" name="Content Placeholder 2"/>
          <p:cNvSpPr>
            <a:spLocks noGrp="1"/>
          </p:cNvSpPr>
          <p:nvPr>
            <p:ph idx="1"/>
          </p:nvPr>
        </p:nvSpPr>
        <p:spPr>
          <a:xfrm>
            <a:off x="599090" y="1179320"/>
            <a:ext cx="10993816" cy="4533583"/>
          </a:xfrm>
        </p:spPr>
        <p:txBody>
          <a:bodyPr>
            <a:normAutofit/>
          </a:bodyPr>
          <a:lstStyle/>
          <a:p>
            <a:pPr marL="228600" lvl="1">
              <a:lnSpc>
                <a:spcPct val="100000"/>
              </a:lnSpc>
              <a:spcBef>
                <a:spcPts val="1000"/>
              </a:spcBef>
              <a:buFont typeface="Arial" panose="020B0604020202020204" pitchFamily="34" charset="0"/>
              <a:buChar char="•"/>
            </a:pPr>
            <a:r>
              <a:rPr lang="en-US" sz="2800" dirty="0"/>
              <a:t>Every Project Has Issues, Risks and Concerns at Some Point…</a:t>
            </a:r>
          </a:p>
          <a:p>
            <a:pPr marL="228600" lvl="1">
              <a:lnSpc>
                <a:spcPct val="100000"/>
              </a:lnSpc>
              <a:spcBef>
                <a:spcPts val="1000"/>
              </a:spcBef>
              <a:buFont typeface="Arial" panose="020B0604020202020204" pitchFamily="34" charset="0"/>
              <a:buChar char="•"/>
            </a:pPr>
            <a:r>
              <a:rPr lang="en-US" sz="2800" dirty="0"/>
              <a:t>You Should List Issues, Risks, and Concerns </a:t>
            </a:r>
            <a:r>
              <a:rPr lang="en-US" sz="2800" b="1" dirty="0"/>
              <a:t>SEPARATELY</a:t>
            </a:r>
            <a:r>
              <a:rPr lang="en-US" sz="2800" dirty="0"/>
              <a:t>…</a:t>
            </a:r>
          </a:p>
          <a:p>
            <a:pPr marL="228600" lvl="1">
              <a:lnSpc>
                <a:spcPct val="100000"/>
              </a:lnSpc>
              <a:spcBef>
                <a:spcPts val="1000"/>
              </a:spcBef>
              <a:buFont typeface="Arial" panose="020B0604020202020204" pitchFamily="34" charset="0"/>
              <a:buChar char="•"/>
            </a:pPr>
            <a:r>
              <a:rPr lang="en-US" sz="2800" dirty="0"/>
              <a:t>For Each Issue, Risk, or Concern You Need to Identify the Impact and Some Mitigation Strategy…</a:t>
            </a:r>
          </a:p>
          <a:p>
            <a:pPr marL="228600" lvl="1">
              <a:lnSpc>
                <a:spcPct val="100000"/>
              </a:lnSpc>
              <a:spcBef>
                <a:spcPts val="1000"/>
              </a:spcBef>
              <a:buFont typeface="Arial" panose="020B0604020202020204" pitchFamily="34" charset="0"/>
              <a:buChar char="•"/>
            </a:pPr>
            <a:r>
              <a:rPr lang="en-US" sz="2800" dirty="0"/>
              <a:t>If You Have No Issues, Then Show “Issues: None”…the Same With Risks and Concerns…</a:t>
            </a:r>
          </a:p>
        </p:txBody>
      </p:sp>
    </p:spTree>
    <p:extLst>
      <p:ext uri="{BB962C8B-B14F-4D97-AF65-F5344CB8AC3E}">
        <p14:creationId xmlns:p14="http://schemas.microsoft.com/office/powerpoint/2010/main" val="29441432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What’s the Difference?…</a:t>
            </a:r>
          </a:p>
        </p:txBody>
      </p:sp>
      <p:sp>
        <p:nvSpPr>
          <p:cNvPr id="3" name="Content Placeholder 2"/>
          <p:cNvSpPr>
            <a:spLocks noGrp="1"/>
          </p:cNvSpPr>
          <p:nvPr>
            <p:ph idx="1"/>
          </p:nvPr>
        </p:nvSpPr>
        <p:spPr>
          <a:xfrm>
            <a:off x="599090" y="1051134"/>
            <a:ext cx="10993816" cy="4777098"/>
          </a:xfrm>
        </p:spPr>
        <p:txBody>
          <a:bodyPr>
            <a:normAutofit/>
          </a:bodyPr>
          <a:lstStyle/>
          <a:p>
            <a:pPr marL="228600" lvl="1">
              <a:lnSpc>
                <a:spcPct val="100000"/>
              </a:lnSpc>
              <a:spcBef>
                <a:spcPts val="1000"/>
              </a:spcBef>
              <a:buFont typeface="Arial" panose="020B0604020202020204" pitchFamily="34" charset="0"/>
              <a:buChar char="•"/>
            </a:pPr>
            <a:r>
              <a:rPr lang="en-US" dirty="0"/>
              <a:t>Issues are </a:t>
            </a:r>
            <a:r>
              <a:rPr lang="en-US" b="1" i="1" dirty="0"/>
              <a:t>REAL</a:t>
            </a:r>
            <a:r>
              <a:rPr lang="en-US" dirty="0"/>
              <a:t>…They Have Already Occurred…They are Most ALWAYS Negative…</a:t>
            </a:r>
          </a:p>
          <a:p>
            <a:pPr marL="800100" lvl="2" indent="-342900">
              <a:lnSpc>
                <a:spcPct val="100000"/>
              </a:lnSpc>
              <a:spcBef>
                <a:spcPts val="1000"/>
              </a:spcBef>
            </a:pPr>
            <a:r>
              <a:rPr lang="en-US" dirty="0"/>
              <a:t>Hardware </a:t>
            </a:r>
            <a:r>
              <a:rPr lang="en-US" b="1" i="1" u="sng" dirty="0"/>
              <a:t>will</a:t>
            </a:r>
            <a:r>
              <a:rPr lang="en-US" dirty="0"/>
              <a:t> be delayed two weeks…</a:t>
            </a:r>
          </a:p>
          <a:p>
            <a:pPr marL="800100" lvl="2" indent="-342900">
              <a:lnSpc>
                <a:spcPct val="100000"/>
              </a:lnSpc>
              <a:spcBef>
                <a:spcPts val="1000"/>
              </a:spcBef>
            </a:pPr>
            <a:r>
              <a:rPr lang="en-US" dirty="0"/>
              <a:t>Our budget </a:t>
            </a:r>
            <a:r>
              <a:rPr lang="en-US" b="1" i="1" u="sng" dirty="0"/>
              <a:t>has</a:t>
            </a:r>
            <a:r>
              <a:rPr lang="en-US" dirty="0"/>
              <a:t> been cut 20%...</a:t>
            </a:r>
          </a:p>
          <a:p>
            <a:pPr marL="228600" lvl="1">
              <a:lnSpc>
                <a:spcPct val="100000"/>
              </a:lnSpc>
              <a:spcBef>
                <a:spcPts val="1000"/>
              </a:spcBef>
              <a:buFont typeface="Arial" panose="020B0604020202020204" pitchFamily="34" charset="0"/>
              <a:buChar char="•"/>
            </a:pPr>
            <a:r>
              <a:rPr lang="en-US" dirty="0"/>
              <a:t>Risks are </a:t>
            </a:r>
            <a:r>
              <a:rPr lang="en-US" b="1" i="1" dirty="0"/>
              <a:t>POTENTIAL</a:t>
            </a:r>
            <a:r>
              <a:rPr lang="en-US" dirty="0"/>
              <a:t> Problems…They MIGHT Occur in the Future…They Can Be Positive or Negative…</a:t>
            </a:r>
          </a:p>
          <a:p>
            <a:pPr marL="800100" lvl="2" indent="-342900">
              <a:lnSpc>
                <a:spcPct val="100000"/>
              </a:lnSpc>
              <a:spcBef>
                <a:spcPts val="1000"/>
              </a:spcBef>
            </a:pPr>
            <a:r>
              <a:rPr lang="en-US" b="1" dirty="0"/>
              <a:t>NEGATIVE</a:t>
            </a:r>
            <a:r>
              <a:rPr lang="en-US" dirty="0"/>
              <a:t>: The system feeding us data </a:t>
            </a:r>
            <a:r>
              <a:rPr lang="en-US" b="1" i="1" u="sng" dirty="0"/>
              <a:t>might</a:t>
            </a:r>
            <a:r>
              <a:rPr lang="en-US" dirty="0"/>
              <a:t> be delayed two weeks…</a:t>
            </a:r>
          </a:p>
          <a:p>
            <a:pPr marL="800100" lvl="2" indent="-342900">
              <a:lnSpc>
                <a:spcPct val="100000"/>
              </a:lnSpc>
              <a:spcBef>
                <a:spcPts val="1000"/>
              </a:spcBef>
            </a:pPr>
            <a:r>
              <a:rPr lang="en-US" b="1" dirty="0"/>
              <a:t>POSITIVE</a:t>
            </a:r>
            <a:r>
              <a:rPr lang="en-US" dirty="0"/>
              <a:t>: Marketing now says that signup for the new system </a:t>
            </a:r>
            <a:r>
              <a:rPr lang="en-US" b="1" i="1" u="sng" dirty="0"/>
              <a:t>might</a:t>
            </a:r>
            <a:r>
              <a:rPr lang="en-US" dirty="0"/>
              <a:t> be significantly higher than they expected…</a:t>
            </a:r>
          </a:p>
          <a:p>
            <a:pPr marL="228600" lvl="1">
              <a:lnSpc>
                <a:spcPct val="100000"/>
              </a:lnSpc>
              <a:spcBef>
                <a:spcPts val="1000"/>
              </a:spcBef>
              <a:buFont typeface="Arial" panose="020B0604020202020204" pitchFamily="34" charset="0"/>
              <a:buChar char="•"/>
            </a:pPr>
            <a:r>
              <a:rPr lang="en-US" dirty="0"/>
              <a:t>Concerns are Items That Are </a:t>
            </a:r>
            <a:r>
              <a:rPr lang="en-US" b="1" i="1" dirty="0"/>
              <a:t>Out of Our Control </a:t>
            </a:r>
            <a:r>
              <a:rPr lang="en-US" dirty="0"/>
              <a:t>That We Evaluate and Determine Could Be Impactful to Us…</a:t>
            </a:r>
          </a:p>
          <a:p>
            <a:pPr marL="800100" lvl="2" indent="-342900">
              <a:lnSpc>
                <a:spcPct val="100000"/>
              </a:lnSpc>
              <a:spcBef>
                <a:spcPts val="1000"/>
              </a:spcBef>
            </a:pPr>
            <a:r>
              <a:rPr lang="en-US" dirty="0"/>
              <a:t>The current rate of inflation </a:t>
            </a:r>
            <a:r>
              <a:rPr lang="en-US" b="1" i="1" u="sng" dirty="0"/>
              <a:t>might</a:t>
            </a:r>
            <a:r>
              <a:rPr lang="en-US" dirty="0"/>
              <a:t> cause the business to rethink this entire project…</a:t>
            </a:r>
          </a:p>
        </p:txBody>
      </p:sp>
    </p:spTree>
    <p:extLst>
      <p:ext uri="{BB962C8B-B14F-4D97-AF65-F5344CB8AC3E}">
        <p14:creationId xmlns:p14="http://schemas.microsoft.com/office/powerpoint/2010/main" val="40190723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1B11B-4862-53BA-458A-2C20CB389B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F6C6EE-9E7E-AF00-3434-59E03B01B8DF}"/>
              </a:ext>
            </a:extLst>
          </p:cNvPr>
          <p:cNvSpPr>
            <a:spLocks noGrp="1"/>
          </p:cNvSpPr>
          <p:nvPr>
            <p:ph type="title"/>
          </p:nvPr>
        </p:nvSpPr>
        <p:spPr/>
        <p:txBody>
          <a:bodyPr/>
          <a:lstStyle/>
          <a:p>
            <a:r>
              <a:rPr lang="en-US" dirty="0"/>
              <a:t>Notes on Issues, Risks, Concerns…</a:t>
            </a:r>
          </a:p>
        </p:txBody>
      </p:sp>
      <p:sp>
        <p:nvSpPr>
          <p:cNvPr id="3" name="Content Placeholder 2">
            <a:extLst>
              <a:ext uri="{FF2B5EF4-FFF2-40B4-BE49-F238E27FC236}">
                <a16:creationId xmlns:a16="http://schemas.microsoft.com/office/drawing/2014/main" id="{A9C98C48-BC09-0A98-9010-983FD457B93F}"/>
              </a:ext>
            </a:extLst>
          </p:cNvPr>
          <p:cNvSpPr>
            <a:spLocks noGrp="1"/>
          </p:cNvSpPr>
          <p:nvPr>
            <p:ph idx="1"/>
          </p:nvPr>
        </p:nvSpPr>
        <p:spPr>
          <a:xfrm>
            <a:off x="599090" y="1124608"/>
            <a:ext cx="10993816" cy="4711042"/>
          </a:xfrm>
        </p:spPr>
        <p:txBody>
          <a:bodyPr>
            <a:normAutofit/>
          </a:bodyPr>
          <a:lstStyle/>
          <a:p>
            <a:pPr marL="228600" lvl="1">
              <a:lnSpc>
                <a:spcPct val="120000"/>
              </a:lnSpc>
              <a:spcBef>
                <a:spcPts val="1000"/>
              </a:spcBef>
              <a:buFont typeface="Arial" panose="020B0604020202020204" pitchFamily="34" charset="0"/>
              <a:buChar char="•"/>
            </a:pPr>
            <a:r>
              <a:rPr lang="en-US" dirty="0"/>
              <a:t>These Items Relate to the </a:t>
            </a:r>
            <a:r>
              <a:rPr lang="en-US" b="1" dirty="0"/>
              <a:t>PROJECT</a:t>
            </a:r>
            <a:r>
              <a:rPr lang="en-US" dirty="0"/>
              <a:t> – </a:t>
            </a:r>
            <a:r>
              <a:rPr lang="en-US" b="1" i="1" u="sng" dirty="0"/>
              <a:t>NOT</a:t>
            </a:r>
            <a:r>
              <a:rPr lang="en-US" dirty="0"/>
              <a:t> to the Business You Are Creating For…</a:t>
            </a:r>
          </a:p>
          <a:p>
            <a:pPr marL="800100" lvl="2" indent="-342900">
              <a:lnSpc>
                <a:spcPct val="120000"/>
              </a:lnSpc>
              <a:spcBef>
                <a:spcPts val="1000"/>
              </a:spcBef>
            </a:pPr>
            <a:r>
              <a:rPr lang="en-US" b="1" i="1" dirty="0"/>
              <a:t>"A New Competitor is Entering the Market" </a:t>
            </a:r>
            <a:r>
              <a:rPr lang="en-US" dirty="0"/>
              <a:t>is a </a:t>
            </a:r>
            <a:r>
              <a:rPr lang="en-US" b="1" dirty="0"/>
              <a:t>BUSINESS</a:t>
            </a:r>
            <a:r>
              <a:rPr lang="en-US" dirty="0"/>
              <a:t> issue – </a:t>
            </a:r>
            <a:r>
              <a:rPr lang="en-US" b="1" dirty="0"/>
              <a:t>NOT</a:t>
            </a:r>
            <a:r>
              <a:rPr lang="en-US" dirty="0"/>
              <a:t> a Project Issue…</a:t>
            </a:r>
          </a:p>
          <a:p>
            <a:pPr marL="228600" lvl="1">
              <a:lnSpc>
                <a:spcPct val="120000"/>
              </a:lnSpc>
              <a:spcBef>
                <a:spcPts val="1000"/>
              </a:spcBef>
              <a:buFont typeface="Arial" panose="020B0604020202020204" pitchFamily="34" charset="0"/>
              <a:buChar char="•"/>
            </a:pPr>
            <a:r>
              <a:rPr lang="en-US" dirty="0"/>
              <a:t>Items Put Here Are Issues, Risks and Concerns That Could Impact the ENTIRE Project…Task Issues Should Be On the Task Slides (Unless the TASK Issue Will Impact the PROJECT)…</a:t>
            </a:r>
          </a:p>
          <a:p>
            <a:pPr marL="800100" lvl="2" indent="-342900">
              <a:lnSpc>
                <a:spcPct val="120000"/>
              </a:lnSpc>
              <a:spcBef>
                <a:spcPts val="1000"/>
              </a:spcBef>
            </a:pPr>
            <a:r>
              <a:rPr lang="en-US" b="1" i="1" dirty="0"/>
              <a:t>"Servers are Delayed Two Weeks" </a:t>
            </a:r>
            <a:r>
              <a:rPr lang="en-US" dirty="0"/>
              <a:t>Will Impact the </a:t>
            </a:r>
            <a:r>
              <a:rPr lang="en-US" b="1" dirty="0"/>
              <a:t>ENTIRE</a:t>
            </a:r>
            <a:r>
              <a:rPr lang="en-US" dirty="0"/>
              <a:t> Project and </a:t>
            </a:r>
            <a:r>
              <a:rPr lang="en-US" b="1" dirty="0"/>
              <a:t>SHOULD</a:t>
            </a:r>
            <a:r>
              <a:rPr lang="en-US" dirty="0"/>
              <a:t> Be on This Slide…</a:t>
            </a:r>
          </a:p>
          <a:p>
            <a:pPr marL="800100" lvl="2" indent="-342900">
              <a:lnSpc>
                <a:spcPct val="120000"/>
              </a:lnSpc>
              <a:spcBef>
                <a:spcPts val="1000"/>
              </a:spcBef>
            </a:pPr>
            <a:r>
              <a:rPr lang="en-US" b="1" i="1" dirty="0"/>
              <a:t>"Need to Add Four Junction Tables to the ERD" </a:t>
            </a:r>
            <a:r>
              <a:rPr lang="en-US" dirty="0"/>
              <a:t>Will NOT Impact the Entire Project and Should NOT Be on This Slide…</a:t>
            </a:r>
          </a:p>
        </p:txBody>
      </p:sp>
    </p:spTree>
    <p:extLst>
      <p:ext uri="{BB962C8B-B14F-4D97-AF65-F5344CB8AC3E}">
        <p14:creationId xmlns:p14="http://schemas.microsoft.com/office/powerpoint/2010/main" val="22955361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More Notes on Issues, Risks, Concerns…</a:t>
            </a:r>
          </a:p>
        </p:txBody>
      </p:sp>
      <p:sp>
        <p:nvSpPr>
          <p:cNvPr id="3" name="Content Placeholder 2"/>
          <p:cNvSpPr>
            <a:spLocks noGrp="1"/>
          </p:cNvSpPr>
          <p:nvPr>
            <p:ph idx="1"/>
          </p:nvPr>
        </p:nvSpPr>
        <p:spPr>
          <a:xfrm>
            <a:off x="599090" y="1253612"/>
            <a:ext cx="10993816" cy="4424517"/>
          </a:xfrm>
        </p:spPr>
        <p:txBody>
          <a:bodyPr>
            <a:normAutofit/>
          </a:bodyPr>
          <a:lstStyle/>
          <a:p>
            <a:pPr marL="228600" lvl="1">
              <a:lnSpc>
                <a:spcPct val="120000"/>
              </a:lnSpc>
              <a:spcBef>
                <a:spcPts val="1000"/>
              </a:spcBef>
              <a:buFont typeface="Arial" panose="020B0604020202020204" pitchFamily="34" charset="0"/>
              <a:buChar char="•"/>
            </a:pPr>
            <a:r>
              <a:rPr lang="en-US" dirty="0"/>
              <a:t>Anything Listed </a:t>
            </a:r>
            <a:r>
              <a:rPr lang="en-US" b="1" dirty="0"/>
              <a:t>MUST</a:t>
            </a:r>
            <a:r>
              <a:rPr lang="en-US" dirty="0"/>
              <a:t> be </a:t>
            </a:r>
            <a:r>
              <a:rPr lang="en-US" b="1" dirty="0"/>
              <a:t>SPECIFIC</a:t>
            </a:r>
            <a:r>
              <a:rPr lang="en-US" dirty="0"/>
              <a:t> to </a:t>
            </a:r>
            <a:r>
              <a:rPr lang="en-US" b="1" dirty="0"/>
              <a:t>YOUR</a:t>
            </a:r>
            <a:r>
              <a:rPr lang="en-US" dirty="0"/>
              <a:t> Project and They Must Be </a:t>
            </a:r>
            <a:r>
              <a:rPr lang="en-US" b="1" dirty="0"/>
              <a:t>REAL</a:t>
            </a:r>
            <a:r>
              <a:rPr lang="en-US" dirty="0"/>
              <a:t>…</a:t>
            </a:r>
          </a:p>
          <a:p>
            <a:pPr marL="800100" lvl="2" indent="-342900">
              <a:lnSpc>
                <a:spcPct val="120000"/>
              </a:lnSpc>
              <a:spcBef>
                <a:spcPts val="1000"/>
              </a:spcBef>
            </a:pPr>
            <a:r>
              <a:rPr lang="en-US" i="1" dirty="0"/>
              <a:t>"Cannot Find a Significant Amount of Data" </a:t>
            </a:r>
            <a:r>
              <a:rPr lang="en-US" b="1" dirty="0"/>
              <a:t>IS</a:t>
            </a:r>
            <a:r>
              <a:rPr lang="en-US" dirty="0"/>
              <a:t> Real…</a:t>
            </a:r>
          </a:p>
          <a:p>
            <a:pPr marL="800100" lvl="2" indent="-342900">
              <a:lnSpc>
                <a:spcPct val="120000"/>
              </a:lnSpc>
              <a:spcBef>
                <a:spcPts val="1000"/>
              </a:spcBef>
            </a:pPr>
            <a:r>
              <a:rPr lang="en-US" i="1" dirty="0"/>
              <a:t>“So Far the Only Data I Have Found is Over 5 Years Old" </a:t>
            </a:r>
            <a:r>
              <a:rPr lang="en-US" b="1" dirty="0"/>
              <a:t>IS</a:t>
            </a:r>
            <a:r>
              <a:rPr lang="en-US" dirty="0"/>
              <a:t> Real…</a:t>
            </a:r>
          </a:p>
          <a:p>
            <a:pPr marL="800100" lvl="2" indent="-342900">
              <a:lnSpc>
                <a:spcPct val="120000"/>
              </a:lnSpc>
              <a:spcBef>
                <a:spcPts val="1000"/>
              </a:spcBef>
            </a:pPr>
            <a:r>
              <a:rPr lang="en-US" i="1" dirty="0"/>
              <a:t>“Internet Connect Might Go Down”</a:t>
            </a:r>
            <a:r>
              <a:rPr lang="en-US" dirty="0"/>
              <a:t> is </a:t>
            </a:r>
            <a:r>
              <a:rPr lang="en-US" b="1" dirty="0"/>
              <a:t>NOT</a:t>
            </a:r>
            <a:r>
              <a:rPr lang="en-US" dirty="0"/>
              <a:t> Real…</a:t>
            </a:r>
          </a:p>
          <a:p>
            <a:pPr marL="800100" lvl="2" indent="-342900">
              <a:lnSpc>
                <a:spcPct val="120000"/>
              </a:lnSpc>
              <a:spcBef>
                <a:spcPts val="1000"/>
              </a:spcBef>
            </a:pPr>
            <a:r>
              <a:rPr lang="en-US" i="1" dirty="0"/>
              <a:t>“I Might Get Sick” </a:t>
            </a:r>
            <a:r>
              <a:rPr lang="en-US" dirty="0"/>
              <a:t>is </a:t>
            </a:r>
            <a:r>
              <a:rPr lang="en-US" b="1" dirty="0"/>
              <a:t>NOT</a:t>
            </a:r>
            <a:r>
              <a:rPr lang="en-US" dirty="0"/>
              <a:t> Real…</a:t>
            </a:r>
          </a:p>
          <a:p>
            <a:pPr marL="228600" lvl="1">
              <a:lnSpc>
                <a:spcPct val="120000"/>
              </a:lnSpc>
              <a:spcBef>
                <a:spcPts val="1000"/>
              </a:spcBef>
              <a:buFont typeface="Arial" panose="020B0604020202020204" pitchFamily="34" charset="0"/>
              <a:buChar char="•"/>
            </a:pPr>
            <a:r>
              <a:rPr lang="en-US" dirty="0"/>
              <a:t>It is Totally Fine to NOT Have Any Issues, Risks, or Concerns…</a:t>
            </a:r>
          </a:p>
        </p:txBody>
      </p:sp>
    </p:spTree>
    <p:extLst>
      <p:ext uri="{BB962C8B-B14F-4D97-AF65-F5344CB8AC3E}">
        <p14:creationId xmlns:p14="http://schemas.microsoft.com/office/powerpoint/2010/main" val="16532047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Next Steps…</a:t>
            </a:r>
          </a:p>
        </p:txBody>
      </p:sp>
      <p:sp>
        <p:nvSpPr>
          <p:cNvPr id="3" name="Content Placeholder 2"/>
          <p:cNvSpPr>
            <a:spLocks noGrp="1"/>
          </p:cNvSpPr>
          <p:nvPr>
            <p:ph idx="1"/>
          </p:nvPr>
        </p:nvSpPr>
        <p:spPr>
          <a:xfrm>
            <a:off x="599090" y="1124608"/>
            <a:ext cx="10993816" cy="4692532"/>
          </a:xfrm>
        </p:spPr>
        <p:txBody>
          <a:bodyPr>
            <a:normAutofit fontScale="92500"/>
          </a:bodyPr>
          <a:lstStyle/>
          <a:p>
            <a:pPr>
              <a:lnSpc>
                <a:spcPct val="100000"/>
              </a:lnSpc>
            </a:pPr>
            <a:r>
              <a:rPr lang="en-US" sz="2400" dirty="0">
                <a:solidFill>
                  <a:prstClr val="black"/>
                </a:solidFill>
              </a:rPr>
              <a:t>Your Project Should </a:t>
            </a:r>
            <a:r>
              <a:rPr lang="en-US" sz="2400" b="1" dirty="0">
                <a:solidFill>
                  <a:prstClr val="black"/>
                </a:solidFill>
              </a:rPr>
              <a:t>ALWAYS</a:t>
            </a:r>
            <a:r>
              <a:rPr lang="en-US" sz="2400" dirty="0">
                <a:solidFill>
                  <a:prstClr val="black"/>
                </a:solidFill>
              </a:rPr>
              <a:t> Have </a:t>
            </a:r>
            <a:r>
              <a:rPr lang="en-US" sz="2400" b="1" dirty="0">
                <a:solidFill>
                  <a:prstClr val="black"/>
                </a:solidFill>
              </a:rPr>
              <a:t>SOMETHING</a:t>
            </a:r>
            <a:r>
              <a:rPr lang="en-US" sz="2400" dirty="0">
                <a:solidFill>
                  <a:prstClr val="black"/>
                </a:solidFill>
              </a:rPr>
              <a:t> Coming Up!…</a:t>
            </a:r>
          </a:p>
          <a:p>
            <a:pPr>
              <a:lnSpc>
                <a:spcPct val="100000"/>
              </a:lnSpc>
            </a:pPr>
            <a:r>
              <a:rPr lang="en-US" sz="2400" dirty="0">
                <a:solidFill>
                  <a:prstClr val="black"/>
                </a:solidFill>
              </a:rPr>
              <a:t>This Slide Will Should Include a </a:t>
            </a:r>
            <a:r>
              <a:rPr lang="en-US" sz="2400" b="1" i="1" dirty="0">
                <a:solidFill>
                  <a:prstClr val="black"/>
                </a:solidFill>
              </a:rPr>
              <a:t>Summary</a:t>
            </a:r>
            <a:r>
              <a:rPr lang="en-US" sz="2400" dirty="0">
                <a:solidFill>
                  <a:prstClr val="black"/>
                </a:solidFill>
              </a:rPr>
              <a:t> of the Items You Will Be Working On in the Coming Week(s)…</a:t>
            </a:r>
          </a:p>
          <a:p>
            <a:pPr>
              <a:lnSpc>
                <a:spcPct val="100000"/>
              </a:lnSpc>
            </a:pPr>
            <a:r>
              <a:rPr lang="en-US" sz="2400" dirty="0">
                <a:solidFill>
                  <a:prstClr val="black"/>
                </a:solidFill>
              </a:rPr>
              <a:t>This Would Include : </a:t>
            </a:r>
          </a:p>
          <a:p>
            <a:pPr lvl="1">
              <a:lnSpc>
                <a:spcPct val="100000"/>
              </a:lnSpc>
              <a:buFont typeface="Wingdings" panose="05000000000000000000" pitchFamily="2" charset="2"/>
              <a:buChar char="ü"/>
            </a:pPr>
            <a:r>
              <a:rPr lang="en-US" sz="2000" dirty="0">
                <a:solidFill>
                  <a:prstClr val="black"/>
                </a:solidFill>
              </a:rPr>
              <a:t>'Official' Items on Your Project Plan That You Are Continuing to Work On…</a:t>
            </a:r>
          </a:p>
          <a:p>
            <a:pPr lvl="1">
              <a:lnSpc>
                <a:spcPct val="100000"/>
              </a:lnSpc>
              <a:buFont typeface="Wingdings" panose="05000000000000000000" pitchFamily="2" charset="2"/>
              <a:buChar char="ü"/>
            </a:pPr>
            <a:r>
              <a:rPr lang="en-US" sz="2000" dirty="0">
                <a:solidFill>
                  <a:prstClr val="black"/>
                </a:solidFill>
              </a:rPr>
              <a:t>'Official' Items on Your Project Plan That You Will Start in the Next Week or Two…</a:t>
            </a:r>
          </a:p>
          <a:p>
            <a:pPr lvl="1">
              <a:lnSpc>
                <a:spcPct val="100000"/>
              </a:lnSpc>
              <a:buFont typeface="Wingdings" panose="05000000000000000000" pitchFamily="2" charset="2"/>
              <a:buChar char="ü"/>
            </a:pPr>
            <a:r>
              <a:rPr lang="en-US" sz="2000" dirty="0">
                <a:solidFill>
                  <a:prstClr val="black"/>
                </a:solidFill>
              </a:rPr>
              <a:t>Any Other Task or Research That Needs to Be Performed That is Not an 'Official' Task on Your Plan…</a:t>
            </a:r>
          </a:p>
          <a:p>
            <a:pPr>
              <a:lnSpc>
                <a:spcPct val="100000"/>
              </a:lnSpc>
            </a:pPr>
            <a:r>
              <a:rPr lang="en-US" sz="2400" b="1" dirty="0">
                <a:solidFill>
                  <a:prstClr val="black"/>
                </a:solidFill>
              </a:rPr>
              <a:t>REMEMBER</a:t>
            </a:r>
            <a:r>
              <a:rPr lang="en-US" sz="2400" dirty="0">
                <a:solidFill>
                  <a:prstClr val="black"/>
                </a:solidFill>
              </a:rPr>
              <a:t>: </a:t>
            </a:r>
            <a:r>
              <a:rPr lang="en-US" sz="2400" b="1" i="1" dirty="0">
                <a:solidFill>
                  <a:prstClr val="black"/>
                </a:solidFill>
              </a:rPr>
              <a:t>EVERY</a:t>
            </a:r>
            <a:r>
              <a:rPr lang="en-US" sz="2400" dirty="0">
                <a:solidFill>
                  <a:prstClr val="black"/>
                </a:solidFill>
              </a:rPr>
              <a:t> Task Listed Should List the Original/Revised/Actual Start/End Dates…</a:t>
            </a:r>
          </a:p>
          <a:p>
            <a:pPr marL="0" indent="0">
              <a:lnSpc>
                <a:spcPct val="100000"/>
              </a:lnSpc>
              <a:buNone/>
            </a:pPr>
            <a:endParaRPr lang="en-US" sz="1500" b="1" i="1" dirty="0">
              <a:solidFill>
                <a:prstClr val="black"/>
              </a:solidFill>
            </a:endParaRPr>
          </a:p>
          <a:p>
            <a:pPr marL="0" indent="0">
              <a:lnSpc>
                <a:spcPct val="100000"/>
              </a:lnSpc>
              <a:buNone/>
            </a:pPr>
            <a:r>
              <a:rPr lang="en-US" sz="2400" b="1" i="1" dirty="0">
                <a:solidFill>
                  <a:prstClr val="black"/>
                </a:solidFill>
              </a:rPr>
              <a:t>NOTE: </a:t>
            </a:r>
            <a:r>
              <a:rPr lang="en-US" sz="2400" i="1" dirty="0">
                <a:solidFill>
                  <a:prstClr val="black"/>
                </a:solidFill>
              </a:rPr>
              <a:t>Your Project Plan Should Have Most of This Information…You May Include a Snapshot of Your Project Plan Here and Then Supplement What is Missing…</a:t>
            </a:r>
          </a:p>
        </p:txBody>
      </p:sp>
    </p:spTree>
    <p:extLst>
      <p:ext uri="{BB962C8B-B14F-4D97-AF65-F5344CB8AC3E}">
        <p14:creationId xmlns:p14="http://schemas.microsoft.com/office/powerpoint/2010/main" val="16573415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Personal Reflection…</a:t>
            </a:r>
          </a:p>
        </p:txBody>
      </p:sp>
      <p:sp>
        <p:nvSpPr>
          <p:cNvPr id="3" name="Content Placeholder 2"/>
          <p:cNvSpPr>
            <a:spLocks noGrp="1"/>
          </p:cNvSpPr>
          <p:nvPr>
            <p:ph idx="1"/>
          </p:nvPr>
        </p:nvSpPr>
        <p:spPr>
          <a:xfrm>
            <a:off x="599090" y="1124608"/>
            <a:ext cx="10993816" cy="4660895"/>
          </a:xfrm>
        </p:spPr>
        <p:txBody>
          <a:bodyPr>
            <a:normAutofit fontScale="85000" lnSpcReduction="10000"/>
          </a:bodyPr>
          <a:lstStyle/>
          <a:p>
            <a:pPr marR="0" lvl="0">
              <a:lnSpc>
                <a:spcPct val="120000"/>
              </a:lnSpc>
              <a:spcAft>
                <a:spcPts val="0"/>
              </a:spcAft>
            </a:pPr>
            <a:r>
              <a:rPr lang="en-US" sz="2400" dirty="0"/>
              <a:t>Many People Keep a Personal Journal When They Work on Projects, and Also, in Their Daily Lives (I Kept Project Journals for Decades!)…</a:t>
            </a:r>
          </a:p>
          <a:p>
            <a:pPr marR="0" lvl="0">
              <a:lnSpc>
                <a:spcPct val="120000"/>
              </a:lnSpc>
              <a:spcAft>
                <a:spcPts val="0"/>
              </a:spcAft>
            </a:pPr>
            <a:r>
              <a:rPr lang="en-US" sz="2400" dirty="0"/>
              <a:t>Journaling and Reflecting Will Often Give You Real Insight Into Yourself and Increases Self Awareness…</a:t>
            </a:r>
          </a:p>
          <a:p>
            <a:pPr marR="0" lvl="0">
              <a:lnSpc>
                <a:spcPct val="120000"/>
              </a:lnSpc>
              <a:spcAft>
                <a:spcPts val="0"/>
              </a:spcAft>
            </a:pPr>
            <a:r>
              <a:rPr lang="en-US" sz="2400" dirty="0"/>
              <a:t>It is Also a Big Stress Reliever – No Really!...</a:t>
            </a:r>
          </a:p>
          <a:p>
            <a:pPr marR="0" lvl="0">
              <a:lnSpc>
                <a:spcPct val="120000"/>
              </a:lnSpc>
              <a:spcAft>
                <a:spcPts val="0"/>
              </a:spcAft>
            </a:pPr>
            <a:r>
              <a:rPr lang="en-US" sz="2400" dirty="0"/>
              <a:t>Each Week, I Want You to Create a Personal Reflection for This Project…</a:t>
            </a:r>
          </a:p>
          <a:p>
            <a:pPr>
              <a:lnSpc>
                <a:spcPct val="120000"/>
              </a:lnSpc>
            </a:pPr>
            <a:r>
              <a:rPr lang="en-US" sz="2400" dirty="0"/>
              <a:t>Your Reflection is </a:t>
            </a:r>
            <a:r>
              <a:rPr lang="en-US" sz="2400" b="1" i="1" dirty="0"/>
              <a:t>NOT</a:t>
            </a:r>
            <a:r>
              <a:rPr lang="en-US" sz="2400" dirty="0"/>
              <a:t> a Log of Activity…But Rather a Diary of Your </a:t>
            </a:r>
            <a:r>
              <a:rPr lang="en-US" sz="2400" b="1" dirty="0"/>
              <a:t>THOUGHTS</a:t>
            </a:r>
            <a:r>
              <a:rPr lang="en-US" sz="2400" dirty="0"/>
              <a:t> About How You Think You Are Doing…How You Think the Project is Doing…Any Concerns or Insights You Want to Share…</a:t>
            </a:r>
          </a:p>
          <a:p>
            <a:pPr>
              <a:lnSpc>
                <a:spcPct val="120000"/>
              </a:lnSpc>
            </a:pPr>
            <a:r>
              <a:rPr lang="en-US" sz="2400" b="1" dirty="0"/>
              <a:t>NO ONE WILL SEE THIS JOURNAL BUT ME</a:t>
            </a:r>
            <a:r>
              <a:rPr lang="en-US" sz="2400" dirty="0"/>
              <a:t>…So Please Be As Candid As You Wish…</a:t>
            </a:r>
          </a:p>
          <a:p>
            <a:pPr>
              <a:lnSpc>
                <a:spcPct val="120000"/>
              </a:lnSpc>
            </a:pPr>
            <a:r>
              <a:rPr lang="en-US" sz="2400" dirty="0"/>
              <a:t>How Long Should the Journal Be?...If You Write 5 Slides You Have Written WAY Too Much…If You Have Written 2 Sentences You Have Written WAY Too Little…</a:t>
            </a:r>
          </a:p>
          <a:p>
            <a:pPr marR="0" lvl="0">
              <a:lnSpc>
                <a:spcPct val="100000"/>
              </a:lnSpc>
              <a:spcAft>
                <a:spcPts val="0"/>
              </a:spcAft>
            </a:pPr>
            <a:endParaRPr lang="en-US" sz="2000" dirty="0"/>
          </a:p>
        </p:txBody>
      </p:sp>
    </p:spTree>
    <p:extLst>
      <p:ext uri="{BB962C8B-B14F-4D97-AF65-F5344CB8AC3E}">
        <p14:creationId xmlns:p14="http://schemas.microsoft.com/office/powerpoint/2010/main" val="33747057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BC203-8598-4E1F-B7DF-185A2822F485}"/>
              </a:ext>
            </a:extLst>
          </p:cNvPr>
          <p:cNvSpPr>
            <a:spLocks noGrp="1"/>
          </p:cNvSpPr>
          <p:nvPr>
            <p:ph type="title"/>
          </p:nvPr>
        </p:nvSpPr>
        <p:spPr>
          <a:xfrm>
            <a:off x="599090" y="196966"/>
            <a:ext cx="10993816" cy="927642"/>
          </a:xfrm>
        </p:spPr>
        <p:txBody>
          <a:bodyPr>
            <a:normAutofit/>
          </a:bodyPr>
          <a:lstStyle/>
          <a:p>
            <a:r>
              <a:rPr lang="en-US" dirty="0"/>
              <a:t>Notes on Your Status – Part 1…</a:t>
            </a:r>
          </a:p>
        </p:txBody>
      </p:sp>
      <p:sp>
        <p:nvSpPr>
          <p:cNvPr id="6" name="Content Placeholder 2">
            <a:extLst>
              <a:ext uri="{FF2B5EF4-FFF2-40B4-BE49-F238E27FC236}">
                <a16:creationId xmlns:a16="http://schemas.microsoft.com/office/drawing/2014/main" id="{DDFF5803-8798-3ED5-A6FF-9003129164CC}"/>
              </a:ext>
            </a:extLst>
          </p:cNvPr>
          <p:cNvSpPr>
            <a:spLocks noGrp="1"/>
          </p:cNvSpPr>
          <p:nvPr>
            <p:ph idx="1"/>
          </p:nvPr>
        </p:nvSpPr>
        <p:spPr>
          <a:xfrm>
            <a:off x="599090" y="1124608"/>
            <a:ext cx="10993816" cy="4759725"/>
          </a:xfrm>
        </p:spPr>
        <p:txBody>
          <a:bodyPr>
            <a:normAutofit lnSpcReduction="10000"/>
          </a:bodyPr>
          <a:lstStyle/>
          <a:p>
            <a:pPr>
              <a:lnSpc>
                <a:spcPct val="110000"/>
              </a:lnSpc>
            </a:pPr>
            <a:r>
              <a:rPr lang="en-US" sz="2400" b="1" u="sng" dirty="0"/>
              <a:t>YOU MUST USE POWER POINT</a:t>
            </a:r>
            <a:r>
              <a:rPr lang="en-US" sz="2400" dirty="0"/>
              <a:t>…If You Have Some Reason for NOT Wanting to Use Power Point, You Need to Get My Approval…</a:t>
            </a:r>
          </a:p>
          <a:p>
            <a:pPr>
              <a:lnSpc>
                <a:spcPct val="110000"/>
              </a:lnSpc>
            </a:pPr>
            <a:r>
              <a:rPr lang="en-US" sz="2400" dirty="0"/>
              <a:t>Status Grade…</a:t>
            </a:r>
          </a:p>
          <a:p>
            <a:pPr lvl="1">
              <a:lnSpc>
                <a:spcPct val="110000"/>
              </a:lnSpc>
              <a:buFont typeface="Wingdings" panose="05000000000000000000" pitchFamily="2" charset="2"/>
              <a:buChar char="ü"/>
            </a:pPr>
            <a:r>
              <a:rPr lang="en-US" sz="2000" dirty="0"/>
              <a:t>Your Grade for This Status is Based on What You Write in the Status…</a:t>
            </a:r>
            <a:r>
              <a:rPr lang="en-US" sz="2000" b="1" dirty="0"/>
              <a:t>NOT</a:t>
            </a:r>
            <a:r>
              <a:rPr lang="en-US" sz="2000" dirty="0"/>
              <a:t> On What You Did or Did Not Do on the Project…</a:t>
            </a:r>
          </a:p>
          <a:p>
            <a:pPr lvl="1">
              <a:lnSpc>
                <a:spcPct val="110000"/>
              </a:lnSpc>
              <a:buFont typeface="Wingdings" panose="05000000000000000000" pitchFamily="2" charset="2"/>
              <a:buChar char="ü"/>
            </a:pPr>
            <a:r>
              <a:rPr lang="en-US" sz="2000" dirty="0"/>
              <a:t>For Example, If Your Tasks Were Late in a Given Week (Let’s Just Pretend!), But You Wrote a Good Status, You Could Still Get a Good Grade for Your Status…</a:t>
            </a:r>
          </a:p>
          <a:p>
            <a:pPr>
              <a:lnSpc>
                <a:spcPct val="110000"/>
              </a:lnSpc>
            </a:pPr>
            <a:r>
              <a:rPr lang="en-US" sz="2400" dirty="0"/>
              <a:t>Late Status…</a:t>
            </a:r>
          </a:p>
          <a:p>
            <a:pPr lvl="1">
              <a:lnSpc>
                <a:spcPct val="110000"/>
              </a:lnSpc>
              <a:buFont typeface="Wingdings" panose="05000000000000000000" pitchFamily="2" charset="2"/>
              <a:buChar char="§"/>
            </a:pPr>
            <a:r>
              <a:rPr lang="en-US" sz="2000" b="1" dirty="0"/>
              <a:t>REMEMBER</a:t>
            </a:r>
            <a:r>
              <a:rPr lang="en-US" sz="2000" dirty="0"/>
              <a:t>…This is a </a:t>
            </a:r>
            <a:r>
              <a:rPr lang="en-US" sz="2000" b="1" dirty="0"/>
              <a:t>WEEKLY</a:t>
            </a:r>
            <a:r>
              <a:rPr lang="en-US" sz="2000" dirty="0"/>
              <a:t> Status…</a:t>
            </a:r>
          </a:p>
          <a:p>
            <a:pPr lvl="1">
              <a:lnSpc>
                <a:spcPct val="110000"/>
              </a:lnSpc>
              <a:buFont typeface="Wingdings" panose="05000000000000000000" pitchFamily="2" charset="2"/>
              <a:buChar char="§"/>
            </a:pPr>
            <a:r>
              <a:rPr lang="en-US" sz="2000" dirty="0"/>
              <a:t>It Makes No Sense for You to Submit a Status On July 25 Telling Me What You Did On May 23…</a:t>
            </a:r>
          </a:p>
          <a:p>
            <a:pPr lvl="1">
              <a:lnSpc>
                <a:spcPct val="110000"/>
              </a:lnSpc>
              <a:buFont typeface="Wingdings" panose="05000000000000000000" pitchFamily="2" charset="2"/>
              <a:buChar char="§"/>
            </a:pPr>
            <a:r>
              <a:rPr lang="en-US" sz="2000" b="1" i="1" u="sng" dirty="0"/>
              <a:t>Any Status That is More Than ONE WEEK LATE Will Be Given a ZERO With NO Opportunity to Submit…</a:t>
            </a:r>
            <a:endParaRPr lang="en-US" b="1" i="1" u="sng" dirty="0"/>
          </a:p>
        </p:txBody>
      </p:sp>
    </p:spTree>
    <p:extLst>
      <p:ext uri="{BB962C8B-B14F-4D97-AF65-F5344CB8AC3E}">
        <p14:creationId xmlns:p14="http://schemas.microsoft.com/office/powerpoint/2010/main" val="35059985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BC203-8598-4E1F-B7DF-185A2822F485}"/>
              </a:ext>
            </a:extLst>
          </p:cNvPr>
          <p:cNvSpPr>
            <a:spLocks noGrp="1"/>
          </p:cNvSpPr>
          <p:nvPr>
            <p:ph type="title"/>
          </p:nvPr>
        </p:nvSpPr>
        <p:spPr/>
        <p:txBody>
          <a:bodyPr/>
          <a:lstStyle/>
          <a:p>
            <a:r>
              <a:rPr lang="en-US" dirty="0"/>
              <a:t>Notes on Your Status – Part 2…</a:t>
            </a:r>
          </a:p>
        </p:txBody>
      </p:sp>
      <p:sp>
        <p:nvSpPr>
          <p:cNvPr id="6" name="Content Placeholder 2">
            <a:extLst>
              <a:ext uri="{FF2B5EF4-FFF2-40B4-BE49-F238E27FC236}">
                <a16:creationId xmlns:a16="http://schemas.microsoft.com/office/drawing/2014/main" id="{DDFF5803-8798-3ED5-A6FF-9003129164CC}"/>
              </a:ext>
            </a:extLst>
          </p:cNvPr>
          <p:cNvSpPr>
            <a:spLocks noGrp="1"/>
          </p:cNvSpPr>
          <p:nvPr>
            <p:ph idx="1"/>
          </p:nvPr>
        </p:nvSpPr>
        <p:spPr>
          <a:xfrm>
            <a:off x="599089" y="1041400"/>
            <a:ext cx="11091557" cy="4804833"/>
          </a:xfrm>
        </p:spPr>
        <p:txBody>
          <a:bodyPr>
            <a:normAutofit/>
          </a:bodyPr>
          <a:lstStyle/>
          <a:p>
            <a:pPr>
              <a:lnSpc>
                <a:spcPct val="100000"/>
              </a:lnSpc>
            </a:pPr>
            <a:r>
              <a:rPr lang="en-US" sz="2000" dirty="0"/>
              <a:t>Each Week You Should Create a </a:t>
            </a:r>
            <a:r>
              <a:rPr lang="en-US" sz="2000" b="1" i="1" dirty="0"/>
              <a:t>New,</a:t>
            </a:r>
            <a:r>
              <a:rPr lang="en-US" sz="2000" dirty="0"/>
              <a:t> </a:t>
            </a:r>
            <a:r>
              <a:rPr lang="en-US" sz="2000" b="1" i="1" dirty="0"/>
              <a:t>Complete</a:t>
            </a:r>
            <a:r>
              <a:rPr lang="en-US" sz="2000" dirty="0"/>
              <a:t> Status…</a:t>
            </a:r>
          </a:p>
          <a:p>
            <a:pPr>
              <a:lnSpc>
                <a:spcPct val="100000"/>
              </a:lnSpc>
            </a:pPr>
            <a:r>
              <a:rPr lang="en-US" sz="2000" dirty="0"/>
              <a:t>The </a:t>
            </a:r>
            <a:r>
              <a:rPr lang="en-US" sz="2000" b="1" dirty="0"/>
              <a:t>NEW</a:t>
            </a:r>
            <a:r>
              <a:rPr lang="en-US" sz="2000" dirty="0"/>
              <a:t> Status Should Be Added to the </a:t>
            </a:r>
            <a:r>
              <a:rPr lang="en-US" sz="2000" b="1" dirty="0"/>
              <a:t>FRONT</a:t>
            </a:r>
            <a:r>
              <a:rPr lang="en-US" sz="2000" dirty="0"/>
              <a:t> of All Previous Status Reports…</a:t>
            </a:r>
          </a:p>
          <a:p>
            <a:pPr>
              <a:lnSpc>
                <a:spcPct val="100000"/>
              </a:lnSpc>
            </a:pPr>
            <a:r>
              <a:rPr lang="en-US" sz="2000" dirty="0"/>
              <a:t>By the End of the Semester, You Should Have </a:t>
            </a:r>
            <a:r>
              <a:rPr lang="en-US" sz="2000" b="1" dirty="0"/>
              <a:t>ONE</a:t>
            </a:r>
            <a:r>
              <a:rPr lang="en-US" sz="2000" dirty="0"/>
              <a:t> Power Point With 14 Weeks of Status…</a:t>
            </a:r>
          </a:p>
          <a:p>
            <a:pPr>
              <a:lnSpc>
                <a:spcPct val="100000"/>
              </a:lnSpc>
            </a:pPr>
            <a:r>
              <a:rPr lang="en-US" sz="2000" dirty="0"/>
              <a:t>For Example: </a:t>
            </a:r>
          </a:p>
          <a:p>
            <a:pPr lvl="1">
              <a:lnSpc>
                <a:spcPct val="100000"/>
              </a:lnSpc>
              <a:buFont typeface="Wingdings" panose="05000000000000000000" pitchFamily="2" charset="2"/>
              <a:buChar char="ü"/>
            </a:pPr>
            <a:r>
              <a:rPr lang="en-US" sz="1800" b="1" dirty="0"/>
              <a:t>Week Ending May 9 </a:t>
            </a:r>
            <a:r>
              <a:rPr lang="en-US" sz="1800" dirty="0"/>
              <a:t>: </a:t>
            </a:r>
          </a:p>
          <a:p>
            <a:pPr lvl="2">
              <a:lnSpc>
                <a:spcPct val="100000"/>
              </a:lnSpc>
              <a:buFont typeface="Wingdings" panose="05000000000000000000" pitchFamily="2" charset="2"/>
              <a:buChar char="Ø"/>
            </a:pPr>
            <a:r>
              <a:rPr lang="en-US" sz="1400" dirty="0"/>
              <a:t>Create Your First Weekly Status…Let's Say Your Status is 10 Slides…</a:t>
            </a:r>
          </a:p>
          <a:p>
            <a:pPr lvl="2">
              <a:lnSpc>
                <a:spcPct val="100000"/>
              </a:lnSpc>
              <a:buFont typeface="Wingdings" panose="05000000000000000000" pitchFamily="2" charset="2"/>
              <a:buChar char="Ø"/>
            </a:pPr>
            <a:r>
              <a:rPr lang="en-US" sz="1400" dirty="0"/>
              <a:t>Turn in Your Status Power Point With One Weeks Worth of Status and 10 Slides…</a:t>
            </a:r>
          </a:p>
          <a:p>
            <a:pPr lvl="1">
              <a:lnSpc>
                <a:spcPct val="100000"/>
              </a:lnSpc>
              <a:buFont typeface="Wingdings" panose="05000000000000000000" pitchFamily="2" charset="2"/>
              <a:buChar char="ü"/>
            </a:pPr>
            <a:r>
              <a:rPr lang="en-US" sz="1800" b="1" dirty="0"/>
              <a:t>Week Ending May 16 : </a:t>
            </a:r>
          </a:p>
          <a:p>
            <a:pPr lvl="2">
              <a:lnSpc>
                <a:spcPct val="100000"/>
              </a:lnSpc>
              <a:buFont typeface="Wingdings" panose="05000000000000000000" pitchFamily="2" charset="2"/>
              <a:buChar char="Ø"/>
            </a:pPr>
            <a:r>
              <a:rPr lang="en-US" sz="1400" dirty="0"/>
              <a:t>Create Your Second Weekly Status…Let's Say Your Status is 10 Slides…</a:t>
            </a:r>
          </a:p>
          <a:p>
            <a:pPr lvl="2">
              <a:lnSpc>
                <a:spcPct val="100000"/>
              </a:lnSpc>
              <a:buFont typeface="Wingdings" panose="05000000000000000000" pitchFamily="2" charset="2"/>
              <a:buChar char="Ø"/>
            </a:pPr>
            <a:r>
              <a:rPr lang="en-US" sz="1400" dirty="0"/>
              <a:t>The Slides for Your Second Weekly Status, Should Go on </a:t>
            </a:r>
            <a:r>
              <a:rPr lang="en-US" sz="1400" b="1" dirty="0"/>
              <a:t>TOP</a:t>
            </a:r>
            <a:r>
              <a:rPr lang="en-US" sz="1400" dirty="0"/>
              <a:t> of the Slides for Your First Weekly Status…</a:t>
            </a:r>
          </a:p>
          <a:p>
            <a:pPr lvl="2">
              <a:lnSpc>
                <a:spcPct val="100000"/>
              </a:lnSpc>
              <a:buFont typeface="Wingdings" panose="05000000000000000000" pitchFamily="2" charset="2"/>
              <a:buChar char="Ø"/>
            </a:pPr>
            <a:r>
              <a:rPr lang="en-US" sz="1400" dirty="0"/>
              <a:t>Turn in Your Status Power Point With </a:t>
            </a:r>
            <a:r>
              <a:rPr lang="en-US" sz="1400" b="1" dirty="0"/>
              <a:t>TWO</a:t>
            </a:r>
            <a:r>
              <a:rPr lang="en-US" sz="1400" dirty="0"/>
              <a:t> Weeks Worth of Status and 20 Slides (i.e., May 9 AND May 16)…</a:t>
            </a:r>
          </a:p>
          <a:p>
            <a:pPr lvl="1">
              <a:lnSpc>
                <a:spcPct val="100000"/>
              </a:lnSpc>
              <a:buFont typeface="Wingdings" panose="05000000000000000000" pitchFamily="2" charset="2"/>
              <a:buChar char="ü"/>
            </a:pPr>
            <a:r>
              <a:rPr lang="en-US" sz="1800" dirty="0"/>
              <a:t>Do the Same Thing Ever Week…</a:t>
            </a:r>
          </a:p>
          <a:p>
            <a:pPr lvl="1">
              <a:lnSpc>
                <a:spcPct val="100000"/>
              </a:lnSpc>
              <a:buFont typeface="Wingdings" panose="05000000000000000000" pitchFamily="2" charset="2"/>
              <a:buChar char="ü"/>
            </a:pPr>
            <a:r>
              <a:rPr lang="en-US" sz="1800" dirty="0"/>
              <a:t>By the End of the Semester, You Will Turn in Your Status Power Point With 14 Weeks of Status and 140 Slides…</a:t>
            </a:r>
          </a:p>
        </p:txBody>
      </p:sp>
    </p:spTree>
    <p:extLst>
      <p:ext uri="{BB962C8B-B14F-4D97-AF65-F5344CB8AC3E}">
        <p14:creationId xmlns:p14="http://schemas.microsoft.com/office/powerpoint/2010/main" val="25798942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A8870312-B4E9-490A-B2E6-1495FCD88569}"/>
              </a:ext>
            </a:extLst>
          </p:cNvPr>
          <p:cNvSpPr>
            <a:spLocks noGrp="1"/>
          </p:cNvSpPr>
          <p:nvPr>
            <p:ph type="title"/>
          </p:nvPr>
        </p:nvSpPr>
        <p:spPr/>
        <p:txBody>
          <a:bodyPr/>
          <a:lstStyle/>
          <a:p>
            <a:r>
              <a:rPr lang="en-US" altLang="en-US" b="1" dirty="0">
                <a:latin typeface="+mn-lt"/>
                <a:ea typeface="ＭＳ Ｐゴシック" panose="020B0600070205080204" pitchFamily="34" charset="-128"/>
              </a:rPr>
              <a:t>Questions?…</a:t>
            </a:r>
            <a:endParaRPr lang="en-US" altLang="en-US" dirty="0">
              <a:solidFill>
                <a:schemeClr val="tx1"/>
              </a:solidFill>
              <a:latin typeface="+mn-lt"/>
              <a:ea typeface="ＭＳ Ｐゴシック" panose="020B0600070205080204" pitchFamily="34" charset="-128"/>
            </a:endParaRPr>
          </a:p>
        </p:txBody>
      </p:sp>
      <p:sp>
        <p:nvSpPr>
          <p:cNvPr id="43011" name="Slide Number Placeholder 3">
            <a:extLst>
              <a:ext uri="{FF2B5EF4-FFF2-40B4-BE49-F238E27FC236}">
                <a16:creationId xmlns:a16="http://schemas.microsoft.com/office/drawing/2014/main" id="{4E9D72CA-AFE1-407D-8EE5-4EDDD12DDAF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6EC4CA6F-59C1-4093-9A9D-4E0B4FB36229}" type="slidenum">
              <a:rPr lang="en-US" altLang="en-US"/>
              <a:pPr/>
              <a:t>34</a:t>
            </a:fld>
            <a:endParaRPr lang="en-US" altLang="en-US" dirty="0"/>
          </a:p>
        </p:txBody>
      </p:sp>
      <p:sp>
        <p:nvSpPr>
          <p:cNvPr id="4" name="Content Placeholder 2">
            <a:extLst>
              <a:ext uri="{FF2B5EF4-FFF2-40B4-BE49-F238E27FC236}">
                <a16:creationId xmlns:a16="http://schemas.microsoft.com/office/drawing/2014/main" id="{87B293D8-6B18-44A5-B806-B45C7C74FF56}"/>
              </a:ext>
            </a:extLst>
          </p:cNvPr>
          <p:cNvSpPr>
            <a:spLocks noGrp="1"/>
          </p:cNvSpPr>
          <p:nvPr>
            <p:ph idx="1"/>
          </p:nvPr>
        </p:nvSpPr>
        <p:spPr>
          <a:xfrm>
            <a:off x="599090" y="1439334"/>
            <a:ext cx="10993816" cy="4277764"/>
          </a:xfrm>
        </p:spPr>
        <p:txBody>
          <a:bodyPr>
            <a:normAutofit/>
          </a:bodyPr>
          <a:lstStyle/>
          <a:p>
            <a:pPr>
              <a:lnSpc>
                <a:spcPct val="120000"/>
              </a:lnSpc>
              <a:buFont typeface="Wingdings" panose="05000000000000000000" pitchFamily="2" charset="2"/>
              <a:buChar char="§"/>
            </a:pPr>
            <a:r>
              <a:rPr lang="en-US" sz="3200" dirty="0"/>
              <a:t>If You Have </a:t>
            </a:r>
            <a:r>
              <a:rPr lang="en-US" sz="3200" b="1" i="1" u="sng" dirty="0"/>
              <a:t>ANY</a:t>
            </a:r>
            <a:r>
              <a:rPr lang="en-US" sz="3200" dirty="0"/>
              <a:t> Questions About What I Am Looking for in Your Weekly Status, Please Reach Out to Me Via Messages in Blackboard…</a:t>
            </a:r>
          </a:p>
        </p:txBody>
      </p:sp>
    </p:spTree>
    <p:extLst>
      <p:ext uri="{BB962C8B-B14F-4D97-AF65-F5344CB8AC3E}">
        <p14:creationId xmlns:p14="http://schemas.microsoft.com/office/powerpoint/2010/main" val="39702732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87AAB-2270-FBDD-C345-21E283DDFA71}"/>
              </a:ext>
            </a:extLst>
          </p:cNvPr>
          <p:cNvSpPr>
            <a:spLocks noGrp="1"/>
          </p:cNvSpPr>
          <p:nvPr>
            <p:ph type="title"/>
          </p:nvPr>
        </p:nvSpPr>
        <p:spPr/>
        <p:txBody>
          <a:bodyPr/>
          <a:lstStyle/>
          <a:p>
            <a:r>
              <a:rPr lang="en-US" dirty="0"/>
              <a:t>Sample Status…</a:t>
            </a:r>
          </a:p>
        </p:txBody>
      </p:sp>
      <p:sp>
        <p:nvSpPr>
          <p:cNvPr id="3" name="Content Placeholder 2">
            <a:extLst>
              <a:ext uri="{FF2B5EF4-FFF2-40B4-BE49-F238E27FC236}">
                <a16:creationId xmlns:a16="http://schemas.microsoft.com/office/drawing/2014/main" id="{A74D9A95-EF3A-A681-E0FC-0DDC34D5E6E0}"/>
              </a:ext>
            </a:extLst>
          </p:cNvPr>
          <p:cNvSpPr>
            <a:spLocks noGrp="1"/>
          </p:cNvSpPr>
          <p:nvPr>
            <p:ph idx="1"/>
          </p:nvPr>
        </p:nvSpPr>
        <p:spPr>
          <a:xfrm>
            <a:off x="599090" y="1196412"/>
            <a:ext cx="10993816" cy="4520686"/>
          </a:xfrm>
        </p:spPr>
        <p:txBody>
          <a:bodyPr>
            <a:normAutofit lnSpcReduction="10000"/>
          </a:bodyPr>
          <a:lstStyle/>
          <a:p>
            <a:pPr>
              <a:lnSpc>
                <a:spcPct val="120000"/>
              </a:lnSpc>
            </a:pPr>
            <a:r>
              <a:rPr lang="en-US" sz="3200" dirty="0"/>
              <a:t>The Remainder of the Power Point Shows a Complete Sample Status…</a:t>
            </a:r>
          </a:p>
          <a:p>
            <a:pPr>
              <a:lnSpc>
                <a:spcPct val="120000"/>
              </a:lnSpc>
            </a:pPr>
            <a:r>
              <a:rPr lang="en-US" sz="3200" dirty="0"/>
              <a:t>It is </a:t>
            </a:r>
            <a:r>
              <a:rPr lang="en-US" sz="3200" b="1" dirty="0"/>
              <a:t>EXACTLY</a:t>
            </a:r>
            <a:r>
              <a:rPr lang="en-US" sz="3200" dirty="0"/>
              <a:t> What I Am Looking for in Terms of Format…</a:t>
            </a:r>
          </a:p>
          <a:p>
            <a:pPr>
              <a:lnSpc>
                <a:spcPct val="120000"/>
              </a:lnSpc>
            </a:pPr>
            <a:r>
              <a:rPr lang="en-US" sz="3200" dirty="0"/>
              <a:t>The Content is Merely a Sample So You Can Get a Feel for What I am Looking For – </a:t>
            </a:r>
            <a:r>
              <a:rPr lang="en-US" sz="3200" b="1" dirty="0"/>
              <a:t>DO NOT COPY THE CONTENT</a:t>
            </a:r>
            <a:r>
              <a:rPr lang="en-US" sz="3200" dirty="0"/>
              <a:t>…</a:t>
            </a:r>
          </a:p>
          <a:p>
            <a:pPr>
              <a:lnSpc>
                <a:spcPct val="120000"/>
              </a:lnSpc>
            </a:pPr>
            <a:r>
              <a:rPr lang="en-US" sz="3200" dirty="0"/>
              <a:t>Feel Free to "Copy/Paste" These Slides and Use Them as a Template…</a:t>
            </a:r>
          </a:p>
        </p:txBody>
      </p:sp>
    </p:spTree>
    <p:extLst>
      <p:ext uri="{BB962C8B-B14F-4D97-AF65-F5344CB8AC3E}">
        <p14:creationId xmlns:p14="http://schemas.microsoft.com/office/powerpoint/2010/main" val="6896881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C6862B0-9433-0AF6-4B7B-3FF68596085D}"/>
              </a:ext>
            </a:extLst>
          </p:cNvPr>
          <p:cNvSpPr txBox="1">
            <a:spLocks/>
          </p:cNvSpPr>
          <p:nvPr/>
        </p:nvSpPr>
        <p:spPr>
          <a:xfrm>
            <a:off x="629669" y="661481"/>
            <a:ext cx="10976499" cy="5155659"/>
          </a:xfrm>
          <a:prstGeom prst="rect">
            <a:avLst/>
          </a:prstGeom>
        </p:spPr>
        <p:txBody>
          <a:bodyPr vert="horz" lIns="91440" tIns="45720" rIns="91440" bIns="45720" rtlCol="0" anchor="ctr">
            <a:normAutofit fontScale="55000" lnSpcReduction="200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ctr">
              <a:lnSpc>
                <a:spcPct val="120000"/>
              </a:lnSpc>
            </a:pPr>
            <a:r>
              <a:rPr lang="en-US" sz="7700" b="1" dirty="0">
                <a:latin typeface="+mn-lt"/>
              </a:rPr>
              <a:t>Education Analyzer</a:t>
            </a:r>
            <a:br>
              <a:rPr lang="en-US" sz="7700" b="1" dirty="0">
                <a:latin typeface="+mn-lt"/>
              </a:rPr>
            </a:br>
            <a:r>
              <a:rPr lang="en-US" sz="7700" b="1" dirty="0">
                <a:latin typeface="+mn-lt"/>
              </a:rPr>
              <a:t>Status Report</a:t>
            </a:r>
            <a:br>
              <a:rPr lang="en-US" sz="7700" b="1" dirty="0">
                <a:latin typeface="+mn-lt"/>
              </a:rPr>
            </a:br>
            <a:r>
              <a:rPr lang="en-US" sz="6600" dirty="0">
                <a:latin typeface="+mn-lt"/>
              </a:rPr>
              <a:t>Week Ending May 09, 2026</a:t>
            </a:r>
            <a:br>
              <a:rPr lang="en-US" sz="6600" dirty="0">
                <a:latin typeface="+mn-lt"/>
              </a:rPr>
            </a:br>
            <a:br>
              <a:rPr lang="en-US" sz="6600" dirty="0">
                <a:latin typeface="+mn-lt"/>
              </a:rPr>
            </a:br>
            <a:br>
              <a:rPr lang="en-US" sz="6600" dirty="0">
                <a:latin typeface="+mn-lt"/>
              </a:rPr>
            </a:br>
            <a:r>
              <a:rPr lang="en-US" sz="6600" dirty="0">
                <a:latin typeface="+mn-lt"/>
              </a:rPr>
              <a:t>                                                   </a:t>
            </a:r>
            <a:r>
              <a:rPr lang="en-US" sz="6000" dirty="0">
                <a:latin typeface="+mn-lt"/>
              </a:rPr>
              <a:t>Submitted by John Smith</a:t>
            </a:r>
            <a:br>
              <a:rPr lang="en-US" sz="6000" dirty="0">
                <a:latin typeface="+mn-lt"/>
              </a:rPr>
            </a:br>
            <a:r>
              <a:rPr lang="en-US" sz="6000" dirty="0">
                <a:latin typeface="+mn-lt"/>
              </a:rPr>
              <a:t>                                                                             May 10, 2026</a:t>
            </a:r>
            <a:endParaRPr lang="en-US" sz="4800" dirty="0">
              <a:latin typeface="+mn-lt"/>
            </a:endParaRPr>
          </a:p>
        </p:txBody>
      </p:sp>
    </p:spTree>
    <p:extLst>
      <p:ext uri="{BB962C8B-B14F-4D97-AF65-F5344CB8AC3E}">
        <p14:creationId xmlns:p14="http://schemas.microsoft.com/office/powerpoint/2010/main" val="36267264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a:xfrm>
            <a:off x="599089" y="1166070"/>
            <a:ext cx="10993815" cy="4492303"/>
          </a:xfrm>
        </p:spPr>
        <p:txBody>
          <a:bodyPr>
            <a:normAutofit/>
          </a:bodyPr>
          <a:lstStyle/>
          <a:p>
            <a:pPr>
              <a:lnSpc>
                <a:spcPct val="100000"/>
              </a:lnSpc>
            </a:pPr>
            <a:r>
              <a:rPr lang="en-US" sz="2400" dirty="0"/>
              <a:t>Status Overview…</a:t>
            </a:r>
          </a:p>
          <a:p>
            <a:pPr>
              <a:lnSpc>
                <a:spcPct val="100000"/>
              </a:lnSpc>
            </a:pPr>
            <a:r>
              <a:rPr lang="en-US" sz="2400" dirty="0"/>
              <a:t>Items Completed in Current Week…</a:t>
            </a:r>
          </a:p>
          <a:p>
            <a:pPr>
              <a:lnSpc>
                <a:spcPct val="100000"/>
              </a:lnSpc>
            </a:pPr>
            <a:r>
              <a:rPr lang="en-US" sz="2400" dirty="0"/>
              <a:t>Items In Progress…</a:t>
            </a:r>
          </a:p>
          <a:p>
            <a:pPr>
              <a:lnSpc>
                <a:spcPct val="100000"/>
              </a:lnSpc>
            </a:pPr>
            <a:r>
              <a:rPr lang="en-US" sz="2400" dirty="0"/>
              <a:t>Items To Be Started…</a:t>
            </a:r>
          </a:p>
          <a:p>
            <a:pPr>
              <a:lnSpc>
                <a:spcPct val="100000"/>
              </a:lnSpc>
            </a:pPr>
            <a:r>
              <a:rPr lang="en-US" sz="2400" dirty="0"/>
              <a:t>Samples of Items Completed This Week…</a:t>
            </a:r>
          </a:p>
          <a:p>
            <a:pPr>
              <a:lnSpc>
                <a:spcPct val="100000"/>
              </a:lnSpc>
            </a:pPr>
            <a:r>
              <a:rPr lang="en-US" sz="2400" dirty="0"/>
              <a:t>Issues, Risks, Concerns…</a:t>
            </a:r>
          </a:p>
          <a:p>
            <a:pPr>
              <a:lnSpc>
                <a:spcPct val="100000"/>
              </a:lnSpc>
            </a:pPr>
            <a:r>
              <a:rPr lang="en-US" sz="2400" dirty="0"/>
              <a:t>Next Steps…</a:t>
            </a:r>
          </a:p>
          <a:p>
            <a:pPr>
              <a:lnSpc>
                <a:spcPct val="100000"/>
              </a:lnSpc>
            </a:pPr>
            <a:r>
              <a:rPr lang="en-US" sz="2400" dirty="0"/>
              <a:t>Personal Reflection…</a:t>
            </a:r>
            <a:endParaRPr lang="en-US" dirty="0"/>
          </a:p>
        </p:txBody>
      </p:sp>
    </p:spTree>
    <p:extLst>
      <p:ext uri="{BB962C8B-B14F-4D97-AF65-F5344CB8AC3E}">
        <p14:creationId xmlns:p14="http://schemas.microsoft.com/office/powerpoint/2010/main" val="30645040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Status Overview…</a:t>
            </a:r>
          </a:p>
        </p:txBody>
      </p:sp>
      <p:sp>
        <p:nvSpPr>
          <p:cNvPr id="3" name="Content Placeholder 2"/>
          <p:cNvSpPr>
            <a:spLocks noGrp="1"/>
          </p:cNvSpPr>
          <p:nvPr>
            <p:ph idx="1"/>
          </p:nvPr>
        </p:nvSpPr>
        <p:spPr>
          <a:xfrm>
            <a:off x="599089" y="1124608"/>
            <a:ext cx="10993815" cy="4522817"/>
          </a:xfrm>
        </p:spPr>
        <p:txBody>
          <a:bodyPr>
            <a:normAutofit/>
          </a:bodyPr>
          <a:lstStyle/>
          <a:p>
            <a:pPr>
              <a:lnSpc>
                <a:spcPct val="100000"/>
              </a:lnSpc>
            </a:pPr>
            <a:r>
              <a:rPr lang="en-US" sz="2400" dirty="0"/>
              <a:t>Project Status is </a:t>
            </a:r>
            <a:r>
              <a:rPr lang="en-US" sz="2400" dirty="0">
                <a:highlight>
                  <a:srgbClr val="FFFF00"/>
                </a:highlight>
              </a:rPr>
              <a:t>Yellow</a:t>
            </a:r>
          </a:p>
          <a:p>
            <a:pPr>
              <a:lnSpc>
                <a:spcPct val="100000"/>
              </a:lnSpc>
            </a:pPr>
            <a:r>
              <a:rPr lang="en-US" sz="2400" dirty="0"/>
              <a:t>1.0 Business Understanding Not Completed</a:t>
            </a:r>
          </a:p>
          <a:p>
            <a:pPr lvl="1">
              <a:lnSpc>
                <a:spcPct val="100000"/>
              </a:lnSpc>
              <a:buFont typeface="Wingdings" panose="05000000000000000000" pitchFamily="2" charset="2"/>
              <a:buChar char="ü"/>
            </a:pPr>
            <a:r>
              <a:rPr lang="en-US" sz="2000" dirty="0"/>
              <a:t>Original Start Date : May 4, 2026, Revised Start Date : N/A, Actual Start Date : May 4, 2026</a:t>
            </a:r>
          </a:p>
          <a:p>
            <a:pPr lvl="1">
              <a:lnSpc>
                <a:spcPct val="100000"/>
              </a:lnSpc>
              <a:buFont typeface="Wingdings" panose="05000000000000000000" pitchFamily="2" charset="2"/>
              <a:buChar char="ü"/>
            </a:pPr>
            <a:r>
              <a:rPr lang="en-US" sz="2000" dirty="0"/>
              <a:t>Original End Date : May 9, 2026, Revised End Date : N/A, Actual End Date : N/A</a:t>
            </a:r>
          </a:p>
          <a:p>
            <a:pPr>
              <a:lnSpc>
                <a:spcPct val="100000"/>
              </a:lnSpc>
            </a:pPr>
            <a:r>
              <a:rPr lang="en-US" sz="2400" dirty="0"/>
              <a:t>Did not understand section 1.0 Business Understanding in the CRISP-DM documentation.</a:t>
            </a:r>
          </a:p>
          <a:p>
            <a:pPr>
              <a:lnSpc>
                <a:spcPct val="100000"/>
              </a:lnSpc>
            </a:pPr>
            <a:r>
              <a:rPr lang="en-US" sz="2400" dirty="0"/>
              <a:t>Met with Professor Nardi on May 5 to review sections of 1.0 Business Understanding in the CRISP-DM documentation</a:t>
            </a:r>
          </a:p>
          <a:p>
            <a:pPr>
              <a:lnSpc>
                <a:spcPct val="100000"/>
              </a:lnSpc>
            </a:pPr>
            <a:r>
              <a:rPr lang="en-US" sz="2400" dirty="0"/>
              <a:t>Anticipate completing Scope Document by May 12</a:t>
            </a:r>
          </a:p>
          <a:p>
            <a:pPr>
              <a:lnSpc>
                <a:spcPct val="100000"/>
              </a:lnSpc>
            </a:pPr>
            <a:r>
              <a:rPr lang="en-US" sz="2400" dirty="0"/>
              <a:t>No other major issues</a:t>
            </a:r>
          </a:p>
        </p:txBody>
      </p:sp>
    </p:spTree>
    <p:extLst>
      <p:ext uri="{BB962C8B-B14F-4D97-AF65-F5344CB8AC3E}">
        <p14:creationId xmlns:p14="http://schemas.microsoft.com/office/powerpoint/2010/main" val="42482177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Items Completed in Current Week…</a:t>
            </a:r>
          </a:p>
        </p:txBody>
      </p:sp>
      <p:sp>
        <p:nvSpPr>
          <p:cNvPr id="3" name="Content Placeholder 2"/>
          <p:cNvSpPr>
            <a:spLocks noGrp="1"/>
          </p:cNvSpPr>
          <p:nvPr>
            <p:ph idx="1"/>
          </p:nvPr>
        </p:nvSpPr>
        <p:spPr>
          <a:xfrm>
            <a:off x="599089" y="1124608"/>
            <a:ext cx="10993815" cy="4669441"/>
          </a:xfrm>
        </p:spPr>
        <p:txBody>
          <a:bodyPr>
            <a:normAutofit/>
          </a:bodyPr>
          <a:lstStyle/>
          <a:p>
            <a:pPr>
              <a:lnSpc>
                <a:spcPct val="100000"/>
              </a:lnSpc>
            </a:pPr>
            <a:r>
              <a:rPr lang="en-US" sz="2400" dirty="0"/>
              <a:t>Project Topic Approved</a:t>
            </a:r>
          </a:p>
          <a:p>
            <a:pPr lvl="1">
              <a:lnSpc>
                <a:spcPct val="100000"/>
              </a:lnSpc>
              <a:buFont typeface="Wingdings" panose="05000000000000000000" pitchFamily="2" charset="2"/>
              <a:buChar char="§"/>
            </a:pPr>
            <a:r>
              <a:rPr lang="en-US" sz="2000" dirty="0"/>
              <a:t>Task is </a:t>
            </a:r>
            <a:r>
              <a:rPr lang="en-US" sz="2000" dirty="0">
                <a:highlight>
                  <a:srgbClr val="00FF00"/>
                </a:highlight>
              </a:rPr>
              <a:t>GREEN</a:t>
            </a:r>
            <a:r>
              <a:rPr lang="en-US" sz="2000" dirty="0"/>
              <a:t> – task 100% complete</a:t>
            </a:r>
          </a:p>
          <a:p>
            <a:pPr lvl="1">
              <a:lnSpc>
                <a:spcPct val="100000"/>
              </a:lnSpc>
              <a:buFont typeface="Wingdings" panose="05000000000000000000" pitchFamily="2" charset="2"/>
              <a:buChar char="§"/>
            </a:pPr>
            <a:r>
              <a:rPr lang="en-US" sz="2000" dirty="0"/>
              <a:t>Original Start Date: April 28, 2026; Revised Start Date: n/a; Actual Start Date: April 30, 2026</a:t>
            </a:r>
          </a:p>
          <a:p>
            <a:pPr lvl="1">
              <a:lnSpc>
                <a:spcPct val="100000"/>
              </a:lnSpc>
              <a:buFont typeface="Wingdings" panose="05000000000000000000" pitchFamily="2" charset="2"/>
              <a:buChar char="§"/>
            </a:pPr>
            <a:r>
              <a:rPr lang="en-US" sz="2000" dirty="0"/>
              <a:t>Original End Date:   May 02, 2026; Revised End Date: n/a; Actual End Date: May 02, 2026</a:t>
            </a:r>
          </a:p>
          <a:p>
            <a:pPr lvl="1">
              <a:lnSpc>
                <a:spcPct val="100000"/>
              </a:lnSpc>
              <a:buFont typeface="Wingdings" panose="05000000000000000000" pitchFamily="2" charset="2"/>
              <a:buChar char="§"/>
            </a:pPr>
            <a:r>
              <a:rPr lang="en-US" sz="2000" dirty="0"/>
              <a:t>Approved topic is “Education Analyzer"</a:t>
            </a:r>
            <a:endParaRPr lang="en-US" sz="1800" dirty="0"/>
          </a:p>
        </p:txBody>
      </p:sp>
    </p:spTree>
    <p:extLst>
      <p:ext uri="{BB962C8B-B14F-4D97-AF65-F5344CB8AC3E}">
        <p14:creationId xmlns:p14="http://schemas.microsoft.com/office/powerpoint/2010/main" val="34761310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Items In Progress…</a:t>
            </a:r>
          </a:p>
        </p:txBody>
      </p:sp>
      <p:sp>
        <p:nvSpPr>
          <p:cNvPr id="3" name="Content Placeholder 2"/>
          <p:cNvSpPr>
            <a:spLocks noGrp="1"/>
          </p:cNvSpPr>
          <p:nvPr>
            <p:ph idx="1"/>
          </p:nvPr>
        </p:nvSpPr>
        <p:spPr>
          <a:xfrm>
            <a:off x="599089" y="1124608"/>
            <a:ext cx="10993815" cy="4669441"/>
          </a:xfrm>
        </p:spPr>
        <p:txBody>
          <a:bodyPr>
            <a:normAutofit/>
          </a:bodyPr>
          <a:lstStyle/>
          <a:p>
            <a:pPr>
              <a:lnSpc>
                <a:spcPct val="100000"/>
              </a:lnSpc>
            </a:pPr>
            <a:r>
              <a:rPr lang="en-US" sz="2400" dirty="0"/>
              <a:t>1.0 Business Understand document not completed</a:t>
            </a:r>
          </a:p>
          <a:p>
            <a:pPr lvl="1">
              <a:lnSpc>
                <a:spcPct val="100000"/>
              </a:lnSpc>
              <a:buFont typeface="Wingdings" panose="05000000000000000000" pitchFamily="2" charset="2"/>
              <a:buChar char="§"/>
            </a:pPr>
            <a:r>
              <a:rPr lang="en-US" sz="2000" dirty="0"/>
              <a:t>Task is </a:t>
            </a:r>
            <a:r>
              <a:rPr lang="en-US" sz="2000" dirty="0">
                <a:highlight>
                  <a:srgbClr val="FFFF00"/>
                </a:highlight>
              </a:rPr>
              <a:t>Yellow</a:t>
            </a:r>
            <a:r>
              <a:rPr lang="en-US" sz="2000" dirty="0"/>
              <a:t> – task 90% complete</a:t>
            </a:r>
          </a:p>
          <a:p>
            <a:pPr lvl="1">
              <a:lnSpc>
                <a:spcPct val="100000"/>
              </a:lnSpc>
              <a:buFont typeface="Wingdings" panose="05000000000000000000" pitchFamily="2" charset="2"/>
              <a:buChar char="§"/>
            </a:pPr>
            <a:r>
              <a:rPr lang="en-US" sz="2000" dirty="0"/>
              <a:t>Original Start Date : May 4, 2026, Revised Start Date : N/A, Actual Start Date : May 4, 2026</a:t>
            </a:r>
          </a:p>
          <a:p>
            <a:pPr lvl="1">
              <a:lnSpc>
                <a:spcPct val="100000"/>
              </a:lnSpc>
              <a:buFont typeface="Wingdings" panose="05000000000000000000" pitchFamily="2" charset="2"/>
              <a:buChar char="§"/>
            </a:pPr>
            <a:r>
              <a:rPr lang="en-US" sz="2000" dirty="0"/>
              <a:t>Original End Date : May 9, 2026, Revised End Date : N/A, Actual End Date : N/A</a:t>
            </a:r>
          </a:p>
          <a:p>
            <a:pPr lvl="1">
              <a:lnSpc>
                <a:spcPct val="100000"/>
              </a:lnSpc>
              <a:buFont typeface="Wingdings" panose="05000000000000000000" pitchFamily="2" charset="2"/>
              <a:buChar char="§"/>
            </a:pPr>
            <a:endParaRPr lang="en-US" sz="2000" dirty="0"/>
          </a:p>
          <a:p>
            <a:pPr lvl="1">
              <a:lnSpc>
                <a:spcPct val="100000"/>
              </a:lnSpc>
              <a:buFont typeface="Wingdings" panose="05000000000000000000" pitchFamily="2" charset="2"/>
              <a:buChar char="§"/>
            </a:pPr>
            <a:r>
              <a:rPr lang="en-US" sz="2000" dirty="0"/>
              <a:t>Needed clarification on several items in the 1.0 Business Understanding document</a:t>
            </a:r>
          </a:p>
          <a:p>
            <a:pPr lvl="2">
              <a:lnSpc>
                <a:spcPct val="100000"/>
              </a:lnSpc>
            </a:pPr>
            <a:r>
              <a:rPr lang="en-US" sz="1800" dirty="0"/>
              <a:t>Met with Professor Nardi on May 5</a:t>
            </a:r>
          </a:p>
          <a:p>
            <a:pPr lvl="2">
              <a:lnSpc>
                <a:spcPct val="100000"/>
              </a:lnSpc>
            </a:pPr>
            <a:r>
              <a:rPr lang="en-US" sz="1800" dirty="0"/>
              <a:t>Anticipate completing 1.0 Business Understanding on May 12</a:t>
            </a:r>
          </a:p>
          <a:p>
            <a:pPr lvl="2">
              <a:lnSpc>
                <a:spcPct val="100000"/>
              </a:lnSpc>
            </a:pPr>
            <a:r>
              <a:rPr lang="en-US" sz="1800" dirty="0"/>
              <a:t>Will be working weekend to complete so as not to impact other project deliverables</a:t>
            </a:r>
          </a:p>
        </p:txBody>
      </p:sp>
    </p:spTree>
    <p:extLst>
      <p:ext uri="{BB962C8B-B14F-4D97-AF65-F5344CB8AC3E}">
        <p14:creationId xmlns:p14="http://schemas.microsoft.com/office/powerpoint/2010/main" val="15547576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Items In Progress…</a:t>
            </a:r>
          </a:p>
        </p:txBody>
      </p:sp>
      <p:sp>
        <p:nvSpPr>
          <p:cNvPr id="3" name="Content Placeholder 2"/>
          <p:cNvSpPr>
            <a:spLocks noGrp="1"/>
          </p:cNvSpPr>
          <p:nvPr>
            <p:ph idx="1"/>
          </p:nvPr>
        </p:nvSpPr>
        <p:spPr>
          <a:xfrm>
            <a:off x="599089" y="1124608"/>
            <a:ext cx="10993815" cy="4669441"/>
          </a:xfrm>
        </p:spPr>
        <p:txBody>
          <a:bodyPr>
            <a:normAutofit/>
          </a:bodyPr>
          <a:lstStyle/>
          <a:p>
            <a:pPr>
              <a:lnSpc>
                <a:spcPct val="100000"/>
              </a:lnSpc>
            </a:pPr>
            <a:r>
              <a:rPr lang="en-US" sz="2400" dirty="0"/>
              <a:t>1.0 Business Understand document not completed</a:t>
            </a:r>
          </a:p>
          <a:p>
            <a:pPr lvl="1">
              <a:lnSpc>
                <a:spcPct val="100000"/>
              </a:lnSpc>
              <a:buFont typeface="Wingdings" panose="05000000000000000000" pitchFamily="2" charset="2"/>
              <a:buChar char="§"/>
            </a:pPr>
            <a:r>
              <a:rPr lang="en-US" sz="2000" dirty="0"/>
              <a:t>Task is </a:t>
            </a:r>
            <a:r>
              <a:rPr lang="en-US" sz="2000" dirty="0">
                <a:highlight>
                  <a:srgbClr val="FFFF00"/>
                </a:highlight>
              </a:rPr>
              <a:t>Yellow</a:t>
            </a:r>
            <a:r>
              <a:rPr lang="en-US" sz="2000" dirty="0"/>
              <a:t> – task 90% complete</a:t>
            </a:r>
          </a:p>
          <a:p>
            <a:pPr lvl="1">
              <a:lnSpc>
                <a:spcPct val="100000"/>
              </a:lnSpc>
              <a:buFont typeface="Wingdings" panose="05000000000000000000" pitchFamily="2" charset="2"/>
              <a:buChar char="§"/>
            </a:pPr>
            <a:r>
              <a:rPr lang="en-US" sz="2000" dirty="0"/>
              <a:t>Original Start Date : May 4, 2026, Revised Start Date : N/A, Actual Start Date : May 4, 2026</a:t>
            </a:r>
          </a:p>
          <a:p>
            <a:pPr lvl="1">
              <a:lnSpc>
                <a:spcPct val="100000"/>
              </a:lnSpc>
              <a:buFont typeface="Wingdings" panose="05000000000000000000" pitchFamily="2" charset="2"/>
              <a:buChar char="§"/>
            </a:pPr>
            <a:r>
              <a:rPr lang="en-US" sz="2000" dirty="0"/>
              <a:t>Original End Date : May 9, 2026, Revised End Date : N/A, Actual End Date : N/A</a:t>
            </a:r>
          </a:p>
          <a:p>
            <a:pPr lvl="1">
              <a:lnSpc>
                <a:spcPct val="100000"/>
              </a:lnSpc>
              <a:buFont typeface="Wingdings" panose="05000000000000000000" pitchFamily="2" charset="2"/>
              <a:buChar char="§"/>
            </a:pPr>
            <a:endParaRPr lang="en-US" sz="2000" dirty="0"/>
          </a:p>
          <a:p>
            <a:pPr lvl="1">
              <a:lnSpc>
                <a:spcPct val="100000"/>
              </a:lnSpc>
              <a:buFont typeface="Wingdings" panose="05000000000000000000" pitchFamily="2" charset="2"/>
              <a:buChar char="§"/>
            </a:pPr>
            <a:r>
              <a:rPr lang="en-US" sz="2000" dirty="0"/>
              <a:t>Needed clarification on several items in the 1.0 Business Understanding document</a:t>
            </a:r>
          </a:p>
          <a:p>
            <a:pPr lvl="2">
              <a:lnSpc>
                <a:spcPct val="100000"/>
              </a:lnSpc>
            </a:pPr>
            <a:r>
              <a:rPr lang="en-US" sz="1800" dirty="0"/>
              <a:t>Met with Professor Nardi on May 1</a:t>
            </a:r>
          </a:p>
          <a:p>
            <a:pPr lvl="2">
              <a:lnSpc>
                <a:spcPct val="100000"/>
              </a:lnSpc>
            </a:pPr>
            <a:r>
              <a:rPr lang="en-US" sz="1800" dirty="0"/>
              <a:t>Anticipate completing 1.0 Business Understanding on May 12</a:t>
            </a:r>
          </a:p>
          <a:p>
            <a:pPr lvl="2">
              <a:lnSpc>
                <a:spcPct val="100000"/>
              </a:lnSpc>
            </a:pPr>
            <a:r>
              <a:rPr lang="en-US" sz="1800" dirty="0"/>
              <a:t>Will be working weekend to complete so as not to impact other project deliverables</a:t>
            </a:r>
          </a:p>
        </p:txBody>
      </p:sp>
      <p:sp>
        <p:nvSpPr>
          <p:cNvPr id="5" name="Speech Bubble: Rectangle with Corners Rounded 4">
            <a:extLst>
              <a:ext uri="{FF2B5EF4-FFF2-40B4-BE49-F238E27FC236}">
                <a16:creationId xmlns:a16="http://schemas.microsoft.com/office/drawing/2014/main" id="{7FF055BF-4BA1-759A-08F8-5D550D59FED0}"/>
              </a:ext>
            </a:extLst>
          </p:cNvPr>
          <p:cNvSpPr/>
          <p:nvPr/>
        </p:nvSpPr>
        <p:spPr>
          <a:xfrm>
            <a:off x="8716433" y="4643662"/>
            <a:ext cx="2990658" cy="1634067"/>
          </a:xfrm>
          <a:prstGeom prst="wedgeRoundRectCallout">
            <a:avLst>
              <a:gd name="adj1" fmla="val -81476"/>
              <a:gd name="adj2" fmla="val -48673"/>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Notice, the Three Items in Bullets Describe WHY the Task is Yellow and What Our Mitigation Plan Is…</a:t>
            </a:r>
          </a:p>
        </p:txBody>
      </p:sp>
      <p:sp>
        <p:nvSpPr>
          <p:cNvPr id="4" name="Rectangle: Rounded Corners 3">
            <a:extLst>
              <a:ext uri="{FF2B5EF4-FFF2-40B4-BE49-F238E27FC236}">
                <a16:creationId xmlns:a16="http://schemas.microsoft.com/office/drawing/2014/main" id="{0BB7876E-B749-C62E-586D-16BFC354C138}"/>
              </a:ext>
            </a:extLst>
          </p:cNvPr>
          <p:cNvSpPr/>
          <p:nvPr/>
        </p:nvSpPr>
        <p:spPr>
          <a:xfrm>
            <a:off x="1358639" y="3375142"/>
            <a:ext cx="8672945" cy="1153546"/>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490674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DDFA6-84DA-A097-92BF-9C026038D7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E96C1D-9DFC-ED71-510D-68430FF5ECCB}"/>
              </a:ext>
            </a:extLst>
          </p:cNvPr>
          <p:cNvSpPr>
            <a:spLocks noGrp="1"/>
          </p:cNvSpPr>
          <p:nvPr>
            <p:ph type="title"/>
          </p:nvPr>
        </p:nvSpPr>
        <p:spPr/>
        <p:txBody>
          <a:bodyPr/>
          <a:lstStyle/>
          <a:p>
            <a:r>
              <a:rPr lang="en-US" dirty="0"/>
              <a:t>Items In Progress…</a:t>
            </a:r>
          </a:p>
        </p:txBody>
      </p:sp>
      <p:sp>
        <p:nvSpPr>
          <p:cNvPr id="3" name="Content Placeholder 2">
            <a:extLst>
              <a:ext uri="{FF2B5EF4-FFF2-40B4-BE49-F238E27FC236}">
                <a16:creationId xmlns:a16="http://schemas.microsoft.com/office/drawing/2014/main" id="{765209A6-EB34-7BEC-434D-544DBDF5A36D}"/>
              </a:ext>
            </a:extLst>
          </p:cNvPr>
          <p:cNvSpPr>
            <a:spLocks noGrp="1"/>
          </p:cNvSpPr>
          <p:nvPr>
            <p:ph idx="1"/>
          </p:nvPr>
        </p:nvSpPr>
        <p:spPr>
          <a:xfrm>
            <a:off x="599089" y="1124608"/>
            <a:ext cx="10993815" cy="4669441"/>
          </a:xfrm>
        </p:spPr>
        <p:txBody>
          <a:bodyPr>
            <a:normAutofit/>
          </a:bodyPr>
          <a:lstStyle/>
          <a:p>
            <a:pPr>
              <a:lnSpc>
                <a:spcPct val="100000"/>
              </a:lnSpc>
            </a:pPr>
            <a:r>
              <a:rPr lang="en-US" sz="2400" dirty="0"/>
              <a:t>1.0 Business Understand document not completed</a:t>
            </a:r>
          </a:p>
          <a:p>
            <a:pPr lvl="1">
              <a:lnSpc>
                <a:spcPct val="100000"/>
              </a:lnSpc>
              <a:buFont typeface="Wingdings" panose="05000000000000000000" pitchFamily="2" charset="2"/>
              <a:buChar char="§"/>
            </a:pPr>
            <a:r>
              <a:rPr lang="en-US" sz="2000" dirty="0"/>
              <a:t>Task is </a:t>
            </a:r>
            <a:r>
              <a:rPr lang="en-US" sz="2000" dirty="0">
                <a:highlight>
                  <a:srgbClr val="FFFF00"/>
                </a:highlight>
              </a:rPr>
              <a:t>Yellow</a:t>
            </a:r>
            <a:r>
              <a:rPr lang="en-US" sz="2000" dirty="0"/>
              <a:t> – task 90% complete</a:t>
            </a:r>
          </a:p>
          <a:p>
            <a:pPr lvl="1">
              <a:lnSpc>
                <a:spcPct val="100000"/>
              </a:lnSpc>
              <a:buFont typeface="Wingdings" panose="05000000000000000000" pitchFamily="2" charset="2"/>
              <a:buChar char="§"/>
            </a:pPr>
            <a:r>
              <a:rPr lang="en-US" sz="2000" dirty="0"/>
              <a:t>Original Start Date : May 4, 2026, Revised Start Date : N/A, Actual Start Date : May 4, 2026</a:t>
            </a:r>
          </a:p>
          <a:p>
            <a:pPr lvl="1">
              <a:lnSpc>
                <a:spcPct val="100000"/>
              </a:lnSpc>
              <a:buFont typeface="Wingdings" panose="05000000000000000000" pitchFamily="2" charset="2"/>
              <a:buChar char="§"/>
            </a:pPr>
            <a:r>
              <a:rPr lang="en-US" sz="2000" dirty="0"/>
              <a:t>Original End Date : May 9, 2026, Revised End Date : N/A, Actual End Date : N/A</a:t>
            </a:r>
          </a:p>
          <a:p>
            <a:pPr lvl="1">
              <a:lnSpc>
                <a:spcPct val="100000"/>
              </a:lnSpc>
              <a:buFont typeface="Wingdings" panose="05000000000000000000" pitchFamily="2" charset="2"/>
              <a:buChar char="§"/>
            </a:pPr>
            <a:endParaRPr lang="en-US" sz="2000" dirty="0"/>
          </a:p>
          <a:p>
            <a:pPr lvl="1">
              <a:lnSpc>
                <a:spcPct val="100000"/>
              </a:lnSpc>
              <a:buFont typeface="Wingdings" panose="05000000000000000000" pitchFamily="2" charset="2"/>
              <a:buChar char="§"/>
            </a:pPr>
            <a:r>
              <a:rPr lang="en-US" sz="2000" dirty="0"/>
              <a:t>Needed clarification on several items in the 1.0 Business Understanding document</a:t>
            </a:r>
          </a:p>
          <a:p>
            <a:pPr lvl="2">
              <a:lnSpc>
                <a:spcPct val="100000"/>
              </a:lnSpc>
            </a:pPr>
            <a:r>
              <a:rPr lang="en-US" sz="1800" dirty="0"/>
              <a:t>Met with Professor Nardi on May 1</a:t>
            </a:r>
          </a:p>
          <a:p>
            <a:pPr lvl="2">
              <a:lnSpc>
                <a:spcPct val="100000"/>
              </a:lnSpc>
            </a:pPr>
            <a:r>
              <a:rPr lang="en-US" sz="1800" dirty="0"/>
              <a:t>Anticipate completing 1.0 Business Understanding on May 12</a:t>
            </a:r>
          </a:p>
          <a:p>
            <a:pPr lvl="2">
              <a:lnSpc>
                <a:spcPct val="100000"/>
              </a:lnSpc>
            </a:pPr>
            <a:r>
              <a:rPr lang="en-US" sz="1800" dirty="0"/>
              <a:t>Will be working weekend to complete so as not to impact other project deliverables</a:t>
            </a:r>
          </a:p>
        </p:txBody>
      </p:sp>
      <p:sp>
        <p:nvSpPr>
          <p:cNvPr id="5" name="Speech Bubble: Rectangle with Corners Rounded 4">
            <a:extLst>
              <a:ext uri="{FF2B5EF4-FFF2-40B4-BE49-F238E27FC236}">
                <a16:creationId xmlns:a16="http://schemas.microsoft.com/office/drawing/2014/main" id="{5A610142-E7C7-600F-8113-240D5D08CB9A}"/>
              </a:ext>
            </a:extLst>
          </p:cNvPr>
          <p:cNvSpPr/>
          <p:nvPr/>
        </p:nvSpPr>
        <p:spPr>
          <a:xfrm>
            <a:off x="8716433" y="4643662"/>
            <a:ext cx="2990658" cy="1634067"/>
          </a:xfrm>
          <a:prstGeom prst="wedgeRoundRectCallout">
            <a:avLst>
              <a:gd name="adj1" fmla="val -81476"/>
              <a:gd name="adj2" fmla="val -48673"/>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Notice, the Three Items in Bullets Describe WHY the Task is Yellow and What Our Mitigation Plan Is…</a:t>
            </a:r>
          </a:p>
        </p:txBody>
      </p:sp>
      <p:sp>
        <p:nvSpPr>
          <p:cNvPr id="4" name="Rectangle: Rounded Corners 3">
            <a:extLst>
              <a:ext uri="{FF2B5EF4-FFF2-40B4-BE49-F238E27FC236}">
                <a16:creationId xmlns:a16="http://schemas.microsoft.com/office/drawing/2014/main" id="{AAA3DC16-548F-562A-6F28-8CED5315ABA2}"/>
              </a:ext>
            </a:extLst>
          </p:cNvPr>
          <p:cNvSpPr/>
          <p:nvPr/>
        </p:nvSpPr>
        <p:spPr>
          <a:xfrm>
            <a:off x="1358639" y="3375142"/>
            <a:ext cx="8672945" cy="1153546"/>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Speech Bubble: Rectangle with Corners Rounded 5">
            <a:extLst>
              <a:ext uri="{FF2B5EF4-FFF2-40B4-BE49-F238E27FC236}">
                <a16:creationId xmlns:a16="http://schemas.microsoft.com/office/drawing/2014/main" id="{B3C872D3-B6CC-7BE0-8456-2655796476E5}"/>
              </a:ext>
            </a:extLst>
          </p:cNvPr>
          <p:cNvSpPr/>
          <p:nvPr/>
        </p:nvSpPr>
        <p:spPr>
          <a:xfrm>
            <a:off x="5048656" y="4977015"/>
            <a:ext cx="2832100" cy="1634068"/>
          </a:xfrm>
          <a:prstGeom prst="wedgeRoundRectCallout">
            <a:avLst>
              <a:gd name="adj1" fmla="val -37258"/>
              <a:gd name="adj2" fmla="val -74339"/>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 This Case, These Items Would Also Appear in "Next Steps" and/or "Issues, Risks, Concerns"…</a:t>
            </a:r>
          </a:p>
        </p:txBody>
      </p:sp>
    </p:spTree>
    <p:extLst>
      <p:ext uri="{BB962C8B-B14F-4D97-AF65-F5344CB8AC3E}">
        <p14:creationId xmlns:p14="http://schemas.microsoft.com/office/powerpoint/2010/main" val="34287239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F0661-C30F-5478-E96C-1029D3D24C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D105DF-A3AC-CA17-4B92-A2794CDABFA1}"/>
              </a:ext>
            </a:extLst>
          </p:cNvPr>
          <p:cNvSpPr>
            <a:spLocks noGrp="1"/>
          </p:cNvSpPr>
          <p:nvPr>
            <p:ph type="title"/>
          </p:nvPr>
        </p:nvSpPr>
        <p:spPr/>
        <p:txBody>
          <a:bodyPr/>
          <a:lstStyle/>
          <a:p>
            <a:r>
              <a:rPr lang="en-US" dirty="0"/>
              <a:t>Items In Progress…</a:t>
            </a:r>
          </a:p>
        </p:txBody>
      </p:sp>
      <p:sp>
        <p:nvSpPr>
          <p:cNvPr id="3" name="Content Placeholder 2">
            <a:extLst>
              <a:ext uri="{FF2B5EF4-FFF2-40B4-BE49-F238E27FC236}">
                <a16:creationId xmlns:a16="http://schemas.microsoft.com/office/drawing/2014/main" id="{1BCDA6E2-5C98-5E28-D8D3-8A2D3DDE6053}"/>
              </a:ext>
            </a:extLst>
          </p:cNvPr>
          <p:cNvSpPr>
            <a:spLocks noGrp="1"/>
          </p:cNvSpPr>
          <p:nvPr>
            <p:ph idx="1"/>
          </p:nvPr>
        </p:nvSpPr>
        <p:spPr>
          <a:xfrm>
            <a:off x="599089" y="1124608"/>
            <a:ext cx="10993815" cy="4669441"/>
          </a:xfrm>
        </p:spPr>
        <p:txBody>
          <a:bodyPr>
            <a:normAutofit/>
          </a:bodyPr>
          <a:lstStyle/>
          <a:p>
            <a:pPr>
              <a:lnSpc>
                <a:spcPct val="100000"/>
              </a:lnSpc>
            </a:pPr>
            <a:r>
              <a:rPr lang="en-US" sz="2400" dirty="0"/>
              <a:t>1.0 Business Understand document not completed</a:t>
            </a:r>
          </a:p>
          <a:p>
            <a:pPr lvl="1">
              <a:lnSpc>
                <a:spcPct val="100000"/>
              </a:lnSpc>
              <a:buFont typeface="Wingdings" panose="05000000000000000000" pitchFamily="2" charset="2"/>
              <a:buChar char="§"/>
            </a:pPr>
            <a:r>
              <a:rPr lang="en-US" sz="2000" dirty="0"/>
              <a:t>Task is </a:t>
            </a:r>
            <a:r>
              <a:rPr lang="en-US" sz="2000" dirty="0">
                <a:highlight>
                  <a:srgbClr val="FFFF00"/>
                </a:highlight>
              </a:rPr>
              <a:t>Yellow</a:t>
            </a:r>
            <a:r>
              <a:rPr lang="en-US" sz="2000" dirty="0"/>
              <a:t> – task 90% complete</a:t>
            </a:r>
          </a:p>
          <a:p>
            <a:pPr lvl="1">
              <a:lnSpc>
                <a:spcPct val="100000"/>
              </a:lnSpc>
              <a:buFont typeface="Wingdings" panose="05000000000000000000" pitchFamily="2" charset="2"/>
              <a:buChar char="§"/>
            </a:pPr>
            <a:r>
              <a:rPr lang="en-US" sz="2000" dirty="0"/>
              <a:t>Original Start Date : May 4, 2026, Revised Start Date : N/A, Actual Start Date : May 4, 2026</a:t>
            </a:r>
          </a:p>
          <a:p>
            <a:pPr lvl="1">
              <a:lnSpc>
                <a:spcPct val="100000"/>
              </a:lnSpc>
              <a:buFont typeface="Wingdings" panose="05000000000000000000" pitchFamily="2" charset="2"/>
              <a:buChar char="§"/>
            </a:pPr>
            <a:r>
              <a:rPr lang="en-US" sz="2000" dirty="0"/>
              <a:t>Original End Date : May 9, 2026, Revised End Date : N/A, Actual End Date : N/A</a:t>
            </a:r>
          </a:p>
          <a:p>
            <a:pPr lvl="1">
              <a:lnSpc>
                <a:spcPct val="100000"/>
              </a:lnSpc>
              <a:buFont typeface="Wingdings" panose="05000000000000000000" pitchFamily="2" charset="2"/>
              <a:buChar char="§"/>
            </a:pPr>
            <a:endParaRPr lang="en-US" sz="2000" dirty="0"/>
          </a:p>
          <a:p>
            <a:pPr lvl="1">
              <a:lnSpc>
                <a:spcPct val="100000"/>
              </a:lnSpc>
              <a:buFont typeface="Wingdings" panose="05000000000000000000" pitchFamily="2" charset="2"/>
              <a:buChar char="§"/>
            </a:pPr>
            <a:r>
              <a:rPr lang="en-US" sz="2000" dirty="0"/>
              <a:t>Needed clarification on several items in the 1.0 Business Understanding document</a:t>
            </a:r>
          </a:p>
          <a:p>
            <a:pPr lvl="2">
              <a:lnSpc>
                <a:spcPct val="100000"/>
              </a:lnSpc>
            </a:pPr>
            <a:r>
              <a:rPr lang="en-US" sz="1800" dirty="0"/>
              <a:t>Met with Professor Nardi on May 1</a:t>
            </a:r>
          </a:p>
          <a:p>
            <a:pPr lvl="2">
              <a:lnSpc>
                <a:spcPct val="100000"/>
              </a:lnSpc>
            </a:pPr>
            <a:r>
              <a:rPr lang="en-US" sz="1800" dirty="0"/>
              <a:t>Anticipate completing 1.0 Business Understanding on May 12</a:t>
            </a:r>
          </a:p>
          <a:p>
            <a:pPr lvl="2">
              <a:lnSpc>
                <a:spcPct val="100000"/>
              </a:lnSpc>
            </a:pPr>
            <a:r>
              <a:rPr lang="en-US" sz="1800" dirty="0"/>
              <a:t>Will be working weekend to complete so as not to impact other project deliverables</a:t>
            </a:r>
          </a:p>
        </p:txBody>
      </p:sp>
      <p:sp>
        <p:nvSpPr>
          <p:cNvPr id="5" name="Speech Bubble: Rectangle with Corners Rounded 4">
            <a:extLst>
              <a:ext uri="{FF2B5EF4-FFF2-40B4-BE49-F238E27FC236}">
                <a16:creationId xmlns:a16="http://schemas.microsoft.com/office/drawing/2014/main" id="{B7E7248C-C27C-2219-0889-7087E16DF257}"/>
              </a:ext>
            </a:extLst>
          </p:cNvPr>
          <p:cNvSpPr/>
          <p:nvPr/>
        </p:nvSpPr>
        <p:spPr>
          <a:xfrm>
            <a:off x="8716433" y="4643662"/>
            <a:ext cx="2990658" cy="1634067"/>
          </a:xfrm>
          <a:prstGeom prst="wedgeRoundRectCallout">
            <a:avLst>
              <a:gd name="adj1" fmla="val -81476"/>
              <a:gd name="adj2" fmla="val -48673"/>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Notice, the Three Items in Bullets Describe WHY the Task is Yellow and What Our Mitigation Plan Is…</a:t>
            </a:r>
          </a:p>
        </p:txBody>
      </p:sp>
      <p:sp>
        <p:nvSpPr>
          <p:cNvPr id="4" name="Rectangle: Rounded Corners 3">
            <a:extLst>
              <a:ext uri="{FF2B5EF4-FFF2-40B4-BE49-F238E27FC236}">
                <a16:creationId xmlns:a16="http://schemas.microsoft.com/office/drawing/2014/main" id="{81F5BA14-88D2-C8F6-ECAE-4019D0A352B0}"/>
              </a:ext>
            </a:extLst>
          </p:cNvPr>
          <p:cNvSpPr/>
          <p:nvPr/>
        </p:nvSpPr>
        <p:spPr>
          <a:xfrm>
            <a:off x="1358639" y="3375142"/>
            <a:ext cx="8672945" cy="1153546"/>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Speech Bubble: Rectangle with Corners Rounded 5">
            <a:extLst>
              <a:ext uri="{FF2B5EF4-FFF2-40B4-BE49-F238E27FC236}">
                <a16:creationId xmlns:a16="http://schemas.microsoft.com/office/drawing/2014/main" id="{709BD21A-951D-D684-057F-DC48C071FB5E}"/>
              </a:ext>
            </a:extLst>
          </p:cNvPr>
          <p:cNvSpPr/>
          <p:nvPr/>
        </p:nvSpPr>
        <p:spPr>
          <a:xfrm>
            <a:off x="5048656" y="4977015"/>
            <a:ext cx="2832100" cy="1634068"/>
          </a:xfrm>
          <a:prstGeom prst="wedgeRoundRectCallout">
            <a:avLst>
              <a:gd name="adj1" fmla="val -37258"/>
              <a:gd name="adj2" fmla="val -74339"/>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 This Case, These Items Would Also Appear in "Next Steps" and/or "Issues, Risks, Concerns"…</a:t>
            </a:r>
          </a:p>
        </p:txBody>
      </p:sp>
      <p:sp>
        <p:nvSpPr>
          <p:cNvPr id="7" name="Speech Bubble: Rectangle with Corners Rounded 6">
            <a:extLst>
              <a:ext uri="{FF2B5EF4-FFF2-40B4-BE49-F238E27FC236}">
                <a16:creationId xmlns:a16="http://schemas.microsoft.com/office/drawing/2014/main" id="{E1E3AD34-32F9-DACD-9250-600F5E838EAE}"/>
              </a:ext>
            </a:extLst>
          </p:cNvPr>
          <p:cNvSpPr/>
          <p:nvPr/>
        </p:nvSpPr>
        <p:spPr>
          <a:xfrm>
            <a:off x="8037871" y="196966"/>
            <a:ext cx="3555033" cy="1634068"/>
          </a:xfrm>
          <a:prstGeom prst="wedgeRoundRectCallout">
            <a:avLst>
              <a:gd name="adj1" fmla="val -70172"/>
              <a:gd name="adj2" fmla="val 48409"/>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Notice Also the Original END Date Did NOT Change…</a:t>
            </a:r>
          </a:p>
          <a:p>
            <a:pPr algn="ctr"/>
            <a:r>
              <a:rPr lang="en-US" dirty="0"/>
              <a:t>This is NOT a Revised Date…</a:t>
            </a:r>
          </a:p>
          <a:p>
            <a:pPr algn="ctr"/>
            <a:r>
              <a:rPr lang="en-US" dirty="0"/>
              <a:t>This Will Be a Late Task…</a:t>
            </a:r>
          </a:p>
        </p:txBody>
      </p:sp>
    </p:spTree>
    <p:extLst>
      <p:ext uri="{BB962C8B-B14F-4D97-AF65-F5344CB8AC3E}">
        <p14:creationId xmlns:p14="http://schemas.microsoft.com/office/powerpoint/2010/main" val="21022242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Items to Be Started…</a:t>
            </a:r>
          </a:p>
        </p:txBody>
      </p:sp>
      <p:sp>
        <p:nvSpPr>
          <p:cNvPr id="3" name="Content Placeholder 2"/>
          <p:cNvSpPr>
            <a:spLocks noGrp="1"/>
          </p:cNvSpPr>
          <p:nvPr>
            <p:ph idx="1"/>
          </p:nvPr>
        </p:nvSpPr>
        <p:spPr>
          <a:xfrm>
            <a:off x="599089" y="1124608"/>
            <a:ext cx="10993815" cy="4522817"/>
          </a:xfrm>
        </p:spPr>
        <p:txBody>
          <a:bodyPr>
            <a:normAutofit/>
          </a:bodyPr>
          <a:lstStyle/>
          <a:p>
            <a:pPr>
              <a:lnSpc>
                <a:spcPct val="100000"/>
              </a:lnSpc>
            </a:pPr>
            <a:r>
              <a:rPr lang="en-US" sz="2400" dirty="0"/>
              <a:t>2.0 Data Understanding</a:t>
            </a:r>
          </a:p>
          <a:p>
            <a:pPr lvl="1">
              <a:lnSpc>
                <a:spcPct val="100000"/>
              </a:lnSpc>
              <a:buFont typeface="Wingdings" panose="05000000000000000000" pitchFamily="2" charset="2"/>
              <a:buChar char="§"/>
            </a:pPr>
            <a:r>
              <a:rPr lang="en-US" sz="2000" dirty="0"/>
              <a:t>Original Start Date: May 11, 2026; Revised Start Date: n/a; Actual Start Date: n/a</a:t>
            </a:r>
          </a:p>
          <a:p>
            <a:pPr lvl="1">
              <a:lnSpc>
                <a:spcPct val="100000"/>
              </a:lnSpc>
              <a:buFont typeface="Wingdings" panose="05000000000000000000" pitchFamily="2" charset="2"/>
              <a:buChar char="§"/>
            </a:pPr>
            <a:r>
              <a:rPr lang="en-US" sz="2000" dirty="0"/>
              <a:t>Original End Date:   May 24, 2026; Revised End Date: n/a; Actual End Date: n/a</a:t>
            </a:r>
          </a:p>
          <a:p>
            <a:pPr>
              <a:lnSpc>
                <a:spcPct val="100000"/>
              </a:lnSpc>
            </a:pPr>
            <a:r>
              <a:rPr lang="en-US" sz="2400" dirty="0"/>
              <a:t>3.0 Data Preparation</a:t>
            </a:r>
          </a:p>
          <a:p>
            <a:pPr lvl="1">
              <a:lnSpc>
                <a:spcPct val="100000"/>
              </a:lnSpc>
              <a:buFont typeface="Wingdings" panose="05000000000000000000" pitchFamily="2" charset="2"/>
              <a:buChar char="§"/>
            </a:pPr>
            <a:r>
              <a:rPr lang="en-US" sz="2000" dirty="0"/>
              <a:t>Original Start Date: May 25, 2026; Revised Start Date: n/a; Actual Start Date: n/a</a:t>
            </a:r>
          </a:p>
          <a:p>
            <a:pPr lvl="1">
              <a:lnSpc>
                <a:spcPct val="100000"/>
              </a:lnSpc>
              <a:buFont typeface="Wingdings" panose="05000000000000000000" pitchFamily="2" charset="2"/>
              <a:buChar char="§"/>
            </a:pPr>
            <a:r>
              <a:rPr lang="en-US" sz="2000" dirty="0"/>
              <a:t>Original End Date:   June 07, 2026; Revised End Date: n/a; Actual End Date: n/a</a:t>
            </a:r>
          </a:p>
        </p:txBody>
      </p:sp>
    </p:spTree>
    <p:extLst>
      <p:ext uri="{BB962C8B-B14F-4D97-AF65-F5344CB8AC3E}">
        <p14:creationId xmlns:p14="http://schemas.microsoft.com/office/powerpoint/2010/main" val="14612362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FE500-F9EC-3BCC-609A-C51842FB96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3360DC-3092-0D2D-3B6F-D8CC512F072A}"/>
              </a:ext>
            </a:extLst>
          </p:cNvPr>
          <p:cNvSpPr>
            <a:spLocks noGrp="1"/>
          </p:cNvSpPr>
          <p:nvPr>
            <p:ph type="title"/>
          </p:nvPr>
        </p:nvSpPr>
        <p:spPr/>
        <p:txBody>
          <a:bodyPr/>
          <a:lstStyle/>
          <a:p>
            <a:r>
              <a:rPr lang="en-US" dirty="0"/>
              <a:t>Items to Be Started…</a:t>
            </a:r>
          </a:p>
        </p:txBody>
      </p:sp>
      <p:sp>
        <p:nvSpPr>
          <p:cNvPr id="3" name="Content Placeholder 2">
            <a:extLst>
              <a:ext uri="{FF2B5EF4-FFF2-40B4-BE49-F238E27FC236}">
                <a16:creationId xmlns:a16="http://schemas.microsoft.com/office/drawing/2014/main" id="{115C5C54-DBFD-E01B-7D54-34A9A7385611}"/>
              </a:ext>
            </a:extLst>
          </p:cNvPr>
          <p:cNvSpPr>
            <a:spLocks noGrp="1"/>
          </p:cNvSpPr>
          <p:nvPr>
            <p:ph idx="1"/>
          </p:nvPr>
        </p:nvSpPr>
        <p:spPr>
          <a:xfrm>
            <a:off x="599089" y="1124608"/>
            <a:ext cx="10993815" cy="4522817"/>
          </a:xfrm>
        </p:spPr>
        <p:txBody>
          <a:bodyPr>
            <a:normAutofit/>
          </a:bodyPr>
          <a:lstStyle/>
          <a:p>
            <a:pPr>
              <a:lnSpc>
                <a:spcPct val="100000"/>
              </a:lnSpc>
            </a:pPr>
            <a:r>
              <a:rPr lang="en-US" sz="2400" dirty="0"/>
              <a:t>2.0 Data Understanding</a:t>
            </a:r>
          </a:p>
          <a:p>
            <a:pPr lvl="1">
              <a:lnSpc>
                <a:spcPct val="100000"/>
              </a:lnSpc>
              <a:buFont typeface="Wingdings" panose="05000000000000000000" pitchFamily="2" charset="2"/>
              <a:buChar char="§"/>
            </a:pPr>
            <a:r>
              <a:rPr lang="en-US" sz="2000" dirty="0"/>
              <a:t>Original Start Date: May 11, 2026; Revised Start Date: n/a; Actual Start Date: n/a</a:t>
            </a:r>
          </a:p>
          <a:p>
            <a:pPr lvl="1">
              <a:lnSpc>
                <a:spcPct val="100000"/>
              </a:lnSpc>
              <a:buFont typeface="Wingdings" panose="05000000000000000000" pitchFamily="2" charset="2"/>
              <a:buChar char="§"/>
            </a:pPr>
            <a:r>
              <a:rPr lang="en-US" sz="2000" dirty="0"/>
              <a:t>Original End Date:   May 24, 2026; Revised End Date: n/a; Actual End Date: n/a</a:t>
            </a:r>
          </a:p>
          <a:p>
            <a:pPr>
              <a:lnSpc>
                <a:spcPct val="100000"/>
              </a:lnSpc>
            </a:pPr>
            <a:r>
              <a:rPr lang="en-US" sz="2400" dirty="0"/>
              <a:t>3.0 Data Preparation</a:t>
            </a:r>
          </a:p>
          <a:p>
            <a:pPr lvl="1">
              <a:lnSpc>
                <a:spcPct val="100000"/>
              </a:lnSpc>
              <a:buFont typeface="Wingdings" panose="05000000000000000000" pitchFamily="2" charset="2"/>
              <a:buChar char="§"/>
            </a:pPr>
            <a:r>
              <a:rPr lang="en-US" sz="2000" dirty="0"/>
              <a:t>Original Start Date: May 25, 2026; Revised Start Date: n/a; Actual Start Date: n/a</a:t>
            </a:r>
          </a:p>
          <a:p>
            <a:pPr lvl="1">
              <a:lnSpc>
                <a:spcPct val="100000"/>
              </a:lnSpc>
              <a:buFont typeface="Wingdings" panose="05000000000000000000" pitchFamily="2" charset="2"/>
              <a:buChar char="§"/>
            </a:pPr>
            <a:r>
              <a:rPr lang="en-US" sz="2000" dirty="0"/>
              <a:t>Original End Date:   June 07, 2026; Revised End Date: n/a; Actual End Date: n/a</a:t>
            </a:r>
          </a:p>
        </p:txBody>
      </p:sp>
      <p:sp>
        <p:nvSpPr>
          <p:cNvPr id="4" name="Speech Bubble: Oval 3">
            <a:extLst>
              <a:ext uri="{FF2B5EF4-FFF2-40B4-BE49-F238E27FC236}">
                <a16:creationId xmlns:a16="http://schemas.microsoft.com/office/drawing/2014/main" id="{FEE0715F-3BDF-DE5B-BC71-D0970DA426B4}"/>
              </a:ext>
            </a:extLst>
          </p:cNvPr>
          <p:cNvSpPr/>
          <p:nvPr/>
        </p:nvSpPr>
        <p:spPr>
          <a:xfrm>
            <a:off x="6525491" y="4349342"/>
            <a:ext cx="4541944" cy="1885204"/>
          </a:xfrm>
          <a:prstGeom prst="wedgeEllipseCallout">
            <a:avLst>
              <a:gd name="adj1" fmla="val -38953"/>
              <a:gd name="adj2" fmla="val -87669"/>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772F0A34-52CE-8B65-F22C-76DEDFB5F37A}"/>
              </a:ext>
            </a:extLst>
          </p:cNvPr>
          <p:cNvSpPr txBox="1"/>
          <p:nvPr/>
        </p:nvSpPr>
        <p:spPr>
          <a:xfrm>
            <a:off x="7012155" y="4680709"/>
            <a:ext cx="3409772" cy="1200329"/>
          </a:xfrm>
          <a:prstGeom prst="rect">
            <a:avLst/>
          </a:prstGeom>
          <a:noFill/>
        </p:spPr>
        <p:txBody>
          <a:bodyPr wrap="square" rtlCol="0">
            <a:spAutoFit/>
          </a:bodyPr>
          <a:lstStyle/>
          <a:p>
            <a:pPr algn="ctr"/>
            <a:r>
              <a:rPr lang="en-US" b="1" dirty="0">
                <a:solidFill>
                  <a:srgbClr val="FF0000"/>
                </a:solidFill>
              </a:rPr>
              <a:t>Note How You Always Show an Original, Revised, and Actual Date Even If You Have None…Here They Act as Placeholders…</a:t>
            </a:r>
          </a:p>
        </p:txBody>
      </p:sp>
    </p:spTree>
    <p:extLst>
      <p:ext uri="{BB962C8B-B14F-4D97-AF65-F5344CB8AC3E}">
        <p14:creationId xmlns:p14="http://schemas.microsoft.com/office/powerpoint/2010/main" val="26575465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Sample of Items Completed This Week…</a:t>
            </a:r>
          </a:p>
        </p:txBody>
      </p:sp>
      <p:sp>
        <p:nvSpPr>
          <p:cNvPr id="3" name="Content Placeholder 2"/>
          <p:cNvSpPr>
            <a:spLocks noGrp="1"/>
          </p:cNvSpPr>
          <p:nvPr>
            <p:ph idx="1"/>
          </p:nvPr>
        </p:nvSpPr>
        <p:spPr>
          <a:xfrm>
            <a:off x="599089" y="1194216"/>
            <a:ext cx="10993815" cy="4453209"/>
          </a:xfrm>
        </p:spPr>
        <p:txBody>
          <a:bodyPr>
            <a:normAutofit/>
          </a:bodyPr>
          <a:lstStyle/>
          <a:p>
            <a:pPr>
              <a:lnSpc>
                <a:spcPct val="100000"/>
              </a:lnSpc>
            </a:pPr>
            <a:r>
              <a:rPr lang="en-US" dirty="0"/>
              <a:t>Project Overview section of 1.0 Business Understanding document</a:t>
            </a:r>
          </a:p>
          <a:p>
            <a:pPr>
              <a:lnSpc>
                <a:spcPct val="100000"/>
              </a:lnSpc>
            </a:pPr>
            <a:r>
              <a:rPr lang="en-US" dirty="0"/>
              <a:t>This is key to the development of the rest of the system</a:t>
            </a:r>
          </a:p>
          <a:p>
            <a:pPr lvl="1">
              <a:lnSpc>
                <a:spcPct val="100000"/>
              </a:lnSpc>
              <a:buFont typeface="Wingdings" panose="05000000000000000000" pitchFamily="2" charset="2"/>
              <a:buChar char="ü"/>
            </a:pPr>
            <a:r>
              <a:rPr lang="en-US" dirty="0"/>
              <a:t> T</a:t>
            </a:r>
            <a:r>
              <a:rPr lang="en-US" i="1" dirty="0"/>
              <a:t>he “Education Analyzer" project is intended to help school administrators understand the factors that go into student success in High School and below.   It will take into account demographics, gender, family history, student history, and other factors in order to offer suggestions for improving student success.  The project includes various visualizations to support this topic.</a:t>
            </a:r>
          </a:p>
        </p:txBody>
      </p:sp>
    </p:spTree>
    <p:extLst>
      <p:ext uri="{BB962C8B-B14F-4D97-AF65-F5344CB8AC3E}">
        <p14:creationId xmlns:p14="http://schemas.microsoft.com/office/powerpoint/2010/main" val="5563037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Issues, Risks, Concerns…</a:t>
            </a:r>
          </a:p>
        </p:txBody>
      </p:sp>
      <p:sp>
        <p:nvSpPr>
          <p:cNvPr id="3" name="Content Placeholder 2"/>
          <p:cNvSpPr>
            <a:spLocks noGrp="1"/>
          </p:cNvSpPr>
          <p:nvPr>
            <p:ph idx="1"/>
          </p:nvPr>
        </p:nvSpPr>
        <p:spPr>
          <a:xfrm>
            <a:off x="599089" y="1124608"/>
            <a:ext cx="10993815" cy="4522817"/>
          </a:xfrm>
        </p:spPr>
        <p:txBody>
          <a:bodyPr>
            <a:normAutofit/>
          </a:bodyPr>
          <a:lstStyle/>
          <a:p>
            <a:pPr>
              <a:lnSpc>
                <a:spcPct val="100000"/>
              </a:lnSpc>
            </a:pPr>
            <a:r>
              <a:rPr lang="en-US" dirty="0"/>
              <a:t>Issues</a:t>
            </a:r>
          </a:p>
          <a:p>
            <a:pPr lvl="1">
              <a:lnSpc>
                <a:spcPct val="100000"/>
              </a:lnSpc>
              <a:buFont typeface="Wingdings" panose="05000000000000000000" pitchFamily="2" charset="2"/>
              <a:buChar char="§"/>
            </a:pPr>
            <a:r>
              <a:rPr lang="en-US" dirty="0"/>
              <a:t>Had some problems understanding all items in the 1.0 Business Understanding document</a:t>
            </a:r>
          </a:p>
          <a:p>
            <a:pPr lvl="1">
              <a:lnSpc>
                <a:spcPct val="100000"/>
              </a:lnSpc>
              <a:buFont typeface="Wingdings" panose="05000000000000000000" pitchFamily="2" charset="2"/>
              <a:buChar char="§"/>
            </a:pPr>
            <a:r>
              <a:rPr lang="en-US" dirty="0"/>
              <a:t>Held a meeting with Professor Nardi on May 5 to clarify concerns</a:t>
            </a:r>
          </a:p>
          <a:p>
            <a:pPr lvl="1">
              <a:lnSpc>
                <a:spcPct val="100000"/>
              </a:lnSpc>
              <a:buFont typeface="Wingdings" panose="05000000000000000000" pitchFamily="2" charset="2"/>
              <a:buChar char="§"/>
            </a:pPr>
            <a:r>
              <a:rPr lang="en-US" dirty="0"/>
              <a:t>Anticipate being back on schedule by May 12</a:t>
            </a:r>
          </a:p>
          <a:p>
            <a:pPr>
              <a:lnSpc>
                <a:spcPct val="100000"/>
              </a:lnSpc>
            </a:pPr>
            <a:r>
              <a:rPr lang="en-US" dirty="0"/>
              <a:t>Risks</a:t>
            </a:r>
          </a:p>
          <a:p>
            <a:pPr lvl="1">
              <a:lnSpc>
                <a:spcPct val="100000"/>
              </a:lnSpc>
              <a:buFont typeface="Wingdings" panose="05000000000000000000" pitchFamily="2" charset="2"/>
              <a:buChar char="§"/>
            </a:pPr>
            <a:r>
              <a:rPr lang="en-US" dirty="0"/>
              <a:t>None at this time</a:t>
            </a:r>
          </a:p>
          <a:p>
            <a:pPr>
              <a:lnSpc>
                <a:spcPct val="100000"/>
              </a:lnSpc>
            </a:pPr>
            <a:r>
              <a:rPr lang="en-US" dirty="0"/>
              <a:t>Concerns</a:t>
            </a:r>
          </a:p>
          <a:p>
            <a:pPr lvl="1">
              <a:lnSpc>
                <a:spcPct val="100000"/>
              </a:lnSpc>
              <a:buFont typeface="Wingdings" panose="05000000000000000000" pitchFamily="2" charset="2"/>
              <a:buChar char="§"/>
            </a:pPr>
            <a:r>
              <a:rPr lang="en-US" dirty="0"/>
              <a:t>None at this time</a:t>
            </a:r>
          </a:p>
        </p:txBody>
      </p:sp>
    </p:spTree>
    <p:extLst>
      <p:ext uri="{BB962C8B-B14F-4D97-AF65-F5344CB8AC3E}">
        <p14:creationId xmlns:p14="http://schemas.microsoft.com/office/powerpoint/2010/main" val="8638319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Next Steps…</a:t>
            </a:r>
          </a:p>
        </p:txBody>
      </p:sp>
      <p:sp>
        <p:nvSpPr>
          <p:cNvPr id="3" name="Content Placeholder 2"/>
          <p:cNvSpPr>
            <a:spLocks noGrp="1"/>
          </p:cNvSpPr>
          <p:nvPr>
            <p:ph idx="1"/>
          </p:nvPr>
        </p:nvSpPr>
        <p:spPr>
          <a:xfrm>
            <a:off x="599089" y="1049868"/>
            <a:ext cx="10993815" cy="4718544"/>
          </a:xfrm>
        </p:spPr>
        <p:txBody>
          <a:bodyPr>
            <a:normAutofit/>
          </a:bodyPr>
          <a:lstStyle/>
          <a:p>
            <a:pPr>
              <a:lnSpc>
                <a:spcPct val="100000"/>
              </a:lnSpc>
            </a:pPr>
            <a:r>
              <a:rPr lang="en-US" sz="2400" dirty="0"/>
              <a:t>Follow up with Professor Nardi to review and verify items in the 1.0 Business Understanding document (May 11)</a:t>
            </a:r>
          </a:p>
          <a:p>
            <a:pPr>
              <a:lnSpc>
                <a:spcPct val="100000"/>
              </a:lnSpc>
            </a:pPr>
            <a:r>
              <a:rPr lang="en-US" sz="2400" dirty="0"/>
              <a:t>Complete 1.0 Business Understanding</a:t>
            </a:r>
          </a:p>
          <a:p>
            <a:pPr lvl="1">
              <a:lnSpc>
                <a:spcPct val="100000"/>
              </a:lnSpc>
              <a:buFont typeface="Wingdings" panose="05000000000000000000" pitchFamily="2" charset="2"/>
              <a:buChar char="§"/>
            </a:pPr>
            <a:r>
              <a:rPr lang="en-US" sz="2000" dirty="0"/>
              <a:t>Original Start Date : April 28, 2026, Revised Start Date : N/A, Actual Start Date : April 28, 2026</a:t>
            </a:r>
          </a:p>
          <a:p>
            <a:pPr lvl="1">
              <a:lnSpc>
                <a:spcPct val="100000"/>
              </a:lnSpc>
              <a:buFont typeface="Wingdings" panose="05000000000000000000" pitchFamily="2" charset="2"/>
              <a:buChar char="§"/>
            </a:pPr>
            <a:r>
              <a:rPr lang="en-US" sz="2000" dirty="0"/>
              <a:t>Original End Date : May 10, 2026, Revised End Date : N/A, Actual End Date : N/A</a:t>
            </a:r>
          </a:p>
          <a:p>
            <a:pPr>
              <a:lnSpc>
                <a:spcPct val="100000"/>
              </a:lnSpc>
            </a:pPr>
            <a:r>
              <a:rPr lang="en-US" sz="2400" dirty="0"/>
              <a:t>Begin work on 2.0 Data Understanding</a:t>
            </a:r>
          </a:p>
          <a:p>
            <a:pPr lvl="1">
              <a:lnSpc>
                <a:spcPct val="100000"/>
              </a:lnSpc>
              <a:buFont typeface="Wingdings" panose="05000000000000000000" pitchFamily="2" charset="2"/>
              <a:buChar char="§"/>
            </a:pPr>
            <a:r>
              <a:rPr lang="en-US" sz="2000" dirty="0"/>
              <a:t>Original Start Date: May 11, 2026; Revised Start Date: n/a; Actual Start Date: n/a</a:t>
            </a:r>
          </a:p>
          <a:p>
            <a:pPr lvl="1">
              <a:lnSpc>
                <a:spcPct val="100000"/>
              </a:lnSpc>
              <a:buFont typeface="Wingdings" panose="05000000000000000000" pitchFamily="2" charset="2"/>
              <a:buChar char="§"/>
            </a:pPr>
            <a:r>
              <a:rPr lang="en-US" sz="2000" dirty="0"/>
              <a:t>Original End Date:   May 24, 2026; Revised End Date: n/a; Actual End Date: n/a</a:t>
            </a:r>
          </a:p>
          <a:p>
            <a:pPr>
              <a:lnSpc>
                <a:spcPct val="100000"/>
              </a:lnSpc>
            </a:pPr>
            <a:r>
              <a:rPr lang="en-US" sz="2400" dirty="0"/>
              <a:t>Begin work 3.0 Data Preparation</a:t>
            </a:r>
          </a:p>
          <a:p>
            <a:pPr lvl="1">
              <a:lnSpc>
                <a:spcPct val="100000"/>
              </a:lnSpc>
              <a:buFont typeface="Wingdings" panose="05000000000000000000" pitchFamily="2" charset="2"/>
              <a:buChar char="§"/>
            </a:pPr>
            <a:r>
              <a:rPr lang="en-US" sz="2000" dirty="0"/>
              <a:t>Original Start Date: May 25, 2026; Revised Start Date: n/a; Actual Start Date: n/a</a:t>
            </a:r>
          </a:p>
          <a:p>
            <a:pPr lvl="1">
              <a:lnSpc>
                <a:spcPct val="100000"/>
              </a:lnSpc>
              <a:buFont typeface="Wingdings" panose="05000000000000000000" pitchFamily="2" charset="2"/>
              <a:buChar char="§"/>
            </a:pPr>
            <a:r>
              <a:rPr lang="en-US" sz="2000" dirty="0"/>
              <a:t>Original End Date:   June 07, 2026; Revised End Date: n/a; Actual End Date: n/a</a:t>
            </a:r>
          </a:p>
        </p:txBody>
      </p:sp>
    </p:spTree>
    <p:extLst>
      <p:ext uri="{BB962C8B-B14F-4D97-AF65-F5344CB8AC3E}">
        <p14:creationId xmlns:p14="http://schemas.microsoft.com/office/powerpoint/2010/main" val="28954920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Personal Reflection…</a:t>
            </a:r>
          </a:p>
        </p:txBody>
      </p:sp>
      <p:sp>
        <p:nvSpPr>
          <p:cNvPr id="3" name="Content Placeholder 2"/>
          <p:cNvSpPr>
            <a:spLocks noGrp="1"/>
          </p:cNvSpPr>
          <p:nvPr>
            <p:ph idx="1"/>
          </p:nvPr>
        </p:nvSpPr>
        <p:spPr>
          <a:xfrm>
            <a:off x="599089" y="1124608"/>
            <a:ext cx="10993815" cy="4522817"/>
          </a:xfrm>
        </p:spPr>
        <p:txBody>
          <a:bodyPr>
            <a:normAutofit/>
          </a:bodyPr>
          <a:lstStyle/>
          <a:p>
            <a:pPr marL="0" indent="0">
              <a:lnSpc>
                <a:spcPct val="100000"/>
              </a:lnSpc>
              <a:buNone/>
            </a:pPr>
            <a:r>
              <a:rPr lang="en-US" sz="2400" dirty="0"/>
              <a:t>Still getting the hang of writing these status reports.  But I love how many notes Professor Nardi gives me every week.  They are really helping me.  I hope this week there will be no issues in the status report.</a:t>
            </a:r>
          </a:p>
          <a:p>
            <a:pPr marL="0" indent="0">
              <a:lnSpc>
                <a:spcPct val="100000"/>
              </a:lnSpc>
              <a:buNone/>
            </a:pPr>
            <a:r>
              <a:rPr lang="en-US" sz="2400" dirty="0"/>
              <a:t>After reviewing the Business Understanding document, I was amazed at how many items actually go into determining what will be contained in a project.  But the more I thought about it, the more I realized just how much of an impact these items have on what will eventually be developed.  I have never been involved in most of those items, so I am looking forward to learning first-hand how they work.  And while I am concerned about having to work on so many items that I am unfamiliar with, I know I can always ask Professor Nardi for help, and together we will get this done.</a:t>
            </a:r>
          </a:p>
        </p:txBody>
      </p:sp>
    </p:spTree>
    <p:extLst>
      <p:ext uri="{BB962C8B-B14F-4D97-AF65-F5344CB8AC3E}">
        <p14:creationId xmlns:p14="http://schemas.microsoft.com/office/powerpoint/2010/main" val="297240142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F7268-DDC3-7D6E-3F06-DE21BE54EBA9}"/>
              </a:ext>
            </a:extLst>
          </p:cNvPr>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2650406367"/>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23522</TotalTime>
  <Words>5489</Words>
  <Application>Microsoft Office PowerPoint</Application>
  <PresentationFormat>Widescreen</PresentationFormat>
  <Paragraphs>392</Paragraphs>
  <Slides>50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50</vt:i4>
      </vt:variant>
    </vt:vector>
  </HeadingPairs>
  <TitlesOfParts>
    <vt:vector size="57" baseType="lpstr">
      <vt:lpstr>ＭＳ Ｐゴシック</vt:lpstr>
      <vt:lpstr>Arial</vt:lpstr>
      <vt:lpstr>Calibri</vt:lpstr>
      <vt:lpstr>Courier New</vt:lpstr>
      <vt:lpstr>Times New Roman</vt:lpstr>
      <vt:lpstr>Wingdings</vt:lpstr>
      <vt:lpstr>1_Office Theme</vt:lpstr>
      <vt:lpstr>CS 703 Applied Data Science Project Weekly Status Report</vt:lpstr>
      <vt:lpstr>So, What is This Status About?...</vt:lpstr>
      <vt:lpstr>Ok, So How Does This Work?…</vt:lpstr>
      <vt:lpstr>Let’s Take This a Slide at a Time…</vt:lpstr>
      <vt:lpstr>Title Slide…</vt:lpstr>
      <vt:lpstr>Education Analysis Status Report Week Ending May 8, 2026                                                       Submitted by John Smith        May 10, 2026</vt:lpstr>
      <vt:lpstr>Agenda Slide…</vt:lpstr>
      <vt:lpstr>Status Overview – Part 1…</vt:lpstr>
      <vt:lpstr>Status Overview – Part 2…</vt:lpstr>
      <vt:lpstr>Status Overview…</vt:lpstr>
      <vt:lpstr>Status Overview…</vt:lpstr>
      <vt:lpstr>Status Overview…</vt:lpstr>
      <vt:lpstr>Status Overview…</vt:lpstr>
      <vt:lpstr>Status Overview…</vt:lpstr>
      <vt:lpstr>Status Overview…</vt:lpstr>
      <vt:lpstr>Status Overview…</vt:lpstr>
      <vt:lpstr>Items Completed in Current Week…</vt:lpstr>
      <vt:lpstr>Hmmm, So What If I Completed PART of a Task…</vt:lpstr>
      <vt:lpstr>But Completing a Task Early is Good, Right?…</vt:lpstr>
      <vt:lpstr>Items In Progress…</vt:lpstr>
      <vt:lpstr>Items To Be Started…</vt:lpstr>
      <vt:lpstr>Okay, Wait…Time Out!...Why All This Stuff?!...</vt:lpstr>
      <vt:lpstr>As Long As We Are in a Time Out…Note On Dates…</vt:lpstr>
      <vt:lpstr>As Long As We Are in a Time Out…Note On Dates…</vt:lpstr>
      <vt:lpstr>Sample of Items In Progress…</vt:lpstr>
      <vt:lpstr>Project Issues, Risks, Concerns…</vt:lpstr>
      <vt:lpstr>What’s the Difference?…</vt:lpstr>
      <vt:lpstr>Notes on Issues, Risks, Concerns…</vt:lpstr>
      <vt:lpstr>More Notes on Issues, Risks, Concerns…</vt:lpstr>
      <vt:lpstr>Next Steps…</vt:lpstr>
      <vt:lpstr>Personal Reflection…</vt:lpstr>
      <vt:lpstr>Notes on Your Status – Part 1…</vt:lpstr>
      <vt:lpstr>Notes on Your Status – Part 2…</vt:lpstr>
      <vt:lpstr>Questions?…</vt:lpstr>
      <vt:lpstr>Sample Status…</vt:lpstr>
      <vt:lpstr>PowerPoint Presentation</vt:lpstr>
      <vt:lpstr>Agenda…</vt:lpstr>
      <vt:lpstr>Status Overview…</vt:lpstr>
      <vt:lpstr>Items Completed in Current Week…</vt:lpstr>
      <vt:lpstr>Items In Progress…</vt:lpstr>
      <vt:lpstr>Items In Progress…</vt:lpstr>
      <vt:lpstr>Items In Progress…</vt:lpstr>
      <vt:lpstr>Items In Progress…</vt:lpstr>
      <vt:lpstr>Items to Be Started…</vt:lpstr>
      <vt:lpstr>Items to Be Started…</vt:lpstr>
      <vt:lpstr>Sample of Items Completed This Week…</vt:lpstr>
      <vt:lpstr>Project Issues, Risks, Concerns…</vt:lpstr>
      <vt:lpstr>Next Steps…</vt:lpstr>
      <vt:lpstr>Personal Reflection…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700 Special Projects in Computer Science I Introduction</dc:title>
  <dc:creator>Nicholas Nardi</dc:creator>
  <cp:lastModifiedBy>Nicholas Nardi</cp:lastModifiedBy>
  <cp:revision>44</cp:revision>
  <dcterms:created xsi:type="dcterms:W3CDTF">2022-01-22T15:09:01Z</dcterms:created>
  <dcterms:modified xsi:type="dcterms:W3CDTF">2026-04-25T18:10:43Z</dcterms:modified>
</cp:coreProperties>
</file>