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6"/>
  </p:notesMasterIdLst>
  <p:sldIdLst>
    <p:sldId id="257" r:id="rId5"/>
    <p:sldId id="258" r:id="rId6"/>
    <p:sldId id="259" r:id="rId7"/>
    <p:sldId id="260" r:id="rId8"/>
    <p:sldId id="261" r:id="rId9"/>
    <p:sldId id="262" r:id="rId10"/>
    <p:sldId id="263" r:id="rId11"/>
    <p:sldId id="264" r:id="rId12"/>
    <p:sldId id="265" r:id="rId13"/>
    <p:sldId id="266" r:id="rId14"/>
    <p:sldId id="267" r:id="rId15"/>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p:cViewPr varScale="1">
        <p:scale>
          <a:sx n="76" d="100"/>
          <a:sy n="76" d="100"/>
        </p:scale>
        <p:origin x="1229" y="48"/>
      </p:cViewPr>
      <p:guideLst>
        <p:guide pos="2160" orient="horz"/>
        <p:guide pos="3816"/>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tableStyles" Target="tableStyles.xml"/><Relationship Id="rId19" Type="http://schemas.openxmlformats.org/officeDocument/2006/relationships/viewProps" Target="viewProps.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8582007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49934538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B3094FBD-BD12-4CE5-9292-60EAA74DE00F}" type="datetimeFigureOut">
              <a:rPr lang="en-US"/>
              <a:t>4/18/2026</a:t>
            </a:fld>
            <a:endParaRPr lang="en-US"/>
          </a:p>
        </p:txBody>
      </p:sp>
      <p:sp>
        <p:nvSpPr>
          <p:cNvPr id="91115352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4999474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7069589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8413009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5EE89866-A2D7-4664-9240-D34AE6ACD9E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0865170" name="Slide Image Placeholder 1"/>
          <p:cNvSpPr>
            <a:spLocks noChangeAspect="1" noGrp="1" noRot="1"/>
          </p:cNvSpPr>
          <p:nvPr>
            <p:ph type="sldImg"/>
          </p:nvPr>
        </p:nvSpPr>
        <p:spPr bwMode="auto"/>
      </p:sp>
      <p:sp>
        <p:nvSpPr>
          <p:cNvPr id="1309882014" name="Notes Placeholder 2"/>
          <p:cNvSpPr>
            <a:spLocks noGrp="1"/>
          </p:cNvSpPr>
          <p:nvPr>
            <p:ph type="body" idx="1"/>
          </p:nvPr>
        </p:nvSpPr>
        <p:spPr bwMode="auto"/>
        <p:txBody>
          <a:bodyPr/>
          <a:lstStyle/>
          <a:p>
            <a:pPr>
              <a:defRPr/>
            </a:pPr>
            <a:endParaRPr/>
          </a:p>
        </p:txBody>
      </p:sp>
      <p:sp>
        <p:nvSpPr>
          <p:cNvPr id="391380956" name="Slide Number Placeholder 3"/>
          <p:cNvSpPr>
            <a:spLocks noGrp="1"/>
          </p:cNvSpPr>
          <p:nvPr>
            <p:ph type="sldNum" sz="quarter" idx="10"/>
          </p:nvPr>
        </p:nvSpPr>
        <p:spPr bwMode="auto"/>
        <p:txBody>
          <a:bodyPr/>
          <a:lstStyle/>
          <a:p>
            <a:pPr>
              <a:defRPr/>
            </a:pPr>
            <a:fld id="{FCCEF370-7374-9D3E-3A83-5AF041BBCBC1}"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5217853" name="Slide Image Placeholder 1"/>
          <p:cNvSpPr>
            <a:spLocks noChangeAspect="1" noGrp="1" noRot="1"/>
          </p:cNvSpPr>
          <p:nvPr>
            <p:ph type="sldImg"/>
          </p:nvPr>
        </p:nvSpPr>
        <p:spPr bwMode="auto"/>
      </p:sp>
      <p:sp>
        <p:nvSpPr>
          <p:cNvPr id="137328049" name="Notes Placeholder 2"/>
          <p:cNvSpPr>
            <a:spLocks noGrp="1"/>
          </p:cNvSpPr>
          <p:nvPr>
            <p:ph type="body" idx="1"/>
          </p:nvPr>
        </p:nvSpPr>
        <p:spPr bwMode="auto"/>
        <p:txBody>
          <a:bodyPr/>
          <a:lstStyle/>
          <a:p>
            <a:pPr>
              <a:defRPr/>
            </a:pPr>
            <a:endParaRPr/>
          </a:p>
        </p:txBody>
      </p:sp>
      <p:sp>
        <p:nvSpPr>
          <p:cNvPr id="801011070" name="Slide Number Placeholder 3"/>
          <p:cNvSpPr>
            <a:spLocks noGrp="1"/>
          </p:cNvSpPr>
          <p:nvPr>
            <p:ph type="sldNum" sz="quarter" idx="10"/>
          </p:nvPr>
        </p:nvSpPr>
        <p:spPr bwMode="auto"/>
        <p:txBody>
          <a:bodyPr/>
          <a:lstStyle/>
          <a:p>
            <a:pPr>
              <a:defRPr/>
            </a:pPr>
            <a:fld id="{C2A690DC-5E80-7EC6-E812-34F0D6FD7AE4}"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6791483" name="Slide Image Placeholder 1"/>
          <p:cNvSpPr>
            <a:spLocks noChangeAspect="1" noGrp="1" noRot="1"/>
          </p:cNvSpPr>
          <p:nvPr>
            <p:ph type="sldImg"/>
          </p:nvPr>
        </p:nvSpPr>
        <p:spPr bwMode="auto"/>
      </p:sp>
      <p:sp>
        <p:nvSpPr>
          <p:cNvPr id="683655953" name="Notes Placeholder 2"/>
          <p:cNvSpPr>
            <a:spLocks noGrp="1"/>
          </p:cNvSpPr>
          <p:nvPr>
            <p:ph type="body" idx="1"/>
          </p:nvPr>
        </p:nvSpPr>
        <p:spPr bwMode="auto"/>
        <p:txBody>
          <a:bodyPr/>
          <a:lstStyle/>
          <a:p>
            <a:pPr>
              <a:defRPr/>
            </a:pPr>
            <a:endParaRPr/>
          </a:p>
        </p:txBody>
      </p:sp>
      <p:sp>
        <p:nvSpPr>
          <p:cNvPr id="32209090" name="Slide Number Placeholder 3"/>
          <p:cNvSpPr>
            <a:spLocks noGrp="1"/>
          </p:cNvSpPr>
          <p:nvPr>
            <p:ph type="sldNum" sz="quarter" idx="10"/>
          </p:nvPr>
        </p:nvSpPr>
        <p:spPr bwMode="auto"/>
        <p:txBody>
          <a:bodyPr/>
          <a:lstStyle/>
          <a:p>
            <a:pPr>
              <a:defRPr/>
            </a:pPr>
            <a:fld id="{0B01D9A5-3BDC-6D72-D2C1-1E10C39DFF6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5699883" name="Slide Image Placeholder 1"/>
          <p:cNvSpPr>
            <a:spLocks noChangeAspect="1" noGrp="1" noRot="1"/>
          </p:cNvSpPr>
          <p:nvPr>
            <p:ph type="sldImg"/>
          </p:nvPr>
        </p:nvSpPr>
        <p:spPr bwMode="auto"/>
      </p:sp>
      <p:sp>
        <p:nvSpPr>
          <p:cNvPr id="1777820467" name="Notes Placeholder 2"/>
          <p:cNvSpPr>
            <a:spLocks noGrp="1"/>
          </p:cNvSpPr>
          <p:nvPr>
            <p:ph type="body" idx="1"/>
          </p:nvPr>
        </p:nvSpPr>
        <p:spPr bwMode="auto"/>
        <p:txBody>
          <a:bodyPr/>
          <a:lstStyle/>
          <a:p>
            <a:pPr>
              <a:defRPr/>
            </a:pPr>
            <a:endParaRPr/>
          </a:p>
        </p:txBody>
      </p:sp>
      <p:sp>
        <p:nvSpPr>
          <p:cNvPr id="351098980" name="Slide Number Placeholder 3"/>
          <p:cNvSpPr>
            <a:spLocks noGrp="1"/>
          </p:cNvSpPr>
          <p:nvPr>
            <p:ph type="sldNum" sz="quarter" idx="10"/>
          </p:nvPr>
        </p:nvSpPr>
        <p:spPr bwMode="auto"/>
        <p:txBody>
          <a:bodyPr/>
          <a:lstStyle/>
          <a:p>
            <a:pPr>
              <a:defRPr/>
            </a:pPr>
            <a:fld id="{8861FBF0-521A-6C07-3D72-8C2CBE13AC7A}"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8341011" name="Slide Image Placeholder 1"/>
          <p:cNvSpPr>
            <a:spLocks noChangeAspect="1" noGrp="1" noRot="1"/>
          </p:cNvSpPr>
          <p:nvPr>
            <p:ph type="sldImg"/>
          </p:nvPr>
        </p:nvSpPr>
        <p:spPr bwMode="auto"/>
      </p:sp>
      <p:sp>
        <p:nvSpPr>
          <p:cNvPr id="1561843000" name="Notes Placeholder 2"/>
          <p:cNvSpPr>
            <a:spLocks noGrp="1"/>
          </p:cNvSpPr>
          <p:nvPr>
            <p:ph type="body" idx="1"/>
          </p:nvPr>
        </p:nvSpPr>
        <p:spPr bwMode="auto"/>
        <p:txBody>
          <a:bodyPr/>
          <a:lstStyle/>
          <a:p>
            <a:pPr>
              <a:defRPr/>
            </a:pPr>
            <a:endParaRPr/>
          </a:p>
        </p:txBody>
      </p:sp>
      <p:sp>
        <p:nvSpPr>
          <p:cNvPr id="1445743543" name="Slide Number Placeholder 3"/>
          <p:cNvSpPr>
            <a:spLocks noGrp="1"/>
          </p:cNvSpPr>
          <p:nvPr>
            <p:ph type="sldNum" sz="quarter" idx="10"/>
          </p:nvPr>
        </p:nvSpPr>
        <p:spPr bwMode="auto"/>
        <p:txBody>
          <a:bodyPr/>
          <a:lstStyle/>
          <a:p>
            <a:pPr>
              <a:defRPr/>
            </a:pPr>
            <a:fld id="{FBB7E649-7884-32AA-0105-AECFD2773113}"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1642942" name="Slide Image Placeholder 1"/>
          <p:cNvSpPr>
            <a:spLocks noChangeAspect="1" noGrp="1" noRot="1"/>
          </p:cNvSpPr>
          <p:nvPr>
            <p:ph type="sldImg"/>
          </p:nvPr>
        </p:nvSpPr>
        <p:spPr bwMode="auto"/>
      </p:sp>
      <p:sp>
        <p:nvSpPr>
          <p:cNvPr id="48327074" name="Notes Placeholder 2"/>
          <p:cNvSpPr>
            <a:spLocks noGrp="1"/>
          </p:cNvSpPr>
          <p:nvPr>
            <p:ph type="body" idx="1"/>
          </p:nvPr>
        </p:nvSpPr>
        <p:spPr bwMode="auto"/>
        <p:txBody>
          <a:bodyPr/>
          <a:lstStyle/>
          <a:p>
            <a:pPr>
              <a:defRPr/>
            </a:pPr>
            <a:endParaRPr/>
          </a:p>
        </p:txBody>
      </p:sp>
      <p:sp>
        <p:nvSpPr>
          <p:cNvPr id="2100671092" name="Slide Number Placeholder 3"/>
          <p:cNvSpPr>
            <a:spLocks noGrp="1"/>
          </p:cNvSpPr>
          <p:nvPr>
            <p:ph type="sldNum" sz="quarter" idx="10"/>
          </p:nvPr>
        </p:nvSpPr>
        <p:spPr bwMode="auto"/>
        <p:txBody>
          <a:bodyPr/>
          <a:lstStyle/>
          <a:p>
            <a:pPr>
              <a:defRPr/>
            </a:pPr>
            <a:fld id="{4962194E-026B-4AC9-2EDA-57118353C316}"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618980" name="Slide Image Placeholder 1"/>
          <p:cNvSpPr>
            <a:spLocks noChangeAspect="1" noGrp="1" noRot="1"/>
          </p:cNvSpPr>
          <p:nvPr>
            <p:ph type="sldImg"/>
          </p:nvPr>
        </p:nvSpPr>
        <p:spPr bwMode="auto"/>
      </p:sp>
      <p:sp>
        <p:nvSpPr>
          <p:cNvPr id="1285503202" name="Notes Placeholder 2"/>
          <p:cNvSpPr>
            <a:spLocks noGrp="1"/>
          </p:cNvSpPr>
          <p:nvPr>
            <p:ph type="body" idx="1"/>
          </p:nvPr>
        </p:nvSpPr>
        <p:spPr bwMode="auto"/>
        <p:txBody>
          <a:bodyPr/>
          <a:lstStyle/>
          <a:p>
            <a:pPr>
              <a:defRPr/>
            </a:pPr>
            <a:endParaRPr/>
          </a:p>
        </p:txBody>
      </p:sp>
      <p:sp>
        <p:nvSpPr>
          <p:cNvPr id="1761295407" name="Slide Number Placeholder 3"/>
          <p:cNvSpPr>
            <a:spLocks noGrp="1"/>
          </p:cNvSpPr>
          <p:nvPr>
            <p:ph type="sldNum" sz="quarter" idx="10"/>
          </p:nvPr>
        </p:nvSpPr>
        <p:spPr bwMode="auto"/>
        <p:txBody>
          <a:bodyPr/>
          <a:lstStyle/>
          <a:p>
            <a:pPr>
              <a:defRPr/>
            </a:pPr>
            <a:fld id="{26A7A8BA-457C-0956-E0E2-C2045DEC7B6C}"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3558185" name="Slide Image Placeholder 1"/>
          <p:cNvSpPr>
            <a:spLocks noChangeAspect="1" noGrp="1" noRot="1"/>
          </p:cNvSpPr>
          <p:nvPr>
            <p:ph type="sldImg"/>
          </p:nvPr>
        </p:nvSpPr>
        <p:spPr bwMode="auto"/>
      </p:sp>
      <p:sp>
        <p:nvSpPr>
          <p:cNvPr id="1135404707" name="Notes Placeholder 2"/>
          <p:cNvSpPr>
            <a:spLocks noGrp="1"/>
          </p:cNvSpPr>
          <p:nvPr>
            <p:ph type="body" idx="1"/>
          </p:nvPr>
        </p:nvSpPr>
        <p:spPr bwMode="auto"/>
        <p:txBody>
          <a:bodyPr/>
          <a:lstStyle/>
          <a:p>
            <a:pPr>
              <a:defRPr/>
            </a:pPr>
            <a:endParaRPr/>
          </a:p>
        </p:txBody>
      </p:sp>
      <p:sp>
        <p:nvSpPr>
          <p:cNvPr id="392754194" name="Slide Number Placeholder 3"/>
          <p:cNvSpPr>
            <a:spLocks noGrp="1"/>
          </p:cNvSpPr>
          <p:nvPr>
            <p:ph type="sldNum" sz="quarter" idx="10"/>
          </p:nvPr>
        </p:nvSpPr>
        <p:spPr bwMode="auto"/>
        <p:txBody>
          <a:bodyPr/>
          <a:lstStyle/>
          <a:p>
            <a:pPr>
              <a:defRPr/>
            </a:pPr>
            <a:fld id="{1C34FBC8-57C0-6BCB-ACEC-B9AE75BC71E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8451469" name="Slide Image Placeholder 1"/>
          <p:cNvSpPr>
            <a:spLocks noChangeAspect="1" noGrp="1" noRot="1"/>
          </p:cNvSpPr>
          <p:nvPr>
            <p:ph type="sldImg"/>
          </p:nvPr>
        </p:nvSpPr>
        <p:spPr bwMode="auto"/>
      </p:sp>
      <p:sp>
        <p:nvSpPr>
          <p:cNvPr id="803165153" name="Notes Placeholder 2"/>
          <p:cNvSpPr>
            <a:spLocks noGrp="1"/>
          </p:cNvSpPr>
          <p:nvPr>
            <p:ph type="body" idx="1"/>
          </p:nvPr>
        </p:nvSpPr>
        <p:spPr bwMode="auto"/>
        <p:txBody>
          <a:bodyPr/>
          <a:lstStyle/>
          <a:p>
            <a:pPr>
              <a:defRPr/>
            </a:pPr>
            <a:endParaRPr/>
          </a:p>
        </p:txBody>
      </p:sp>
      <p:sp>
        <p:nvSpPr>
          <p:cNvPr id="1887978393" name="Slide Number Placeholder 3"/>
          <p:cNvSpPr>
            <a:spLocks noGrp="1"/>
          </p:cNvSpPr>
          <p:nvPr>
            <p:ph type="sldNum" sz="quarter" idx="10"/>
          </p:nvPr>
        </p:nvSpPr>
        <p:spPr bwMode="auto"/>
        <p:txBody>
          <a:bodyPr/>
          <a:lstStyle/>
          <a:p>
            <a:pPr>
              <a:defRPr/>
            </a:pPr>
            <a:fld id="{A9E51A25-1CB2-C247-D532-AFE682DD99F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9848280" name="Slide Image Placeholder 1"/>
          <p:cNvSpPr>
            <a:spLocks noChangeAspect="1" noGrp="1" noRot="1"/>
          </p:cNvSpPr>
          <p:nvPr>
            <p:ph type="sldImg"/>
          </p:nvPr>
        </p:nvSpPr>
        <p:spPr bwMode="auto"/>
      </p:sp>
      <p:sp>
        <p:nvSpPr>
          <p:cNvPr id="97481428" name="Notes Placeholder 2"/>
          <p:cNvSpPr>
            <a:spLocks noGrp="1"/>
          </p:cNvSpPr>
          <p:nvPr>
            <p:ph type="body" idx="1"/>
          </p:nvPr>
        </p:nvSpPr>
        <p:spPr bwMode="auto"/>
        <p:txBody>
          <a:bodyPr/>
          <a:lstStyle/>
          <a:p>
            <a:pPr>
              <a:defRPr/>
            </a:pPr>
            <a:endParaRPr/>
          </a:p>
        </p:txBody>
      </p:sp>
      <p:sp>
        <p:nvSpPr>
          <p:cNvPr id="1630576892" name="Slide Number Placeholder 3"/>
          <p:cNvSpPr>
            <a:spLocks noGrp="1"/>
          </p:cNvSpPr>
          <p:nvPr>
            <p:ph type="sldNum" sz="quarter" idx="10"/>
          </p:nvPr>
        </p:nvSpPr>
        <p:spPr bwMode="auto"/>
        <p:txBody>
          <a:bodyPr/>
          <a:lstStyle/>
          <a:p>
            <a:pPr>
              <a:defRPr/>
            </a:pPr>
            <a:fld id="{C3DAC605-17FE-523A-6F89-A7DB468926C0}"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7960252" name="Slide Image Placeholder 1"/>
          <p:cNvSpPr>
            <a:spLocks noChangeAspect="1" noGrp="1" noRot="1"/>
          </p:cNvSpPr>
          <p:nvPr>
            <p:ph type="sldImg"/>
          </p:nvPr>
        </p:nvSpPr>
        <p:spPr bwMode="auto"/>
      </p:sp>
      <p:sp>
        <p:nvSpPr>
          <p:cNvPr id="226237482" name="Notes Placeholder 2"/>
          <p:cNvSpPr>
            <a:spLocks noGrp="1"/>
          </p:cNvSpPr>
          <p:nvPr>
            <p:ph type="body" idx="1"/>
          </p:nvPr>
        </p:nvSpPr>
        <p:spPr bwMode="auto"/>
        <p:txBody>
          <a:bodyPr/>
          <a:lstStyle/>
          <a:p>
            <a:pPr>
              <a:defRPr/>
            </a:pPr>
            <a:endParaRPr/>
          </a:p>
        </p:txBody>
      </p:sp>
      <p:sp>
        <p:nvSpPr>
          <p:cNvPr id="1425879521" name="Slide Number Placeholder 3"/>
          <p:cNvSpPr>
            <a:spLocks noGrp="1"/>
          </p:cNvSpPr>
          <p:nvPr>
            <p:ph type="sldNum" sz="quarter" idx="10"/>
          </p:nvPr>
        </p:nvSpPr>
        <p:spPr bwMode="auto"/>
        <p:txBody>
          <a:bodyPr/>
          <a:lstStyle/>
          <a:p>
            <a:pPr>
              <a:defRPr/>
            </a:pPr>
            <a:fld id="{71047613-D5A4-878E-D7B2-C030E955249A}"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770764481" name="Title 1"/>
          <p:cNvSpPr>
            <a:spLocks noGrp="1"/>
          </p:cNvSpPr>
          <p:nvPr>
            <p:ph type="ctrTitle" hasCustomPrompt="1"/>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139676195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337511961" name="Footer Placeholder 4"/>
          <p:cNvSpPr>
            <a:spLocks noGrp="1"/>
          </p:cNvSpPr>
          <p:nvPr>
            <p:ph type="ftr" sz="quarter" idx="11"/>
          </p:nvPr>
        </p:nvSpPr>
        <p:spPr bwMode="auto">
          <a:xfrm>
            <a:off x="7223235" y="6356350"/>
            <a:ext cx="4114800" cy="365125"/>
          </a:xfrm>
        </p:spPr>
        <p:txBody>
          <a:bodyPr/>
          <a:lstStyle/>
          <a:p>
            <a:pPr>
              <a:defRPr/>
            </a:pPr>
            <a:endParaRPr lang="en-US"/>
          </a:p>
        </p:txBody>
      </p:sp>
      <p:sp>
        <p:nvSpPr>
          <p:cNvPr id="308282626" name="Slide Number Placeholder 5"/>
          <p:cNvSpPr>
            <a:spLocks noGrp="1"/>
          </p:cNvSpPr>
          <p:nvPr>
            <p:ph type="sldNum" sz="quarter" idx="12"/>
          </p:nvPr>
        </p:nvSpPr>
        <p:spPr bwMode="auto">
          <a:xfrm>
            <a:off x="11571890" y="6356349"/>
            <a:ext cx="409904" cy="365125"/>
          </a:xfrm>
        </p:spPr>
        <p:txBody>
          <a:bodyPr/>
          <a:lstStyle/>
          <a:p>
            <a:pPr>
              <a:defRPr/>
            </a:pPr>
            <a:fld id="{121F9196-C982-4B01-9384-55A88EC11B89}" type="slidenum">
              <a:rPr lang="en-US"/>
              <a:t>‹#›</a:t>
            </a:fld>
            <a:endParaRPr lang="en-US"/>
          </a:p>
        </p:txBody>
      </p:sp>
      <p:pic>
        <p:nvPicPr>
          <p:cNvPr id="1006388549" name="Picture 6"/>
          <p:cNvPicPr>
            <a:picLocks noChangeAspect="1"/>
          </p:cNvPicPr>
          <p:nvPr userDrawn="1"/>
        </p:nvPicPr>
        <p:blipFill rotWithShape="1">
          <a:blip r:embed="rId2"/>
          <a:srcRect l="17328" t="18364" r="50000" b="68324"/>
          <a:stretch/>
        </p:blipFill>
        <p:spPr bwMode="auto">
          <a:xfrm>
            <a:off x="210206" y="5920169"/>
            <a:ext cx="3983421" cy="872359"/>
          </a:xfrm>
          <a:prstGeom prst="rect">
            <a:avLst/>
          </a:prstGeom>
        </p:spPr>
      </p:pic>
      <p:pic>
        <p:nvPicPr>
          <p:cNvPr id="721586834" name="Picture 3"/>
          <p:cNvPicPr>
            <a:picLocks noChangeAspect="1"/>
          </p:cNvPicPr>
          <p:nvPr userDrawn="1"/>
        </p:nvPicPr>
        <p:blipFill rotWithShape="1">
          <a:blip r:embed="rId3"/>
          <a:stretch/>
        </p:blipFill>
        <p:spPr bwMode="auto">
          <a:xfrm>
            <a:off x="1917787" y="6313007"/>
            <a:ext cx="2761727" cy="408467"/>
          </a:xfrm>
          <a:prstGeom prst="rect">
            <a:avLst/>
          </a:prstGeom>
          <a:solidFill>
            <a:schemeClr val="bg1"/>
          </a:solid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16811247" name="Title 1"/>
          <p:cNvSpPr>
            <a:spLocks noGrp="1"/>
          </p:cNvSpPr>
          <p:nvPr>
            <p:ph type="title" hasCustomPrompt="1"/>
          </p:nvPr>
        </p:nvSpPr>
        <p:spPr bwMode="auto">
          <a:xfrm>
            <a:off x="599090" y="196966"/>
            <a:ext cx="10993816" cy="927642"/>
          </a:xfrm>
        </p:spPr>
        <p:txBody>
          <a:bodyPr/>
          <a:lstStyle>
            <a:lvl1pPr>
              <a:defRPr b="1"/>
            </a:lvl1pPr>
          </a:lstStyle>
          <a:p>
            <a:pPr>
              <a:defRPr/>
            </a:pPr>
            <a:r>
              <a:rPr lang="en-US"/>
              <a:t>Click to Edit Master Title Style</a:t>
            </a:r>
            <a:endParaRPr/>
          </a:p>
        </p:txBody>
      </p:sp>
      <p:sp>
        <p:nvSpPr>
          <p:cNvPr id="224744129" name="Content Placeholder 2"/>
          <p:cNvSpPr>
            <a:spLocks noGrp="1"/>
          </p:cNvSpPr>
          <p:nvPr>
            <p:ph idx="1"/>
          </p:nvPr>
        </p:nvSpPr>
        <p:spPr bwMode="auto">
          <a:xfrm>
            <a:off x="599090" y="1471448"/>
            <a:ext cx="10993816" cy="3924575"/>
          </a:xfrm>
        </p:spPr>
        <p:txBody>
          <a:bodyPr/>
          <a:lstStyle>
            <a:lvl2pPr marL="685800" indent="-228600">
              <a:buFont typeface="Courier New"/>
              <a:buChar char="o"/>
              <a:defRPr/>
            </a:lvl2pPr>
            <a:lvl3pPr marL="1143000" indent="-228600">
              <a:buFont typeface="Wingdings"/>
              <a:buChar char="ü"/>
              <a:defRPr/>
            </a:lvl3pPr>
            <a:lvl4pPr marL="1600200" indent="-228600">
              <a:buFont typeface="Wingdings"/>
              <a:buChar char="Ø"/>
              <a:defRPr/>
            </a:lvl4pPr>
            <a:lvl5pPr marL="2057400" indent="-228600">
              <a:buFont typeface="Wingdings"/>
              <a:buChar char="q"/>
              <a:defRPr/>
            </a:lvl5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60855680" name="Footer Placeholder 4"/>
          <p:cNvSpPr>
            <a:spLocks noGrp="1"/>
          </p:cNvSpPr>
          <p:nvPr>
            <p:ph type="ftr" sz="quarter" idx="11"/>
          </p:nvPr>
        </p:nvSpPr>
        <p:spPr bwMode="auto">
          <a:xfrm>
            <a:off x="7212714" y="6356350"/>
            <a:ext cx="4114800" cy="365125"/>
          </a:xfrm>
        </p:spPr>
        <p:txBody>
          <a:bodyPr/>
          <a:lstStyle/>
          <a:p>
            <a:pPr>
              <a:defRPr/>
            </a:pPr>
            <a:endParaRPr lang="en-US"/>
          </a:p>
        </p:txBody>
      </p:sp>
      <p:sp>
        <p:nvSpPr>
          <p:cNvPr id="1282077651" name="Slide Number Placeholder 5"/>
          <p:cNvSpPr>
            <a:spLocks noGrp="1"/>
          </p:cNvSpPr>
          <p:nvPr>
            <p:ph type="sldNum" sz="quarter" idx="12"/>
          </p:nvPr>
        </p:nvSpPr>
        <p:spPr bwMode="auto">
          <a:xfrm>
            <a:off x="11592906" y="6356350"/>
            <a:ext cx="444056" cy="365125"/>
          </a:xfrm>
        </p:spPr>
        <p:txBody>
          <a:bodyPr/>
          <a:lstStyle/>
          <a:p>
            <a:pPr>
              <a:defRPr/>
            </a:pPr>
            <a:fld id="{121F9196-C982-4B01-9384-55A88EC11B89}" type="slidenum">
              <a:rPr lang="en-US"/>
              <a:t>‹#›</a:t>
            </a:fld>
            <a:endParaRPr lang="en-US"/>
          </a:p>
        </p:txBody>
      </p:sp>
      <p:pic>
        <p:nvPicPr>
          <p:cNvPr id="287576840" name="Picture 6"/>
          <p:cNvPicPr>
            <a:picLocks noChangeAspect="1"/>
          </p:cNvPicPr>
          <p:nvPr userDrawn="1"/>
        </p:nvPicPr>
        <p:blipFill rotWithShape="1">
          <a:blip r:embed="rId2"/>
          <a:srcRect l="17328" t="18364" r="50000" b="68324"/>
          <a:stretch/>
        </p:blipFill>
        <p:spPr bwMode="auto">
          <a:xfrm>
            <a:off x="185268" y="5787165"/>
            <a:ext cx="3983421" cy="872359"/>
          </a:xfrm>
          <a:prstGeom prst="rect">
            <a:avLst/>
          </a:prstGeom>
        </p:spPr>
      </p:pic>
      <p:pic>
        <p:nvPicPr>
          <p:cNvPr id="1750532317" name="Picture 3"/>
          <p:cNvPicPr>
            <a:picLocks noChangeAspect="1"/>
          </p:cNvPicPr>
          <p:nvPr userDrawn="1"/>
        </p:nvPicPr>
        <p:blipFill rotWithShape="1">
          <a:blip r:embed="rId3"/>
          <a:stretch/>
        </p:blipFill>
        <p:spPr bwMode="auto">
          <a:xfrm>
            <a:off x="1917787" y="6263131"/>
            <a:ext cx="2761727" cy="408467"/>
          </a:xfrm>
          <a:prstGeom prst="rect">
            <a:avLst/>
          </a:prstGeom>
          <a:solidFill>
            <a:schemeClr val="bg1"/>
          </a:solid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5826946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79859914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Edit Master text styles</a:t>
            </a:r>
            <a:endParaRPr/>
          </a:p>
        </p:txBody>
      </p:sp>
      <p:sp>
        <p:nvSpPr>
          <p:cNvPr id="908893693" name="Date Placeholder 3"/>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853349189" name="Footer Placeholder 4"/>
          <p:cNvSpPr>
            <a:spLocks noGrp="1"/>
          </p:cNvSpPr>
          <p:nvPr>
            <p:ph type="ftr" sz="quarter" idx="11"/>
          </p:nvPr>
        </p:nvSpPr>
        <p:spPr bwMode="auto"/>
        <p:txBody>
          <a:bodyPr/>
          <a:lstStyle/>
          <a:p>
            <a:pPr>
              <a:defRPr/>
            </a:pPr>
            <a:endParaRPr lang="en-US"/>
          </a:p>
        </p:txBody>
      </p:sp>
      <p:sp>
        <p:nvSpPr>
          <p:cNvPr id="972409985" name="Slide Number Placeholder 5"/>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49002093" name="Title 1"/>
          <p:cNvSpPr>
            <a:spLocks noGrp="1"/>
          </p:cNvSpPr>
          <p:nvPr>
            <p:ph type="title"/>
          </p:nvPr>
        </p:nvSpPr>
        <p:spPr bwMode="auto"/>
        <p:txBody>
          <a:bodyPr/>
          <a:lstStyle/>
          <a:p>
            <a:pPr>
              <a:defRPr/>
            </a:pPr>
            <a:r>
              <a:rPr lang="en-US"/>
              <a:t>Click to edit Master title style</a:t>
            </a:r>
            <a:endParaRPr/>
          </a:p>
        </p:txBody>
      </p:sp>
      <p:sp>
        <p:nvSpPr>
          <p:cNvPr id="320313721" name="Content Placeholder 2"/>
          <p:cNvSpPr>
            <a:spLocks noGrp="1"/>
          </p:cNvSpPr>
          <p:nvPr>
            <p:ph sz="half" idx="1"/>
          </p:nvPr>
        </p:nvSpPr>
        <p:spPr bwMode="auto">
          <a:xfrm>
            <a:off x="838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01169057" name="Content Placeholder 3"/>
          <p:cNvSpPr>
            <a:spLocks noGrp="1"/>
          </p:cNvSpPr>
          <p:nvPr>
            <p:ph sz="half" idx="2"/>
          </p:nvPr>
        </p:nvSpPr>
        <p:spPr bwMode="auto">
          <a:xfrm>
            <a:off x="6172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69141184" name="Date Placeholder 4"/>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176555271" name="Footer Placeholder 5"/>
          <p:cNvSpPr>
            <a:spLocks noGrp="1"/>
          </p:cNvSpPr>
          <p:nvPr>
            <p:ph type="ftr" sz="quarter" idx="11"/>
          </p:nvPr>
        </p:nvSpPr>
        <p:spPr bwMode="auto"/>
        <p:txBody>
          <a:bodyPr/>
          <a:lstStyle/>
          <a:p>
            <a:pPr>
              <a:defRPr/>
            </a:pPr>
            <a:endParaRPr lang="en-US"/>
          </a:p>
        </p:txBody>
      </p:sp>
      <p:sp>
        <p:nvSpPr>
          <p:cNvPr id="747091902" name="Slide Number Placeholder 6"/>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634515553"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1323136799"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704865975" name="Content Placeholder 3"/>
          <p:cNvSpPr>
            <a:spLocks noGrp="1"/>
          </p:cNvSpPr>
          <p:nvPr>
            <p:ph sz="half" idx="2"/>
          </p:nvPr>
        </p:nvSpPr>
        <p:spPr bwMode="auto">
          <a:xfrm>
            <a:off x="839788" y="2505074"/>
            <a:ext cx="5157787"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46550302"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1230499378" name="Content Placeholder 5"/>
          <p:cNvSpPr>
            <a:spLocks noGrp="1"/>
          </p:cNvSpPr>
          <p:nvPr>
            <p:ph sz="quarter" idx="4"/>
          </p:nvPr>
        </p:nvSpPr>
        <p:spPr bwMode="auto">
          <a:xfrm>
            <a:off x="6172200" y="2505074"/>
            <a:ext cx="5183188"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71206415" name="Date Placeholder 6"/>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878957145" name="Footer Placeholder 7"/>
          <p:cNvSpPr>
            <a:spLocks noGrp="1"/>
          </p:cNvSpPr>
          <p:nvPr>
            <p:ph type="ftr" sz="quarter" idx="11"/>
          </p:nvPr>
        </p:nvSpPr>
        <p:spPr bwMode="auto"/>
        <p:txBody>
          <a:bodyPr/>
          <a:lstStyle/>
          <a:p>
            <a:pPr>
              <a:defRPr/>
            </a:pPr>
            <a:endParaRPr lang="en-US"/>
          </a:p>
        </p:txBody>
      </p:sp>
      <p:sp>
        <p:nvSpPr>
          <p:cNvPr id="2106545897" name="Slide Number Placeholder 8"/>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94427420" name="Title 1"/>
          <p:cNvSpPr>
            <a:spLocks noGrp="1"/>
          </p:cNvSpPr>
          <p:nvPr>
            <p:ph type="title"/>
          </p:nvPr>
        </p:nvSpPr>
        <p:spPr bwMode="auto"/>
        <p:txBody>
          <a:bodyPr/>
          <a:lstStyle/>
          <a:p>
            <a:pPr>
              <a:defRPr/>
            </a:pPr>
            <a:r>
              <a:rPr lang="en-US"/>
              <a:t>Click to edit Master title style</a:t>
            </a:r>
            <a:endParaRPr/>
          </a:p>
        </p:txBody>
      </p:sp>
      <p:sp>
        <p:nvSpPr>
          <p:cNvPr id="1350436741" name="Date Placeholder 2"/>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331438740" name="Footer Placeholder 3"/>
          <p:cNvSpPr>
            <a:spLocks noGrp="1"/>
          </p:cNvSpPr>
          <p:nvPr>
            <p:ph type="ftr" sz="quarter" idx="11"/>
          </p:nvPr>
        </p:nvSpPr>
        <p:spPr bwMode="auto"/>
        <p:txBody>
          <a:bodyPr/>
          <a:lstStyle/>
          <a:p>
            <a:pPr>
              <a:defRPr/>
            </a:pPr>
            <a:endParaRPr lang="en-US"/>
          </a:p>
        </p:txBody>
      </p:sp>
      <p:sp>
        <p:nvSpPr>
          <p:cNvPr id="1771811515" name="Slide Number Placeholder 4"/>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801462674" name="Date Placeholder 1"/>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87141349" name="Footer Placeholder 2"/>
          <p:cNvSpPr>
            <a:spLocks noGrp="1"/>
          </p:cNvSpPr>
          <p:nvPr>
            <p:ph type="ftr" sz="quarter" idx="11"/>
          </p:nvPr>
        </p:nvSpPr>
        <p:spPr bwMode="auto"/>
        <p:txBody>
          <a:bodyPr/>
          <a:lstStyle/>
          <a:p>
            <a:pPr>
              <a:defRPr/>
            </a:pPr>
            <a:endParaRPr lang="en-US"/>
          </a:p>
        </p:txBody>
      </p:sp>
      <p:sp>
        <p:nvSpPr>
          <p:cNvPr id="1175315472" name="Slide Number Placeholder 3"/>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3325511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965451339"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2408209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454141278" name="Date Placeholder 4"/>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58059558" name="Footer Placeholder 5"/>
          <p:cNvSpPr>
            <a:spLocks noGrp="1"/>
          </p:cNvSpPr>
          <p:nvPr>
            <p:ph type="ftr" sz="quarter" idx="11"/>
          </p:nvPr>
        </p:nvSpPr>
        <p:spPr bwMode="auto"/>
        <p:txBody>
          <a:bodyPr/>
          <a:lstStyle/>
          <a:p>
            <a:pPr>
              <a:defRPr/>
            </a:pPr>
            <a:endParaRPr lang="en-US"/>
          </a:p>
        </p:txBody>
      </p:sp>
      <p:sp>
        <p:nvSpPr>
          <p:cNvPr id="1885855250" name="Slide Number Placeholder 6"/>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36529716"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428103822"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83867344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2042170729" name="Date Placeholder 4"/>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739574303" name="Footer Placeholder 5"/>
          <p:cNvSpPr>
            <a:spLocks noGrp="1"/>
          </p:cNvSpPr>
          <p:nvPr>
            <p:ph type="ftr" sz="quarter" idx="11"/>
          </p:nvPr>
        </p:nvSpPr>
        <p:spPr bwMode="auto"/>
        <p:txBody>
          <a:bodyPr/>
          <a:lstStyle/>
          <a:p>
            <a:pPr>
              <a:defRPr/>
            </a:pPr>
            <a:endParaRPr lang="en-US"/>
          </a:p>
        </p:txBody>
      </p:sp>
      <p:sp>
        <p:nvSpPr>
          <p:cNvPr id="2096530471" name="Slide Number Placeholder 6"/>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30299782" name="Title 1"/>
          <p:cNvSpPr>
            <a:spLocks noGrp="1"/>
          </p:cNvSpPr>
          <p:nvPr>
            <p:ph type="title"/>
          </p:nvPr>
        </p:nvSpPr>
        <p:spPr bwMode="auto"/>
        <p:txBody>
          <a:bodyPr/>
          <a:lstStyle/>
          <a:p>
            <a:pPr>
              <a:defRPr/>
            </a:pPr>
            <a:r>
              <a:rPr lang="en-US"/>
              <a:t>Click to edit Master title style</a:t>
            </a:r>
            <a:endParaRPr/>
          </a:p>
        </p:txBody>
      </p:sp>
      <p:sp>
        <p:nvSpPr>
          <p:cNvPr id="1816870368"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20786230" name="Date Placeholder 3"/>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731231686" name="Footer Placeholder 4"/>
          <p:cNvSpPr>
            <a:spLocks noGrp="1"/>
          </p:cNvSpPr>
          <p:nvPr>
            <p:ph type="ftr" sz="quarter" idx="11"/>
          </p:nvPr>
        </p:nvSpPr>
        <p:spPr bwMode="auto"/>
        <p:txBody>
          <a:bodyPr/>
          <a:lstStyle/>
          <a:p>
            <a:pPr>
              <a:defRPr/>
            </a:pPr>
            <a:endParaRPr lang="en-US"/>
          </a:p>
        </p:txBody>
      </p:sp>
      <p:sp>
        <p:nvSpPr>
          <p:cNvPr id="361095802" name="Slide Number Placeholder 5"/>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30988624"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453555831" name="Vertical Text Placeholder 2"/>
          <p:cNvSpPr>
            <a:spLocks noGrp="1"/>
          </p:cNvSpPr>
          <p:nvPr>
            <p:ph type="body" orient="vert" idx="1"/>
          </p:nvPr>
        </p:nvSpPr>
        <p:spPr bwMode="auto">
          <a:xfrm>
            <a:off x="838200" y="365125"/>
            <a:ext cx="7734300" cy="5811838"/>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41380908" name="Date Placeholder 3"/>
          <p:cNvSpPr>
            <a:spLocks noGrp="1"/>
          </p:cNvSpPr>
          <p:nvPr>
            <p:ph type="dt" sz="half" idx="10"/>
          </p:nvPr>
        </p:nvSpPr>
        <p:spPr bwMode="auto"/>
        <p:txBody>
          <a:bodyPr/>
          <a:lstStyle/>
          <a:p>
            <a:pPr>
              <a:defRPr/>
            </a:pPr>
            <a:fld id="{23C8E2DE-CE3F-42A9-A718-5D3D4BD14CF9}" type="datetimeFigureOut">
              <a:rPr lang="en-US"/>
              <a:t>4/18/2026</a:t>
            </a:fld>
            <a:endParaRPr lang="en-US"/>
          </a:p>
        </p:txBody>
      </p:sp>
      <p:sp>
        <p:nvSpPr>
          <p:cNvPr id="11005079" name="Footer Placeholder 4"/>
          <p:cNvSpPr>
            <a:spLocks noGrp="1"/>
          </p:cNvSpPr>
          <p:nvPr>
            <p:ph type="ftr" sz="quarter" idx="11"/>
          </p:nvPr>
        </p:nvSpPr>
        <p:spPr bwMode="auto"/>
        <p:txBody>
          <a:bodyPr/>
          <a:lstStyle/>
          <a:p>
            <a:pPr>
              <a:defRPr/>
            </a:pPr>
            <a:endParaRPr lang="en-US"/>
          </a:p>
        </p:txBody>
      </p:sp>
      <p:sp>
        <p:nvSpPr>
          <p:cNvPr id="1455964616" name="Slide Number Placeholder 5"/>
          <p:cNvSpPr>
            <a:spLocks noGrp="1"/>
          </p:cNvSpPr>
          <p:nvPr>
            <p:ph type="sldNum" sz="quarter" idx="12"/>
          </p:nvPr>
        </p:nvSpPr>
        <p:spPr bwMode="auto"/>
        <p:txBody>
          <a:bodyPr/>
          <a:lstStyle/>
          <a:p>
            <a:pPr>
              <a:defRPr/>
            </a:pPr>
            <a:fld id="{121F9196-C982-4B01-9384-55A88EC11B89}"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07611046"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22791543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5207306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3C8E2DE-CE3F-42A9-A718-5D3D4BD14CF9}" type="datetimeFigureOut">
              <a:rPr lang="en-US"/>
              <a:t>4/18/2026</a:t>
            </a:fld>
            <a:endParaRPr lang="en-US"/>
          </a:p>
        </p:txBody>
      </p:sp>
      <p:sp>
        <p:nvSpPr>
          <p:cNvPr id="7020291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871965858"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121F9196-C982-4B01-9384-55A88EC11B89}"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png"/><Relationship Id="rId4" Type="http://schemas.openxmlformats.org/officeDocument/2006/relationships/image" Target="../media/image4.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4165547"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
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July 17,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July 17,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0069925" name="Title 1"/>
          <p:cNvSpPr>
            <a:spLocks noGrp="1"/>
          </p:cNvSpPr>
          <p:nvPr>
            <p:ph type="title"/>
          </p:nvPr>
        </p:nvSpPr>
        <p:spPr bwMode="auto"/>
        <p:txBody>
          <a:bodyPr/>
          <a:lstStyle/>
          <a:p>
            <a:pPr>
              <a:defRPr/>
            </a:pPr>
            <a:r>
              <a:rPr lang="en-US"/>
              <a:t>Agenda</a:t>
            </a:r>
            <a:endParaRPr/>
          </a:p>
        </p:txBody>
      </p:sp>
      <p:sp>
        <p:nvSpPr>
          <p:cNvPr id="226911379"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9838299" name="Title 1"/>
          <p:cNvSpPr>
            <a:spLocks noGrp="1"/>
          </p:cNvSpPr>
          <p:nvPr>
            <p:ph type="title"/>
          </p:nvPr>
        </p:nvSpPr>
        <p:spPr bwMode="auto"/>
        <p:txBody>
          <a:bodyPr/>
          <a:lstStyle/>
          <a:p>
            <a:pPr>
              <a:defRPr/>
            </a:pPr>
            <a:r>
              <a:rPr lang="en-US"/>
              <a:t>Status Overview</a:t>
            </a:r>
            <a:endParaRPr/>
          </a:p>
        </p:txBody>
      </p:sp>
      <p:sp>
        <p:nvSpPr>
          <p:cNvPr id="57992465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Project Status: </a:t>
            </a:r>
            <a:r>
              <a:rPr sz="1200" b="1">
                <a:solidFill>
                  <a:srgbClr val="00FF00"/>
                </a:solidFill>
                <a:latin typeface="Calibri"/>
              </a:rPr>
              <a:t>GREEN</a:t>
            </a:r>
            <a:endParaRPr/>
          </a:p>
          <a:p>
            <a:pPr algn="l"/>
            <a:r>
              <a:rPr sz="1100" b="1">
                <a:latin typeface="Calibri"/>
              </a:rPr>
              <a:t>Task 6.3: Final Presentation</a:t>
            </a:r>
          </a:p>
          <a:p>
            <a:pPr algn="l" lvl="1"/>
            <a:r>
              <a:rPr sz="1000" b="0">
                <a:latin typeface="Calibri"/>
              </a:rPr>
              <a:t>Status: </a:t>
            </a:r>
            <a:r>
              <a:rPr sz="1000" b="0">
                <a:solidFill>
                  <a:srgbClr val="00FF00"/>
                </a:solidFill>
                <a:latin typeface="Calibri"/>
              </a:rPr>
              <a:t>GREEN</a:t>
            </a:r>
            <a:r>
              <a:rPr sz="1000" b="0">
                <a:latin typeface="Calibri"/>
              </a:rPr>
              <a:t> — 50% complete</a:t>
            </a:r>
          </a:p>
          <a:p>
            <a:pPr algn="l" lvl="1"/>
            <a:r>
              <a:rPr sz="900" b="0">
                <a:latin typeface="Calibri"/>
              </a:rPr>
              <a:t>Original Start: 12 Jul 2026 | Revised: N/A | Actual Start: 11 Jul 2026</a:t>
            </a:r>
          </a:p>
          <a:p>
            <a:pPr algn="l" lvl="1"/>
            <a:r>
              <a:rPr sz="900" b="0">
                <a:latin typeface="Calibri"/>
              </a:rPr>
              <a:t>Original End:   25 Jul 2026 | Revised: N/A | Actual End: N/A</a:t>
            </a:r>
          </a:p>
          <a:p>
            <a:pPr algn="l"/>
            <a:r>
              <a:rPr sz="1100" b="1">
                <a:latin typeface="Calibri"/>
              </a:rPr>
              <a:t>Task 6.3: Final Report</a:t>
            </a:r>
          </a:p>
          <a:p>
            <a:pPr algn="l" lvl="1"/>
            <a:r>
              <a:rPr sz="1000" b="0">
                <a:latin typeface="Calibri"/>
              </a:rPr>
              <a:t>Status: </a:t>
            </a:r>
            <a:r>
              <a:rPr sz="1000" b="0">
                <a:solidFill>
                  <a:srgbClr val="00FF00"/>
                </a:solidFill>
                <a:latin typeface="Calibri"/>
              </a:rPr>
              <a:t>GREEN</a:t>
            </a:r>
            <a:r>
              <a:rPr sz="1000" b="0">
                <a:latin typeface="Calibri"/>
              </a:rPr>
              <a:t> — 0% complete</a:t>
            </a:r>
          </a:p>
          <a:p>
            <a:pPr algn="l" lvl="1"/>
            <a:r>
              <a:rPr sz="900" b="0">
                <a:latin typeface="Calibri"/>
              </a:rPr>
              <a:t>Original Start: 25 Jul 2026 | Revised: N/A | Actual Start: N/A</a:t>
            </a:r>
          </a:p>
          <a:p>
            <a:pPr algn="l" lvl="1"/>
            <a:r>
              <a:rPr sz="900" b="0">
                <a:latin typeface="Calibri"/>
              </a:rPr>
              <a:t>Original End:   1 Aug 2026 | Revised: N/A | Actual End: N/A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0678472" name="Title 1"/>
          <p:cNvSpPr>
            <a:spLocks noGrp="1"/>
          </p:cNvSpPr>
          <p:nvPr>
            <p:ph type="title"/>
          </p:nvPr>
        </p:nvSpPr>
        <p:spPr bwMode="auto"/>
        <p:txBody>
          <a:bodyPr/>
          <a:lstStyle/>
          <a:p>
            <a:pPr>
              <a:defRPr/>
            </a:pPr>
            <a:r>
              <a:rPr lang="en-US"/>
              <a:t>Items Completed This Week</a:t>
            </a:r>
            <a:endParaRPr/>
          </a:p>
        </p:txBody>
      </p:sp>
      <p:sp>
        <p:nvSpPr>
          <p:cNvPr id="830934307"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0">
                <a:latin typeface="Calibri"/>
              </a:rPr>
              <a:t>Per plan, no items completed this week.</a:t>
            </a:r>
            <a:endParaRPr/>
          </a:p>
          <a:p>
            <a:pPr algn="l" lvl="1"/>
            <a:r>
              <a:rPr sz="1000" b="0">
                <a:latin typeface="Calibri"/>
              </a:rPr>
              <a:t>However Task 6.3: Final Presentation is scheduled to be</a:t>
            </a:r>
          </a:p>
          <a:p>
            <a:pPr algn="l" lvl="1"/>
            <a:r>
              <a:rPr sz="1000" b="0">
                <a:latin typeface="Calibri"/>
              </a:rPr>
              <a:t>completed next week.</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0487268" name="Title 1"/>
          <p:cNvSpPr>
            <a:spLocks noGrp="1"/>
          </p:cNvSpPr>
          <p:nvPr>
            <p:ph type="title"/>
          </p:nvPr>
        </p:nvSpPr>
        <p:spPr bwMode="auto"/>
        <p:txBody>
          <a:bodyPr/>
          <a:lstStyle/>
          <a:p>
            <a:pPr>
              <a:defRPr/>
            </a:pPr>
            <a:r>
              <a:rPr lang="en-US"/>
              <a:t>Items In Progress</a:t>
            </a:r>
            <a:endParaRPr/>
          </a:p>
        </p:txBody>
      </p:sp>
      <p:sp>
        <p:nvSpPr>
          <p:cNvPr id="1088353540"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1">
                <a:latin typeface="Calibri"/>
              </a:rPr>
              <a:t>Task 6.3: Final Presentation</a:t>
            </a:r>
            <a:endParaRPr/>
          </a:p>
          <a:p>
            <a:pPr algn="l" lvl="1"/>
            <a:r>
              <a:rPr sz="1000" b="0">
                <a:latin typeface="Calibri"/>
              </a:rPr>
              <a:t>Status: </a:t>
            </a:r>
            <a:r>
              <a:rPr sz="1000" b="0">
                <a:solidFill>
                  <a:srgbClr val="00FF00"/>
                </a:solidFill>
                <a:latin typeface="Calibri"/>
              </a:rPr>
              <a:t>GREEN</a:t>
            </a:r>
            <a:r>
              <a:rPr sz="1000" b="0">
                <a:latin typeface="Calibri"/>
              </a:rPr>
              <a:t> — 50% complete</a:t>
            </a:r>
          </a:p>
          <a:p>
            <a:pPr algn="l" lvl="1"/>
            <a:r>
              <a:rPr sz="900" b="0">
                <a:latin typeface="Calibri"/>
              </a:rPr>
              <a:t>Original Start: 12 Jul 2026 | Revised: N/A | Actual Start: 11 Jul 2026</a:t>
            </a:r>
          </a:p>
          <a:p>
            <a:pPr algn="l" lvl="1"/>
            <a:r>
              <a:rPr sz="900" b="0">
                <a:latin typeface="Calibri"/>
              </a:rPr>
              <a:t>Original End:   25 Jul 2026 | Revised: N/A | Actual End: N/A</a:t>
            </a:r>
          </a:p>
          <a:p>
            <a:pPr algn="l" lvl="1"/>
            <a:r>
              <a:rPr sz="1000" b="0">
                <a:latin typeface="Calibri"/>
              </a:rPr>
              <a:t>Slide deck structure finalised; key sections drafted</a:t>
            </a:r>
          </a:p>
          <a:p>
            <a:pPr algn="l" lvl="1"/>
            <a:r>
              <a:rPr sz="1000" b="0">
                <a:latin typeface="Calibri"/>
              </a:rPr>
              <a:t>including project overview, methodology, modelling</a:t>
            </a:r>
          </a:p>
          <a:p>
            <a:pPr algn="l" lvl="1"/>
            <a:r>
              <a:rPr sz="1000" b="0">
                <a:latin typeface="Calibri"/>
              </a:rPr>
              <a:t>results, and conclusions.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3234059" name="Title 1"/>
          <p:cNvSpPr>
            <a:spLocks noGrp="1"/>
          </p:cNvSpPr>
          <p:nvPr>
            <p:ph type="title"/>
          </p:nvPr>
        </p:nvSpPr>
        <p:spPr bwMode="auto"/>
        <p:txBody>
          <a:bodyPr/>
          <a:lstStyle/>
          <a:p>
            <a:pPr>
              <a:defRPr/>
            </a:pPr>
            <a:r>
              <a:rPr lang="en-US"/>
              <a:t>Items To Be Started</a:t>
            </a:r>
            <a:endParaRPr/>
          </a:p>
        </p:txBody>
      </p:sp>
      <p:sp>
        <p:nvSpPr>
          <p:cNvPr id="1644834767"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100" b="1">
                <a:latin typeface="Calibri"/>
              </a:rPr>
              <a:t>Task 6.3: Final Report</a:t>
            </a:r>
            <a:endParaRPr/>
          </a:p>
          <a:p>
            <a:pPr algn="l" lvl="1"/>
            <a:r>
              <a:rPr sz="900" b="0">
                <a:latin typeface="Calibri"/>
              </a:rPr>
              <a:t>Original Start: 25 Jul 2026 | Revised: N/A | Actual Start: N/A</a:t>
            </a:r>
          </a:p>
          <a:p>
            <a:pPr algn="l" lvl="1"/>
            <a:r>
              <a:rPr sz="900" b="0">
                <a:latin typeface="Calibri"/>
              </a:rPr>
              <a:t>Original End:   1 Aug 2026 | Revised: N/A | Actual End: N/A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5416781" name="Title 1"/>
          <p:cNvSpPr>
            <a:spLocks noGrp="1"/>
          </p:cNvSpPr>
          <p:nvPr>
            <p:ph type="title"/>
          </p:nvPr>
        </p:nvSpPr>
        <p:spPr bwMode="auto"/>
        <p:txBody>
          <a:bodyPr/>
          <a:lstStyle/>
          <a:p>
            <a:pPr>
              <a:defRPr/>
            </a:pPr>
            <a:r>
              <a:rPr lang="en-US"/>
              <a:t>Sample of Items Completed This Week</a:t>
            </a:r>
            <a:endParaRPr/>
          </a:p>
        </p:txBody>
      </p:sp>
      <p:sp>
        <p:nvSpPr>
          <p:cNvPr id="1411112550"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1100" b="1">
                <a:latin typeface="Calibri"/>
              </a:rPr>
              <a:t>Final Presentation — Slide Deck Outline and Narrative Structure</a:t>
            </a:r>
            <a:endParaRPr/>
          </a:p>
          <a:p>
            <a:pPr algn="l"/>
            <a:r>
              <a:rPr sz="600" b="0">
                <a:latin typeface="Calibri"/>
              </a:rPr>
              <a:t/>
            </a:r>
          </a:p>
          <a:p>
            <a:pPr algn="l"/>
            <a:r>
              <a:rPr sz="1000" b="1">
                <a:latin typeface="Calibri"/>
              </a:rPr>
              <a:t>Slide Deck Outline (In Progress):</a:t>
            </a:r>
          </a:p>
          <a:p>
            <a:pPr algn="l"/>
            <a:r>
              <a:rPr sz="1000" b="0">
                <a:latin typeface="Calibri"/>
              </a:rPr>
              <a:t>  - Title Slide: project name, student, course, date</a:t>
            </a:r>
          </a:p>
          <a:p>
            <a:pPr algn="l"/>
            <a:r>
              <a:rPr sz="1000" b="0">
                <a:latin typeface="Calibri"/>
              </a:rPr>
              <a:t>  - Agenda: overview of presentation flow</a:t>
            </a:r>
          </a:p>
          <a:p>
            <a:pPr algn="l"/>
            <a:r>
              <a:rPr sz="1000" b="0">
                <a:latin typeface="Calibri"/>
              </a:rPr>
              <a:t>  - Business Understanding: problem, objectives, criteria</a:t>
            </a:r>
          </a:p>
          <a:p>
            <a:pPr algn="l"/>
            <a:r>
              <a:rPr sz="1000" b="0">
                <a:latin typeface="Calibri"/>
              </a:rPr>
              <a:t>  - Methodology: CRISP-DM, Zillow/apartment listings data</a:t>
            </a:r>
          </a:p>
          <a:p>
            <a:pPr algn="l"/>
            <a:r>
              <a:rPr sz="1000" b="0">
                <a:latin typeface="Calibri"/>
              </a:rPr>
              <a:t>  - Data Preparation: cleaning, encoding, feature engineering</a:t>
            </a:r>
          </a:p>
          <a:p>
            <a:pPr algn="l"/>
            <a:r>
              <a:rPr sz="1000" b="0">
                <a:latin typeface="Calibri"/>
              </a:rPr>
              <a:t>  - Modelling: Random Forest, hyperparameter tuning, CV</a:t>
            </a:r>
          </a:p>
          <a:p>
            <a:pPr algn="l"/>
            <a:r>
              <a:rPr sz="1000" b="0">
                <a:latin typeface="Calibri"/>
              </a:rPr>
              <a:t>  - Results: R² 0.946, MAE $35.58, feature importance</a:t>
            </a:r>
          </a:p>
          <a:p>
            <a:pPr algn="l"/>
            <a:r>
              <a:rPr sz="1000" b="0">
                <a:latin typeface="Calibri"/>
              </a:rPr>
              <a:t>  - Key Findings: sq footage, location, pool, garage impact</a:t>
            </a:r>
          </a:p>
          <a:p>
            <a:pPr algn="l"/>
            <a:r>
              <a:rPr sz="1000" b="0">
                <a:latin typeface="Calibri"/>
              </a:rPr>
              <a:t>  - Conclusions: recommendations, limitations, future work</a:t>
            </a:r>
          </a:p>
          <a:p>
            <a:pPr algn="l"/>
            <a:r>
              <a:rPr sz="1000" b="0">
                <a:latin typeface="Calibri"/>
              </a:rPr>
              <a:t>  - Q&amp;A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4919468" name="Title 1"/>
          <p:cNvSpPr>
            <a:spLocks noGrp="1"/>
          </p:cNvSpPr>
          <p:nvPr>
            <p:ph type="title"/>
          </p:nvPr>
        </p:nvSpPr>
        <p:spPr bwMode="auto"/>
        <p:txBody>
          <a:bodyPr/>
          <a:lstStyle/>
          <a:p>
            <a:pPr>
              <a:defRPr/>
            </a:pPr>
            <a:r>
              <a:rPr lang="en-US"/>
              <a:t>Issues, Risks, Concerns</a:t>
            </a:r>
            <a:endParaRPr/>
          </a:p>
        </p:txBody>
      </p:sp>
      <p:sp>
        <p:nvSpPr>
          <p:cNvPr id="1314823118"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Issues</a:t>
            </a:r>
            <a:endParaRPr/>
          </a:p>
          <a:p>
            <a:pPr algn="l" lvl="1"/>
            <a:r>
              <a:rPr sz="1000" b="0">
                <a:latin typeface="Calibri"/>
              </a:rPr>
              <a:t>None at this time</a:t>
            </a:r>
          </a:p>
          <a:p>
            <a:pPr algn="l"/>
            <a:r>
              <a:rPr sz="800" b="0">
                <a:latin typeface="Calibri"/>
              </a:rPr>
              <a:t/>
            </a:r>
          </a:p>
          <a:p>
            <a:pPr algn="l"/>
            <a:r>
              <a:rPr sz="1200" b="1">
                <a:latin typeface="Calibri"/>
              </a:rPr>
              <a:t>Risks</a:t>
            </a:r>
          </a:p>
          <a:p>
            <a:pPr algn="l" lvl="1"/>
            <a:r>
              <a:rPr sz="1000" b="0">
                <a:latin typeface="Calibri"/>
              </a:rPr>
              <a:t>None at this time</a:t>
            </a:r>
          </a:p>
          <a:p>
            <a:pPr algn="l"/>
            <a:r>
              <a:rPr sz="800" b="0">
                <a:latin typeface="Calibri"/>
              </a:rPr>
              <a:t/>
            </a:r>
          </a:p>
          <a:p>
            <a:pPr algn="l"/>
            <a:r>
              <a:rPr sz="1200" b="1">
                <a:latin typeface="Calibri"/>
              </a:rPr>
              <a:t>Concerns</a:t>
            </a:r>
          </a:p>
          <a:p>
            <a:pPr algn="l" lvl="1"/>
            <a:r>
              <a:rPr sz="1000" b="0">
                <a:latin typeface="Calibri"/>
              </a:rPr>
              <a:t>None at this time</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7716202" name="Title 1"/>
          <p:cNvSpPr>
            <a:spLocks noGrp="1"/>
          </p:cNvSpPr>
          <p:nvPr>
            <p:ph type="title"/>
          </p:nvPr>
        </p:nvSpPr>
        <p:spPr bwMode="auto"/>
        <p:txBody>
          <a:bodyPr/>
          <a:lstStyle/>
          <a:p>
            <a:pPr>
              <a:defRPr/>
            </a:pPr>
            <a:r>
              <a:rPr lang="en-US"/>
              <a:t>Next Steps</a:t>
            </a:r>
            <a:endParaRPr/>
          </a:p>
        </p:txBody>
      </p:sp>
      <p:sp>
        <p:nvSpPr>
          <p:cNvPr id="2078523410"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1100" b="1">
                <a:latin typeface="Calibri"/>
              </a:rPr>
              <a:t>Task 6.3: Final Presentation (continue)</a:t>
            </a:r>
            <a:endParaRPr/>
          </a:p>
          <a:p>
            <a:pPr algn="l" lvl="1"/>
            <a:r>
              <a:rPr sz="900" b="0">
                <a:latin typeface="Calibri"/>
              </a:rPr>
              <a:t>Original Start: 12 Jul 2026 | Revised: N/A | Actual Start: 11 Jul 2026</a:t>
            </a:r>
          </a:p>
          <a:p>
            <a:pPr algn="l" lvl="1"/>
            <a:r>
              <a:rPr sz="900" b="0">
                <a:latin typeface="Calibri"/>
              </a:rPr>
              <a:t>Original End:   25 Jul 2026 | Revised: N/A | Actual End: N/A</a:t>
            </a:r>
          </a:p>
          <a:p>
            <a:pPr algn="l"/>
            <a:r>
              <a:rPr sz="1100" b="1">
                <a:latin typeface="Calibri"/>
              </a:rPr>
              <a:t>Task 6.3: Final Report</a:t>
            </a:r>
          </a:p>
          <a:p>
            <a:pPr algn="l" lvl="1"/>
            <a:r>
              <a:rPr sz="900" b="0">
                <a:latin typeface="Calibri"/>
              </a:rPr>
              <a:t>Original Start: 25 Jul 2026 | Revised: N/A | Actual Start: N/A</a:t>
            </a:r>
          </a:p>
          <a:p>
            <a:pPr algn="l" lvl="1"/>
            <a:r>
              <a:rPr sz="900" b="0">
                <a:latin typeface="Calibri"/>
              </a:rPr>
              <a:t>Original End:   1 Aug 2026 | Revised: N/A | Actual End: N/A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5836331" name="Title 1"/>
          <p:cNvSpPr>
            <a:spLocks noGrp="1"/>
          </p:cNvSpPr>
          <p:nvPr>
            <p:ph type="title"/>
          </p:nvPr>
        </p:nvSpPr>
        <p:spPr bwMode="auto"/>
        <p:txBody>
          <a:bodyPr/>
          <a:lstStyle/>
          <a:p>
            <a:pPr>
              <a:defRPr/>
            </a:pPr>
            <a:r>
              <a:rPr lang="en-US"/>
              <a:t>Personal Reflection</a:t>
            </a:r>
            <a:endParaRPr/>
          </a:p>
        </p:txBody>
      </p:sp>
      <p:sp>
        <p:nvSpPr>
          <p:cNvPr id="1831976632"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1100" b="0">
                <a:latin typeface="Calibri"/>
              </a:rPr>
              <a:t>With Phase 6 submitted and the finish line in sight, this week felt more structured than the last. Getting the presentation to 50% gave me a clear picture of what remains, and the slide outline is starting to tell the full story of the project from start to finish. The Random Forest results are strong enough that I feel confident presenting them. The biggest remaining task is translating all the technical detail into something concise and visually clear for the audience. I have resisted starting the Final Report early because I want to focus on one deliverable at a time and do it well. Next week will be about polishing the slides and rehearsing the flow.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9632564"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2378415"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July 10,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July 11,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2031163" name="Title 1"/>
          <p:cNvSpPr>
            <a:spLocks noGrp="1"/>
          </p:cNvSpPr>
          <p:nvPr>
            <p:ph type="title"/>
          </p:nvPr>
        </p:nvSpPr>
        <p:spPr bwMode="auto"/>
        <p:txBody>
          <a:bodyPr/>
          <a:lstStyle/>
          <a:p>
            <a:pPr>
              <a:defRPr/>
            </a:pPr>
            <a:r>
              <a:rPr lang="en-US"/>
              <a:t>Agenda</a:t>
            </a:r>
            <a:endParaRPr/>
          </a:p>
        </p:txBody>
      </p:sp>
      <p:sp>
        <p:nvSpPr>
          <p:cNvPr id="909542304"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8004360" name="Title 1"/>
          <p:cNvSpPr>
            <a:spLocks noGrp="1"/>
          </p:cNvSpPr>
          <p:nvPr>
            <p:ph type="title"/>
          </p:nvPr>
        </p:nvSpPr>
        <p:spPr bwMode="auto"/>
        <p:txBody>
          <a:bodyPr/>
          <a:lstStyle/>
          <a:p>
            <a:pPr>
              <a:defRPr/>
            </a:pPr>
            <a:r>
              <a:rPr lang="en-US"/>
              <a:t>Status Overview</a:t>
            </a:r>
            <a:endParaRPr/>
          </a:p>
        </p:txBody>
      </p:sp>
      <p:sp>
        <p:nvSpPr>
          <p:cNvPr id="1276456970"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40000" lnSpcReduction="12000"/>
          </a:bodyPr>
          <a:lstStyle/>
          <a:p>
            <a:pPr algn="l">
              <a:lnSpc>
                <a:spcPct val="100000"/>
              </a:lnSpc>
              <a:defRPr/>
            </a:pPr>
            <a:r>
              <a:rPr sz="3600" b="1">
                <a:latin typeface="Calibri"/>
              </a:rPr>
              <a:t>Project Status: </a:t>
            </a:r>
            <a:r>
              <a:rPr sz="3600" b="1">
                <a:solidFill>
                  <a:srgbClr val="00FF00"/>
                </a:solidFill>
                <a:latin typeface="Calibri"/>
              </a:rPr>
              <a:t>GREEN</a:t>
            </a:r>
            <a:endParaRPr sz="3600"/>
          </a:p>
          <a:p>
            <a:pPr algn="l">
              <a:defRPr/>
            </a:pPr>
            <a:r>
              <a:rPr sz="3600" b="1">
                <a:latin typeface="Calibri"/>
              </a:rPr>
              <a:t>Task 6.1: Plan Deployment</a:t>
            </a:r>
            <a:endParaRPr sz="3600"/>
          </a:p>
          <a:p>
            <a:pPr lvl="1" algn="l">
              <a:defRPr/>
            </a:pPr>
            <a:r>
              <a:rPr sz="3600" b="0">
                <a:latin typeface="Calibri"/>
              </a:rPr>
              <a:t>Status: </a:t>
            </a:r>
            <a:r>
              <a:rPr sz="3600" b="0">
                <a:solidFill>
                  <a:srgbClr val="00FF00"/>
                </a:solidFill>
                <a:latin typeface="Calibri"/>
              </a:rPr>
              <a:t>GREEN</a:t>
            </a:r>
            <a:r>
              <a:rPr sz="3600" b="0">
                <a:latin typeface="Calibri"/>
              </a:rPr>
              <a:t> — 100% complete</a:t>
            </a:r>
            <a:endParaRPr sz="3600"/>
          </a:p>
          <a:p>
            <a:pPr lvl="1" algn="l">
              <a:defRPr/>
            </a:pPr>
            <a:r>
              <a:rPr sz="3600" b="0">
                <a:latin typeface="Calibri"/>
              </a:rPr>
              <a:t>Original Start: 5 Jul 2026 | Revised: N/A | Actual Start: 4 Jul 2026</a:t>
            </a:r>
            <a:endParaRPr sz="3600"/>
          </a:p>
          <a:p>
            <a:pPr lvl="1" algn="l">
              <a:defRPr/>
            </a:pPr>
            <a:r>
              <a:rPr sz="3600" b="0">
                <a:latin typeface="Calibri"/>
              </a:rPr>
              <a:t>Original End:   11 Jul 2026 | Revised: N/A | Actual End: 10 Jul 2026</a:t>
            </a:r>
            <a:endParaRPr sz="3600"/>
          </a:p>
          <a:p>
            <a:pPr algn="l">
              <a:defRPr/>
            </a:pPr>
            <a:r>
              <a:rPr sz="3600" b="1">
                <a:latin typeface="Calibri"/>
              </a:rPr>
              <a:t>Task 6.2: Plan Monitoring and Maintenance</a:t>
            </a:r>
            <a:endParaRPr sz="3600"/>
          </a:p>
          <a:p>
            <a:pPr lvl="1" algn="l">
              <a:defRPr/>
            </a:pPr>
            <a:r>
              <a:rPr sz="3600" b="0">
                <a:latin typeface="Calibri"/>
              </a:rPr>
              <a:t>Status: </a:t>
            </a:r>
            <a:r>
              <a:rPr sz="3600" b="0">
                <a:solidFill>
                  <a:srgbClr val="00FF00"/>
                </a:solidFill>
                <a:latin typeface="Calibri"/>
              </a:rPr>
              <a:t>GREEN</a:t>
            </a:r>
            <a:r>
              <a:rPr sz="3600" b="0">
                <a:latin typeface="Calibri"/>
              </a:rPr>
              <a:t> — 100% complete</a:t>
            </a:r>
            <a:endParaRPr sz="3600"/>
          </a:p>
          <a:p>
            <a:pPr lvl="1" algn="l">
              <a:defRPr/>
            </a:pPr>
            <a:r>
              <a:rPr sz="3600" b="0">
                <a:latin typeface="Calibri"/>
              </a:rPr>
              <a:t>Original Start: 5 Jul 2026 | Revised: N/A | Actual Start: 4 Jul 2026</a:t>
            </a:r>
            <a:endParaRPr sz="3600"/>
          </a:p>
          <a:p>
            <a:pPr lvl="1" algn="l">
              <a:defRPr/>
            </a:pPr>
            <a:r>
              <a:rPr sz="3600" b="0">
                <a:latin typeface="Calibri"/>
              </a:rPr>
              <a:t>Original End:   11 Jul 2026 | Revised: N/A | Actual End: 10 Jul 2026</a:t>
            </a:r>
            <a:endParaRPr sz="3600"/>
          </a:p>
          <a:p>
            <a:pPr algn="l">
              <a:defRPr/>
            </a:pPr>
            <a:r>
              <a:rPr sz="3600" b="1">
                <a:latin typeface="Calibri"/>
              </a:rPr>
              <a:t>Task 6.3: Final Presentation</a:t>
            </a:r>
            <a:endParaRPr sz="3600"/>
          </a:p>
          <a:p>
            <a:pPr lvl="1" algn="l">
              <a:defRPr/>
            </a:pPr>
            <a:r>
              <a:rPr sz="3600" b="0">
                <a:latin typeface="Calibri"/>
              </a:rPr>
              <a:t>Status: </a:t>
            </a:r>
            <a:r>
              <a:rPr sz="3600" b="0">
                <a:solidFill>
                  <a:srgbClr val="00FF00"/>
                </a:solidFill>
                <a:latin typeface="Calibri"/>
              </a:rPr>
              <a:t>GREEN</a:t>
            </a:r>
            <a:r>
              <a:rPr sz="3600" b="0">
                <a:latin typeface="Calibri"/>
              </a:rPr>
              <a:t> — 3% complete</a:t>
            </a:r>
            <a:endParaRPr sz="3600"/>
          </a:p>
          <a:p>
            <a:pPr lvl="1" algn="l">
              <a:defRPr/>
            </a:pPr>
            <a:r>
              <a:rPr sz="3600" b="0">
                <a:latin typeface="Calibri"/>
              </a:rPr>
              <a:t>Original Start:   12 Jul 2026 | Revised: N/A | Actual Start: 11 Jul 2026</a:t>
            </a:r>
            <a:endParaRPr sz="3600"/>
          </a:p>
          <a:p>
            <a:pPr lvl="1" algn="l">
              <a:defRPr/>
            </a:pPr>
            <a:r>
              <a:rPr sz="3600" b="0">
                <a:latin typeface="Calibri"/>
              </a:rPr>
              <a:t>Original End:   25 Jul 2026 | Revised: N/A | Actual End: N/A</a:t>
            </a:r>
            <a:endParaRPr sz="3600"/>
          </a:p>
          <a:p>
            <a:pPr algn="l">
              <a:defRPr/>
            </a:pPr>
            <a:r>
              <a:rPr sz="3600" b="1">
                <a:latin typeface="Calibri"/>
              </a:rPr>
              <a:t>Task 6.3: Final Report</a:t>
            </a:r>
            <a:endParaRPr sz="3600"/>
          </a:p>
          <a:p>
            <a:pPr lvl="1" algn="l">
              <a:defRPr/>
            </a:pPr>
            <a:r>
              <a:rPr sz="3600" b="0">
                <a:latin typeface="Calibri"/>
              </a:rPr>
              <a:t>Status: </a:t>
            </a:r>
            <a:r>
              <a:rPr sz="3600" b="0">
                <a:solidFill>
                  <a:srgbClr val="00FF00"/>
                </a:solidFill>
                <a:latin typeface="Calibri"/>
              </a:rPr>
              <a:t>GREEN</a:t>
            </a:r>
            <a:r>
              <a:rPr sz="3600" b="0">
                <a:latin typeface="Calibri"/>
              </a:rPr>
              <a:t> — 0% complete</a:t>
            </a:r>
            <a:endParaRPr sz="3600"/>
          </a:p>
          <a:p>
            <a:pPr lvl="1" algn="l">
              <a:defRPr/>
            </a:pPr>
            <a:r>
              <a:rPr sz="3600" b="0">
                <a:latin typeface="Calibri"/>
              </a:rPr>
              <a:t>Original Start:   25 Jul 2026 | Revised: N/A | Actual Start: N/A</a:t>
            </a:r>
            <a:endParaRPr sz="3600"/>
          </a:p>
          <a:p>
            <a:pPr lvl="1" algn="l">
              <a:defRPr/>
            </a:pPr>
            <a:r>
              <a:rPr sz="3600" b="0">
                <a:latin typeface="Calibri"/>
              </a:rPr>
              <a:t>Original End:   1 Aug 2026 | Revised: N/A | Actual End: N/A</a:t>
            </a:r>
            <a:endParaRPr sz="3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6452505" name="Title 1"/>
          <p:cNvSpPr>
            <a:spLocks noGrp="1"/>
          </p:cNvSpPr>
          <p:nvPr>
            <p:ph type="title"/>
          </p:nvPr>
        </p:nvSpPr>
        <p:spPr bwMode="auto"/>
        <p:txBody>
          <a:bodyPr/>
          <a:lstStyle/>
          <a:p>
            <a:pPr>
              <a:defRPr/>
            </a:pPr>
            <a:r>
              <a:rPr lang="en-US"/>
              <a:t>Items Completed This Week</a:t>
            </a:r>
            <a:endParaRPr/>
          </a:p>
        </p:txBody>
      </p:sp>
      <p:sp>
        <p:nvSpPr>
          <p:cNvPr id="2109072599"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2800" b="1">
                <a:latin typeface="Calibri"/>
              </a:rPr>
              <a:t>Task 6.1: Plan Deployment</a:t>
            </a:r>
            <a:endParaRPr sz="2800"/>
          </a:p>
          <a:p>
            <a:pPr lvl="1" algn="l">
              <a:defRPr/>
            </a:pPr>
            <a:r>
              <a:rPr sz="2800" b="0">
                <a:latin typeface="Calibri"/>
              </a:rPr>
              <a:t>Status: </a:t>
            </a:r>
            <a:r>
              <a:rPr sz="2800" b="0">
                <a:solidFill>
                  <a:srgbClr val="00FF00"/>
                </a:solidFill>
                <a:latin typeface="Calibri"/>
              </a:rPr>
              <a:t>GREEN</a:t>
            </a:r>
            <a:r>
              <a:rPr sz="2800" b="0">
                <a:latin typeface="Calibri"/>
              </a:rPr>
              <a:t> — 100% complete</a:t>
            </a:r>
            <a:endParaRPr sz="2800"/>
          </a:p>
          <a:p>
            <a:pPr lvl="1" algn="l">
              <a:defRPr/>
            </a:pPr>
            <a:r>
              <a:rPr sz="2800" b="0">
                <a:latin typeface="Calibri"/>
              </a:rPr>
              <a:t>Original Start: 5 Jul 2026 | Revised: N/A | Actual Start: 4 Jul 2026</a:t>
            </a:r>
            <a:endParaRPr sz="2800"/>
          </a:p>
          <a:p>
            <a:pPr lvl="1" algn="l">
              <a:defRPr/>
            </a:pPr>
            <a:r>
              <a:rPr sz="2800" b="0">
                <a:latin typeface="Calibri"/>
              </a:rPr>
              <a:t>Original End:   11 Jul 2026 | Revised: N/A | Actual End: 10 Jul 2026</a:t>
            </a:r>
            <a:endParaRPr sz="2800"/>
          </a:p>
          <a:p>
            <a:pPr lvl="1" algn="l">
              <a:defRPr/>
            </a:pPr>
            <a:r>
              <a:rPr sz="2800" b="0">
                <a:latin typeface="Calibri"/>
              </a:rPr>
              <a:t>Deployment Plan completed: model packaging, REST API</a:t>
            </a:r>
            <a:endParaRPr sz="2800"/>
          </a:p>
          <a:p>
            <a:pPr lvl="1" algn="l">
              <a:defRPr/>
            </a:pPr>
            <a:r>
              <a:rPr sz="2800" b="0">
                <a:latin typeface="Calibri"/>
              </a:rPr>
              <a:t>architecture, documentation, training and support.</a:t>
            </a:r>
            <a:endParaRPr sz="2800"/>
          </a:p>
          <a:p>
            <a:pPr algn="l">
              <a:defRPr/>
            </a:pPr>
            <a:r>
              <a:rPr sz="2800" b="1">
                <a:latin typeface="Calibri"/>
              </a:rPr>
              <a:t>Task 6.2: Plan Monitoring and Maintenance</a:t>
            </a:r>
            <a:endParaRPr sz="2800"/>
          </a:p>
          <a:p>
            <a:pPr lvl="1" algn="l">
              <a:defRPr/>
            </a:pPr>
            <a:r>
              <a:rPr sz="2800" b="0">
                <a:latin typeface="Calibri"/>
              </a:rPr>
              <a:t>Status: </a:t>
            </a:r>
            <a:r>
              <a:rPr sz="2800" b="0">
                <a:solidFill>
                  <a:srgbClr val="00FF00"/>
                </a:solidFill>
                <a:latin typeface="Calibri"/>
              </a:rPr>
              <a:t>GREEN</a:t>
            </a:r>
            <a:r>
              <a:rPr sz="2800" b="0">
                <a:latin typeface="Calibri"/>
              </a:rPr>
              <a:t> — 100% complete</a:t>
            </a:r>
            <a:endParaRPr sz="2800"/>
          </a:p>
          <a:p>
            <a:pPr lvl="1" algn="l">
              <a:defRPr/>
            </a:pPr>
            <a:r>
              <a:rPr sz="2800" b="0">
                <a:latin typeface="Calibri"/>
              </a:rPr>
              <a:t>Original Start: 5 Jul 2026 | Revised: N/A | Actual Start: 4 Jul 2026</a:t>
            </a:r>
            <a:endParaRPr sz="2800"/>
          </a:p>
          <a:p>
            <a:pPr lvl="1" algn="l">
              <a:defRPr/>
            </a:pPr>
            <a:r>
              <a:rPr sz="2800" b="0">
                <a:latin typeface="Calibri"/>
              </a:rPr>
              <a:t>Original End:   11 Jul 2026 | Revised: N/A | Actual End: 10 Jul 2026</a:t>
            </a:r>
            <a:endParaRPr sz="2800"/>
          </a:p>
          <a:p>
            <a:pPr lvl="1" algn="l">
              <a:defRPr/>
            </a:pPr>
            <a:r>
              <a:rPr sz="2800" b="0">
                <a:latin typeface="Calibri"/>
              </a:rPr>
              <a:t>Monitoring and Maintenance Plan completed: performance</a:t>
            </a:r>
            <a:endParaRPr sz="2800"/>
          </a:p>
          <a:p>
            <a:pPr lvl="1" algn="l">
              <a:defRPr/>
            </a:pPr>
            <a:r>
              <a:rPr sz="2800" b="0">
                <a:latin typeface="Calibri"/>
              </a:rPr>
              <a:t>monitoring, data drift detection, retraining schedule,</a:t>
            </a:r>
            <a:endParaRPr sz="2800"/>
          </a:p>
          <a:p>
            <a:pPr lvl="1" algn="l">
              <a:defRPr/>
            </a:pPr>
            <a:r>
              <a:rPr sz="2800" b="0">
                <a:latin typeface="Calibri"/>
              </a:rPr>
              <a:t>version control, and maintenance responsibilities.</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8567236" name="Title 1"/>
          <p:cNvSpPr>
            <a:spLocks noGrp="1"/>
          </p:cNvSpPr>
          <p:nvPr>
            <p:ph type="title"/>
          </p:nvPr>
        </p:nvSpPr>
        <p:spPr bwMode="auto"/>
        <p:txBody>
          <a:bodyPr/>
          <a:lstStyle/>
          <a:p>
            <a:pPr>
              <a:defRPr/>
            </a:pPr>
            <a:r>
              <a:rPr lang="en-US"/>
              <a:t>Items In Progress</a:t>
            </a:r>
            <a:endParaRPr/>
          </a:p>
        </p:txBody>
      </p:sp>
      <p:sp>
        <p:nvSpPr>
          <p:cNvPr id="642954844"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600" b="1">
                <a:latin typeface="Calibri"/>
              </a:rPr>
              <a:t>Task 6.3: Final Presentation</a:t>
            </a:r>
            <a:endParaRPr sz="2600"/>
          </a:p>
          <a:p>
            <a:pPr lvl="1" algn="l">
              <a:defRPr/>
            </a:pPr>
            <a:r>
              <a:rPr sz="2600" b="0">
                <a:latin typeface="Calibri"/>
              </a:rPr>
              <a:t>Status: </a:t>
            </a:r>
            <a:r>
              <a:rPr sz="2600" b="0">
                <a:solidFill>
                  <a:srgbClr val="00FF00"/>
                </a:solidFill>
                <a:latin typeface="Calibri"/>
              </a:rPr>
              <a:t>GREEN</a:t>
            </a:r>
            <a:r>
              <a:rPr sz="2600" b="0">
                <a:latin typeface="Calibri"/>
              </a:rPr>
              <a:t> — 3% complete</a:t>
            </a:r>
            <a:endParaRPr sz="2600"/>
          </a:p>
          <a:p>
            <a:pPr lvl="1" algn="l">
              <a:defRPr/>
            </a:pPr>
            <a:r>
              <a:rPr sz="2600" b="0">
                <a:latin typeface="Calibri"/>
              </a:rPr>
              <a:t>Original Start:   12 Jul 2026 | Revised: N/A | Actual Start: 11 Jul 2026</a:t>
            </a:r>
            <a:endParaRPr sz="2600"/>
          </a:p>
          <a:p>
            <a:pPr lvl="1" algn="l">
              <a:defRPr/>
            </a:pPr>
            <a:r>
              <a:rPr sz="2600" b="0">
                <a:latin typeface="Calibri"/>
              </a:rPr>
              <a:t>Original End:   25 Jul 2026 | Revised: N/A | Actual End: N/A</a:t>
            </a:r>
            <a:endParaRPr sz="2600"/>
          </a:p>
          <a:p>
            <a:pPr lvl="1" algn="l">
              <a:defRPr/>
            </a:pPr>
            <a:r>
              <a:rPr sz="2600" b="0">
                <a:latin typeface="Calibri"/>
              </a:rPr>
              <a:t>Preliminary planning started; slide deck structure being</a:t>
            </a:r>
            <a:endParaRPr sz="2600"/>
          </a:p>
          <a:p>
            <a:pPr lvl="1" algn="l">
              <a:defRPr/>
            </a:pPr>
            <a:r>
              <a:rPr sz="2600" b="0">
                <a:latin typeface="Calibri"/>
              </a:rPr>
              <a:t>outlined.</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4257865" name="Title 1"/>
          <p:cNvSpPr>
            <a:spLocks noGrp="1"/>
          </p:cNvSpPr>
          <p:nvPr>
            <p:ph type="title"/>
          </p:nvPr>
        </p:nvSpPr>
        <p:spPr bwMode="auto"/>
        <p:txBody>
          <a:bodyPr/>
          <a:lstStyle/>
          <a:p>
            <a:pPr>
              <a:defRPr/>
            </a:pPr>
            <a:r>
              <a:rPr lang="en-US"/>
              <a:t>Items To Be Started</a:t>
            </a:r>
            <a:endParaRPr/>
          </a:p>
        </p:txBody>
      </p:sp>
      <p:sp>
        <p:nvSpPr>
          <p:cNvPr id="1038145139"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Task 6.3: Final Report</a:t>
            </a:r>
            <a:endParaRPr sz="2600"/>
          </a:p>
          <a:p>
            <a:pPr lvl="1" algn="l">
              <a:defRPr/>
            </a:pPr>
            <a:r>
              <a:rPr sz="2600" b="0">
                <a:latin typeface="Calibri"/>
              </a:rPr>
              <a:t>Original Start: 25 Jul 2026 | Revised: N/A | Actual Start: N/A</a:t>
            </a:r>
            <a:endParaRPr sz="2600"/>
          </a:p>
          <a:p>
            <a:pPr lvl="1" algn="l">
              <a:defRPr/>
            </a:pPr>
            <a:r>
              <a:rPr sz="2600" b="0">
                <a:latin typeface="Calibri"/>
              </a:rPr>
              <a:t>Original End:   1 Aug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8924703" name="Title 1"/>
          <p:cNvSpPr>
            <a:spLocks noGrp="1"/>
          </p:cNvSpPr>
          <p:nvPr>
            <p:ph type="title"/>
          </p:nvPr>
        </p:nvSpPr>
        <p:spPr bwMode="auto"/>
        <p:txBody>
          <a:bodyPr/>
          <a:lstStyle/>
          <a:p>
            <a:pPr>
              <a:defRPr/>
            </a:pPr>
            <a:r>
              <a:rPr lang="en-US"/>
              <a:t>Sample of Items Completed This Week</a:t>
            </a:r>
            <a:endParaRPr/>
          </a:p>
        </p:txBody>
      </p:sp>
      <p:sp>
        <p:nvSpPr>
          <p:cNvPr id="288486308"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algn="l">
              <a:lnSpc>
                <a:spcPct val="100000"/>
              </a:lnSpc>
              <a:defRPr/>
            </a:pPr>
            <a:r>
              <a:rPr sz="2600" b="1">
                <a:latin typeface="Calibri"/>
              </a:rPr>
              <a:t>Phase 6 Report — Deployment and Monitoring Plans</a:t>
            </a:r>
            <a:endParaRPr sz="2600"/>
          </a:p>
          <a:p>
            <a:pPr algn="l">
              <a:defRPr/>
            </a:pPr>
            <a:r>
              <a:rPr sz="2600" b="1">
                <a:latin typeface="Calibri"/>
              </a:rPr>
              <a:t>6.1 Plan Deployment:</a:t>
            </a:r>
            <a:endParaRPr sz="2600"/>
          </a:p>
          <a:p>
            <a:pPr lvl="1" algn="l">
              <a:defRPr/>
            </a:pPr>
            <a:r>
              <a:rPr sz="2600" b="0">
                <a:latin typeface="Calibri"/>
              </a:rPr>
              <a:t>Model Packaging: serialised RF pipeline via joblib</a:t>
            </a:r>
            <a:endParaRPr sz="2600"/>
          </a:p>
          <a:p>
            <a:pPr lvl="1" algn="l">
              <a:defRPr/>
            </a:pPr>
            <a:r>
              <a:rPr sz="2600" b="0">
                <a:latin typeface="Calibri"/>
              </a:rPr>
              <a:t>Architecture: Flask/FastAPI REST API, Docker, cloud</a:t>
            </a:r>
            <a:endParaRPr sz="2600"/>
          </a:p>
          <a:p>
            <a:pPr lvl="1" algn="l">
              <a:defRPr/>
            </a:pPr>
            <a:r>
              <a:rPr sz="2600" b="0">
                <a:latin typeface="Calibri"/>
              </a:rPr>
              <a:t>Documentation: technical guide, user guide, data dict.</a:t>
            </a:r>
            <a:endParaRPr sz="2600"/>
          </a:p>
          <a:p>
            <a:pPr lvl="1" algn="l">
              <a:defRPr/>
            </a:pPr>
            <a:r>
              <a:rPr sz="2600" b="0">
                <a:latin typeface="Calibri"/>
              </a:rPr>
              <a:t>Training: stakeholder orientation, single contact point</a:t>
            </a:r>
            <a:endParaRPr sz="2600"/>
          </a:p>
          <a:p>
            <a:pPr algn="l">
              <a:defRPr/>
            </a:pPr>
            <a:r>
              <a:rPr sz="2600" b="1">
                <a:latin typeface="Calibri"/>
              </a:rPr>
              <a:t>6.2 Plan Monitoring and Maintenance:</a:t>
            </a:r>
            <a:endParaRPr sz="2600"/>
          </a:p>
          <a:p>
            <a:pPr lvl="1" algn="l">
              <a:defRPr/>
            </a:pPr>
            <a:r>
              <a:rPr sz="2600" b="0">
                <a:latin typeface="Calibri"/>
              </a:rPr>
              <a:t>Performance: MAE ($35.58), R² (0.946), drift tracking</a:t>
            </a:r>
            <a:endParaRPr sz="2600"/>
          </a:p>
          <a:p>
            <a:pPr lvl="1" algn="l">
              <a:defRPr/>
            </a:pPr>
            <a:r>
              <a:rPr sz="2600" b="0">
                <a:latin typeface="Calibri"/>
              </a:rPr>
              <a:t>Data Drift: monthly K-S tests, chi-square on categories</a:t>
            </a:r>
            <a:endParaRPr sz="2600"/>
          </a:p>
          <a:p>
            <a:pPr lvl="1" algn="l">
              <a:defRPr/>
            </a:pPr>
            <a:r>
              <a:rPr sz="2600" b="0">
                <a:latin typeface="Calibri"/>
              </a:rPr>
              <a:t>Retraining: quarterly + triggers (MAE +20%, drift, events)</a:t>
            </a:r>
            <a:endParaRPr sz="2600"/>
          </a:p>
          <a:p>
            <a:pPr lvl="1" algn="l">
              <a:defRPr/>
            </a:pPr>
            <a:r>
              <a:rPr sz="2600" b="0">
                <a:latin typeface="Calibri"/>
              </a:rPr>
              <a:t>Versioning: rf_model_v2_2026-10-01.joblib naming, git</a:t>
            </a:r>
            <a:endParaRPr sz="2600"/>
          </a:p>
          <a:p>
            <a:pPr lvl="1" algn="l">
              <a:defRPr/>
            </a:pPr>
            <a:r>
              <a:rPr sz="2600" b="0">
                <a:latin typeface="Calibri"/>
              </a:rPr>
              <a:t>Maintenance: single data scientist, scalable team</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059795" name="Title 1"/>
          <p:cNvSpPr>
            <a:spLocks noGrp="1"/>
          </p:cNvSpPr>
          <p:nvPr>
            <p:ph type="title"/>
          </p:nvPr>
        </p:nvSpPr>
        <p:spPr bwMode="auto"/>
        <p:txBody>
          <a:bodyPr/>
          <a:lstStyle/>
          <a:p>
            <a:pPr>
              <a:defRPr/>
            </a:pPr>
            <a:r>
              <a:rPr lang="en-US"/>
              <a:t>Issues, Risks, Concerns</a:t>
            </a:r>
            <a:endParaRPr/>
          </a:p>
        </p:txBody>
      </p:sp>
      <p:sp>
        <p:nvSpPr>
          <p:cNvPr id="1935704020"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Issues</a:t>
            </a:r>
            <a:endParaRPr sz="2600"/>
          </a:p>
          <a:p>
            <a:pPr lvl="1" algn="l">
              <a:defRPr/>
            </a:pPr>
            <a:r>
              <a:rPr sz="2600" b="0">
                <a:latin typeface="Calibri"/>
              </a:rPr>
              <a:t>None at this time</a:t>
            </a:r>
            <a:endParaRPr sz="2600"/>
          </a:p>
          <a:p>
            <a:pPr algn="l">
              <a:defRPr/>
            </a:pPr>
            <a:r>
              <a:rPr sz="2600" b="1">
                <a:latin typeface="Calibri"/>
              </a:rPr>
              <a:t>Risks</a:t>
            </a:r>
            <a:endParaRPr sz="2600"/>
          </a:p>
          <a:p>
            <a:pPr lvl="1" algn="l">
              <a:defRPr/>
            </a:pPr>
            <a:r>
              <a:rPr sz="2600" b="0">
                <a:latin typeface="Calibri"/>
              </a:rPr>
              <a:t>None at this time</a:t>
            </a:r>
            <a:endParaRPr sz="2600"/>
          </a:p>
          <a:p>
            <a:pPr algn="l">
              <a:defRPr/>
            </a:pPr>
            <a:r>
              <a:rPr sz="2600" b="1">
                <a:latin typeface="Calibri"/>
              </a:rPr>
              <a:t>Concerns</a:t>
            </a:r>
            <a:endParaRPr sz="2600"/>
          </a:p>
          <a:p>
            <a:pPr lvl="1" algn="l">
              <a:defRPr/>
            </a:pPr>
            <a:r>
              <a:rPr sz="2600" b="0">
                <a:latin typeface="Calibri"/>
              </a:rPr>
              <a:t>None at this time</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609368" name="Title 1"/>
          <p:cNvSpPr>
            <a:spLocks noGrp="1"/>
          </p:cNvSpPr>
          <p:nvPr>
            <p:ph type="title"/>
          </p:nvPr>
        </p:nvSpPr>
        <p:spPr bwMode="auto"/>
        <p:txBody>
          <a:bodyPr/>
          <a:lstStyle/>
          <a:p>
            <a:pPr>
              <a:defRPr/>
            </a:pPr>
            <a:r>
              <a:rPr lang="en-US"/>
              <a:t>Next Steps</a:t>
            </a:r>
            <a:endParaRPr/>
          </a:p>
        </p:txBody>
      </p:sp>
      <p:sp>
        <p:nvSpPr>
          <p:cNvPr id="1989900784"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2600" b="1">
                <a:latin typeface="Calibri"/>
              </a:rPr>
              <a:t>Task 6.3: Final Presentation (continue)</a:t>
            </a:r>
            <a:endParaRPr sz="2600"/>
          </a:p>
          <a:p>
            <a:pPr lvl="1" algn="l">
              <a:defRPr/>
            </a:pPr>
            <a:r>
              <a:rPr sz="2600" b="0">
                <a:latin typeface="Calibri"/>
              </a:rPr>
              <a:t>Original Start: 12 Jul 2026 | Revised: N/A | Actual Start: 11 Jul 2026</a:t>
            </a:r>
            <a:endParaRPr sz="2600"/>
          </a:p>
          <a:p>
            <a:pPr lvl="1" algn="l">
              <a:defRPr/>
            </a:pPr>
            <a:r>
              <a:rPr sz="2600" b="0">
                <a:latin typeface="Calibri"/>
              </a:rPr>
              <a:t>Original End:   25 Jul 2026 | Revised: N/A | Actual End: N/A</a:t>
            </a:r>
            <a:endParaRPr sz="2600"/>
          </a:p>
          <a:p>
            <a:pPr algn="l">
              <a:defRPr/>
            </a:pPr>
            <a:r>
              <a:rPr sz="2600" b="1">
                <a:latin typeface="Calibri"/>
              </a:rPr>
              <a:t>Task 6.3: Final Report</a:t>
            </a:r>
            <a:endParaRPr sz="2600"/>
          </a:p>
          <a:p>
            <a:pPr lvl="1" algn="l">
              <a:defRPr/>
            </a:pPr>
            <a:r>
              <a:rPr sz="2600" b="0">
                <a:latin typeface="Calibri"/>
              </a:rPr>
              <a:t>Original Start: 25 Jul 2026 | Revised: N/A | Actual Start: N/A</a:t>
            </a:r>
            <a:endParaRPr sz="2600"/>
          </a:p>
          <a:p>
            <a:pPr lvl="1" algn="l">
              <a:defRPr/>
            </a:pPr>
            <a:r>
              <a:rPr sz="2600" b="0">
                <a:latin typeface="Calibri"/>
              </a:rPr>
              <a:t>Original End:   1 Aug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5713036" name="Title 1"/>
          <p:cNvSpPr>
            <a:spLocks noGrp="1"/>
          </p:cNvSpPr>
          <p:nvPr>
            <p:ph type="title"/>
          </p:nvPr>
        </p:nvSpPr>
        <p:spPr bwMode="auto"/>
        <p:txBody>
          <a:bodyPr/>
          <a:lstStyle/>
          <a:p>
            <a:pPr>
              <a:defRPr/>
            </a:pPr>
            <a:r>
              <a:rPr lang="en-US"/>
              <a:t>Personal Reflection</a:t>
            </a:r>
            <a:endParaRPr/>
          </a:p>
        </p:txBody>
      </p:sp>
      <p:sp>
        <p:nvSpPr>
          <p:cNvPr id="90008490"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0" indent="0" algn="l">
              <a:lnSpc>
                <a:spcPct val="100000"/>
              </a:lnSpc>
              <a:buNone/>
              <a:defRPr/>
            </a:pPr>
            <a:r>
              <a:rPr sz="2600" b="0">
                <a:latin typeface="Calibri"/>
              </a:rPr>
              <a:t>Phase 6 is now complete, and looking back, I have to be honest, I fell into a mental loop last week trying to figure out the schedule and lost track of how the task dates actually map to the assignment deadlines. I was overthinking it, and it showed in my previous week of the status report where I tried to move Original dates around instead of just letting them be. That wasted time I could have spent actually working. Professor Nardi's feedback helped me reset: the Phase 6 report is due July 11. Writing the Deployment Plan and Monitoring Plan was useful in its own way. Since there's no real production deployment, it required thinking through a hypothetical scenario, which felt less natural than working with actual model results. But it helped me understand what a real deployment would need; model serialisation, API architecture, data drift detection, retraining schedules. Phase 6 is submitted, and now I can focus on the final deliverables without the schedule confusion hanging over my head.</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9299133"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8570201"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July 3,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July 4,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0329013" name="Title 1"/>
          <p:cNvSpPr>
            <a:spLocks noGrp="1"/>
          </p:cNvSpPr>
          <p:nvPr>
            <p:ph type="title"/>
          </p:nvPr>
        </p:nvSpPr>
        <p:spPr bwMode="auto"/>
        <p:txBody>
          <a:bodyPr/>
          <a:lstStyle/>
          <a:p>
            <a:pPr>
              <a:defRPr/>
            </a:pPr>
            <a:r>
              <a:rPr lang="en-US"/>
              <a:t>Agenda</a:t>
            </a:r>
            <a:endParaRPr/>
          </a:p>
        </p:txBody>
      </p:sp>
      <p:sp>
        <p:nvSpPr>
          <p:cNvPr id="1969678701"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7296395" name="Title 1"/>
          <p:cNvSpPr>
            <a:spLocks noGrp="1"/>
          </p:cNvSpPr>
          <p:nvPr>
            <p:ph type="title"/>
          </p:nvPr>
        </p:nvSpPr>
        <p:spPr bwMode="auto"/>
        <p:txBody>
          <a:bodyPr/>
          <a:lstStyle/>
          <a:p>
            <a:pPr>
              <a:defRPr/>
            </a:pPr>
            <a:r>
              <a:rPr lang="en-US"/>
              <a:t>Status Overview</a:t>
            </a:r>
            <a:endParaRPr/>
          </a:p>
        </p:txBody>
      </p:sp>
      <p:sp>
        <p:nvSpPr>
          <p:cNvPr id="1837893996"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65000" lnSpcReduction="7000"/>
          </a:bodyPr>
          <a:lstStyle/>
          <a:p>
            <a:pPr algn="l">
              <a:lnSpc>
                <a:spcPct val="100000"/>
              </a:lnSpc>
              <a:defRPr/>
            </a:pPr>
            <a:r>
              <a:rPr sz="2200" b="1">
                <a:latin typeface="Calibri"/>
              </a:rPr>
              <a:t>Project Status: </a:t>
            </a:r>
            <a:r>
              <a:rPr sz="2200" b="1">
                <a:solidFill>
                  <a:srgbClr val="00FF00"/>
                </a:solidFill>
                <a:latin typeface="Calibri"/>
              </a:rPr>
              <a:t>GREEN</a:t>
            </a:r>
            <a:endParaRPr sz="2200"/>
          </a:p>
          <a:p>
            <a:pPr algn="l">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4 Jul 2026</a:t>
            </a:r>
            <a:endParaRPr sz="2200"/>
          </a:p>
          <a:p>
            <a:pPr algn="l">
              <a:defRPr/>
            </a:pPr>
            <a:r>
              <a:rPr sz="2200" b="1">
                <a:latin typeface="Calibri"/>
              </a:rPr>
              <a:t>Task 5.3: Determine Next Steps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20 Jun 2026</a:t>
            </a:r>
            <a:endParaRPr sz="2200"/>
          </a:p>
          <a:p>
            <a:pPr lvl="1" algn="l">
              <a:defRPr/>
            </a:pPr>
            <a:r>
              <a:rPr sz="2200" b="0">
                <a:latin typeface="Calibri"/>
              </a:rPr>
              <a:t>Original End:   4 Jul 2026 | Revised: N/A | Actual End: 4 Jul 2026</a:t>
            </a:r>
            <a:endParaRPr sz="2200"/>
          </a:p>
          <a:p>
            <a:pPr algn="l">
              <a:defRPr/>
            </a:pPr>
            <a:r>
              <a:rPr sz="2200" b="1">
                <a:latin typeface="Calibri"/>
              </a:rPr>
              <a:t>Task 6.1: Plan Deployment</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a:p>
            <a:pPr algn="l">
              <a:defRPr/>
            </a:pPr>
            <a:r>
              <a:rPr sz="2200" b="1">
                <a:latin typeface="Calibri"/>
              </a:rPr>
              <a:t>Task 6.2: Plan Monitoring and Maintenance</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0248515" name="Title 1"/>
          <p:cNvSpPr>
            <a:spLocks noGrp="1"/>
          </p:cNvSpPr>
          <p:nvPr>
            <p:ph type="title"/>
          </p:nvPr>
        </p:nvSpPr>
        <p:spPr bwMode="auto"/>
        <p:txBody>
          <a:bodyPr/>
          <a:lstStyle/>
          <a:p>
            <a:pPr>
              <a:defRPr/>
            </a:pPr>
            <a:r>
              <a:rPr lang="en-US"/>
              <a:t>Items Completed This Week</a:t>
            </a:r>
            <a:endParaRPr/>
          </a:p>
        </p:txBody>
      </p:sp>
      <p:sp>
        <p:nvSpPr>
          <p:cNvPr id="1695547329"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4 Jul 2026</a:t>
            </a:r>
            <a:endParaRPr sz="2200"/>
          </a:p>
          <a:p>
            <a:pPr lvl="1" algn="l">
              <a:defRPr/>
            </a:pPr>
            <a:r>
              <a:rPr sz="2200" b="0">
                <a:latin typeface="Calibri"/>
              </a:rPr>
              <a:t>Process Evaluation Report completed</a:t>
            </a:r>
            <a:endParaRPr sz="2200"/>
          </a:p>
          <a:p>
            <a:pPr lvl="1" algn="l">
              <a:defRPr/>
            </a:pPr>
            <a:r>
              <a:rPr sz="2200" b="0">
                <a:latin typeface="Calibri"/>
              </a:rPr>
              <a:t>Lessons learned: K-Means clustering impact, region-based IQR</a:t>
            </a:r>
            <a:endParaRPr sz="2200"/>
          </a:p>
          <a:p>
            <a:pPr algn="l">
              <a:defRPr/>
            </a:pPr>
            <a:r>
              <a:rPr sz="2200" b="1">
                <a:latin typeface="Calibri"/>
              </a:rPr>
              <a:t>Task 5.3: Determine Next Steps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20 Jun 2026</a:t>
            </a:r>
            <a:endParaRPr sz="2200"/>
          </a:p>
          <a:p>
            <a:pPr lvl="1" algn="l">
              <a:defRPr/>
            </a:pPr>
            <a:r>
              <a:rPr sz="2200" b="0">
                <a:latin typeface="Calibri"/>
              </a:rPr>
              <a:t>Original End:   4 Jul 2026 | Revised: N/A | Actual End: 4 Jul 2026</a:t>
            </a:r>
            <a:endParaRPr sz="2200"/>
          </a:p>
          <a:p>
            <a:pPr lvl="1" algn="l">
              <a:defRPr/>
            </a:pPr>
            <a:r>
              <a:rPr sz="2200" b="0">
                <a:latin typeface="Calibri"/>
              </a:rPr>
              <a:t>Deployment vs. revise decision documented</a:t>
            </a:r>
            <a:endParaRPr sz="2200"/>
          </a:p>
          <a:p>
            <a:pPr lvl="1" algn="l">
              <a:defRPr/>
            </a:pPr>
            <a:r>
              <a:rPr sz="2200" b="0">
                <a:latin typeface="Calibri"/>
              </a:rPr>
              <a:t>Phase 5 report completed and submitted</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8190274" name="Title 1"/>
          <p:cNvSpPr>
            <a:spLocks noGrp="1"/>
          </p:cNvSpPr>
          <p:nvPr>
            <p:ph type="title"/>
          </p:nvPr>
        </p:nvSpPr>
        <p:spPr bwMode="auto"/>
        <p:txBody>
          <a:bodyPr/>
          <a:lstStyle/>
          <a:p>
            <a:pPr>
              <a:defRPr/>
            </a:pPr>
            <a:r>
              <a:rPr lang="en-US"/>
              <a:t>Items In Progress</a:t>
            </a:r>
            <a:endParaRPr/>
          </a:p>
        </p:txBody>
      </p:sp>
      <p:sp>
        <p:nvSpPr>
          <p:cNvPr id="613995407"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6.1: Plan Deployment</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a:p>
            <a:pPr lvl="1" algn="l">
              <a:defRPr/>
            </a:pPr>
            <a:r>
              <a:rPr sz="2200" b="0">
                <a:latin typeface="Calibri"/>
              </a:rPr>
              <a:t>Preliminary research started: deployment plan outline, model packaging</a:t>
            </a:r>
            <a:endParaRPr sz="2200"/>
          </a:p>
          <a:p>
            <a:pPr lvl="1" algn="l">
              <a:defRPr/>
            </a:pPr>
            <a:r>
              <a:rPr sz="2200" b="0">
                <a:latin typeface="Calibri"/>
              </a:rPr>
              <a:t>Remaining: write full Deployment Plan section for Phase 6 report</a:t>
            </a:r>
            <a:endParaRPr sz="2200"/>
          </a:p>
          <a:p>
            <a:pPr algn="l">
              <a:defRPr/>
            </a:pPr>
            <a:r>
              <a:rPr sz="2200" b="1">
                <a:latin typeface="Calibri"/>
              </a:rPr>
              <a:t>Task 6.2: Plan Monitoring and Maintenance</a:t>
            </a:r>
            <a:endParaRPr sz="2200"/>
          </a:p>
          <a:p>
            <a:pPr lvl="1" algn="l">
              <a:defRPr/>
            </a:pPr>
            <a:r>
              <a:rPr sz="2200" b="0">
                <a:latin typeface="Calibri"/>
              </a:rPr>
              <a:t>Status: </a:t>
            </a:r>
            <a:r>
              <a:rPr sz="2200" b="0">
                <a:solidFill>
                  <a:srgbClr val="00FF00"/>
                </a:solidFill>
                <a:latin typeface="Calibri"/>
              </a:rPr>
              <a:t>GREEN</a:t>
            </a:r>
            <a:r>
              <a:rPr sz="2200" b="0">
                <a:latin typeface="Calibri"/>
              </a:rPr>
              <a:t> — 7% complete</a:t>
            </a:r>
            <a:endParaRPr sz="2200"/>
          </a:p>
          <a:p>
            <a:pPr lvl="1" algn="l">
              <a:defRPr/>
            </a:pPr>
            <a:r>
              <a:rPr sz="2200" b="0">
                <a:latin typeface="Calibri"/>
              </a:rPr>
              <a:t>Original Start: 5 Jul 2026 | Revised: N/A | Actual Start: 4 Jul 2026</a:t>
            </a:r>
            <a:endParaRPr sz="2200"/>
          </a:p>
          <a:p>
            <a:pPr lvl="1" algn="l">
              <a:defRPr/>
            </a:pPr>
            <a:r>
              <a:rPr sz="2200" b="0">
                <a:latin typeface="Calibri"/>
              </a:rPr>
              <a:t>Original End:   18 Jul 2026 | Revised: N/A | Actual End: N/A</a:t>
            </a:r>
            <a:endParaRPr sz="2200"/>
          </a:p>
          <a:p>
            <a:pPr lvl="1" algn="l">
              <a:defRPr/>
            </a:pPr>
            <a:r>
              <a:rPr sz="2200" b="0">
                <a:latin typeface="Calibri"/>
              </a:rPr>
              <a:t>Preliminary research started: monitoring strategy outline</a:t>
            </a:r>
            <a:endParaRPr sz="2200"/>
          </a:p>
          <a:p>
            <a:pPr lvl="1" algn="l">
              <a:defRPr/>
            </a:pPr>
            <a:r>
              <a:rPr sz="2200" b="0">
                <a:latin typeface="Calibri"/>
              </a:rPr>
              <a:t>Remaining: write full Monitoring and Maintenance Plan for Phase 6 report</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3954481" name="Title 1"/>
          <p:cNvSpPr>
            <a:spLocks noGrp="1"/>
          </p:cNvSpPr>
          <p:nvPr>
            <p:ph type="title"/>
          </p:nvPr>
        </p:nvSpPr>
        <p:spPr bwMode="auto"/>
        <p:txBody>
          <a:bodyPr/>
          <a:lstStyle/>
          <a:p>
            <a:pPr>
              <a:defRPr/>
            </a:pPr>
            <a:r>
              <a:rPr lang="en-US"/>
              <a:t>Items To Be Started</a:t>
            </a:r>
            <a:endParaRPr/>
          </a:p>
        </p:txBody>
      </p:sp>
      <p:sp>
        <p:nvSpPr>
          <p:cNvPr id="1860753783"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200" b="1">
                <a:latin typeface="Calibri"/>
              </a:rPr>
              <a:t>Task 6.3: Final Presentation</a:t>
            </a:r>
            <a:endParaRPr sz="2200"/>
          </a:p>
          <a:p>
            <a:pPr lvl="1" algn="l">
              <a:defRPr/>
            </a:pPr>
            <a:r>
              <a:rPr sz="2200" b="0">
                <a:latin typeface="Calibri"/>
              </a:rPr>
              <a:t>Original Start: 19 Jul 2026 | Revised: N/A | Actual Start: N/A</a:t>
            </a:r>
            <a:endParaRPr sz="2200"/>
          </a:p>
          <a:p>
            <a:pPr lvl="1" algn="l">
              <a:defRPr/>
            </a:pPr>
            <a:r>
              <a:rPr sz="2200" b="0">
                <a:latin typeface="Calibri"/>
              </a:rPr>
              <a:t>Original End:   25 Jul 2026 | Revised: N/A | Actual End: N/A</a:t>
            </a:r>
            <a:endParaRPr sz="2200"/>
          </a:p>
          <a:p>
            <a:pPr algn="l">
              <a:defRPr/>
            </a:pPr>
            <a:r>
              <a:rPr sz="2200" b="1">
                <a:latin typeface="Calibri"/>
              </a:rPr>
              <a:t>Task 6.3: Final Report</a:t>
            </a:r>
            <a:endParaRPr sz="2200"/>
          </a:p>
          <a:p>
            <a:pPr lvl="1" algn="l">
              <a:defRPr/>
            </a:pPr>
            <a:r>
              <a:rPr sz="2200" b="0">
                <a:latin typeface="Calibri"/>
              </a:rPr>
              <a:t>Original Start: 19 Jul 2026 | Revised: N/A | Actual Start: N/A</a:t>
            </a:r>
            <a:endParaRPr sz="2200"/>
          </a:p>
          <a:p>
            <a:pPr lvl="1" algn="l">
              <a:defRPr/>
            </a:pPr>
            <a:r>
              <a:rPr sz="2200" b="0">
                <a:latin typeface="Calibri"/>
              </a:rPr>
              <a:t>Original End:   1 Aug 2026 | Revised: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5958760" name="Title 1"/>
          <p:cNvSpPr>
            <a:spLocks noGrp="1"/>
          </p:cNvSpPr>
          <p:nvPr>
            <p:ph type="title"/>
          </p:nvPr>
        </p:nvSpPr>
        <p:spPr bwMode="auto"/>
        <p:txBody>
          <a:bodyPr/>
          <a:lstStyle/>
          <a:p>
            <a:pPr>
              <a:defRPr/>
            </a:pPr>
            <a:r>
              <a:rPr lang="en-US"/>
              <a:t>Sample of Items Completed This Week</a:t>
            </a:r>
            <a:endParaRPr/>
          </a:p>
        </p:txBody>
      </p:sp>
      <p:sp>
        <p:nvSpPr>
          <p:cNvPr id="1217273750"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a:bodyPr>
          <a:lstStyle/>
          <a:p>
            <a:pPr algn="l">
              <a:lnSpc>
                <a:spcPct val="100000"/>
              </a:lnSpc>
              <a:defRPr/>
            </a:pPr>
            <a:r>
              <a:rPr sz="2000" b="1">
                <a:latin typeface="Calibri"/>
              </a:rPr>
              <a:t>Phase 5 Report — Evaluation Summary</a:t>
            </a:r>
            <a:endParaRPr sz="2000"/>
          </a:p>
          <a:p>
            <a:pPr algn="l">
              <a:defRPr/>
            </a:pPr>
            <a:r>
              <a:rPr sz="2000" b="1">
                <a:latin typeface="Calibri"/>
              </a:rPr>
              <a:t>Model Performance (5.1 Evaluate Results):</a:t>
            </a:r>
            <a:endParaRPr sz="2000"/>
          </a:p>
          <a:p>
            <a:pPr algn="l">
              <a:defRPr/>
            </a:pPr>
            <a:endParaRPr sz="2000"/>
          </a:p>
          <a:p>
            <a:pPr algn="l">
              <a:defRPr/>
            </a:pPr>
            <a:endParaRPr sz="2000"/>
          </a:p>
          <a:p>
            <a:pPr algn="l">
              <a:defRPr/>
            </a:pPr>
            <a:endParaRPr sz="2000"/>
          </a:p>
          <a:p>
            <a:pPr algn="l">
              <a:defRPr/>
            </a:pPr>
            <a:endParaRPr sz="2000"/>
          </a:p>
          <a:p>
            <a:pPr algn="l">
              <a:defRPr/>
            </a:pPr>
            <a:r>
              <a:rPr sz="2000" b="0">
                <a:latin typeface="Calibri"/>
              </a:rPr>
              <a:t>Top Features: location_cluster (1), region (2-3), sqfeet (2-3)</a:t>
            </a:r>
            <a:endParaRPr sz="2000" b="0">
              <a:latin typeface="Calibri"/>
            </a:endParaRPr>
          </a:p>
          <a:p>
            <a:pPr algn="l">
              <a:defRPr/>
            </a:pPr>
            <a:r>
              <a:rPr sz="2000" b="0">
                <a:latin typeface="Calibri"/>
              </a:rPr>
              <a:t>Process Review (5.2): </a:t>
            </a:r>
            <a:r>
              <a:rPr lang="en-US" sz="2000" b="0" i="0" u="none" strike="noStrike" cap="none" spc="0">
                <a:solidFill>
                  <a:schemeClr val="tx1"/>
                </a:solidFill>
                <a:latin typeface="Calibri"/>
                <a:ea typeface="Calibri"/>
                <a:cs typeface="Calibri"/>
              </a:rPr>
              <a:t>Two key lessons — K-Means clustering around cities was the most impactful engineering decision; region-based IQR outlier handling outperformed national-level filtering.</a:t>
            </a:r>
            <a:endParaRPr sz="2000"/>
          </a:p>
          <a:p>
            <a:pPr algn="l">
              <a:defRPr/>
            </a:pPr>
            <a:r>
              <a:rPr sz="2000" b="0">
                <a:latin typeface="Calibri"/>
              </a:rPr>
              <a:t>Next Steps Decision (5.3): Recommendation is revise </a:t>
            </a:r>
            <a:r>
              <a:rPr lang="en-US" sz="2000" b="0" i="0" u="none" strike="noStrike" cap="none" spc="0">
                <a:solidFill>
                  <a:schemeClr val="tx1"/>
                </a:solidFill>
                <a:latin typeface="Calibri"/>
                <a:ea typeface="Calibri"/>
                <a:cs typeface="Calibri"/>
              </a:rPr>
              <a:t>— </a:t>
            </a:r>
            <a:r>
              <a:rPr lang="en-US" sz="2000" b="0" i="0" u="none" strike="noStrike" cap="none" spc="0">
                <a:solidFill>
                  <a:schemeClr val="tx1"/>
                </a:solidFill>
                <a:latin typeface="Calibri"/>
                <a:ea typeface="Calibri"/>
                <a:cs typeface="Calibri"/>
              </a:rPr>
              <a:t>six improvements proposed including K-Means optimization, larger datasets, NLP on description text, GPU acceleration, weighted ensemble, and additional feature engineering.</a:t>
            </a:r>
            <a:endParaRPr sz="2000"/>
          </a:p>
        </p:txBody>
      </p:sp>
      <p:graphicFrame>
        <p:nvGraphicFramePr>
          <p:cNvPr id="1169262045" name="Table 18145075"/>
          <p:cNvGraphicFramePr>
            <a:graphicFrameLocks xmlns:a="http://schemas.openxmlformats.org/drawingml/2006/main"/>
          </p:cNvGraphicFramePr>
          <p:nvPr/>
        </p:nvGraphicFramePr>
        <p:xfrm rot="0">
          <a:off x="850982" y="2016800"/>
          <a:ext cx="4846121" cy="1584959"/>
        </p:xfrm>
        <a:graphic>
          <a:graphicData uri="http://schemas.openxmlformats.org/drawingml/2006/table">
            <a:tbl>
              <a:tblPr firstRow="1" firstCol="0" lastRow="0" lastCol="0" bandRow="1" bandCol="0">
                <a:tableStyleId>{5C22544A-7EE6-4342-B048-85BDC9FD1C3A}</a:tableStyleId>
              </a:tblPr>
              <a:tblGrid>
                <a:gridCol w="1475658"/>
                <a:gridCol w="947401"/>
                <a:gridCol w="1211530"/>
                <a:gridCol w="1211530"/>
              </a:tblGrid>
              <a:tr h="389358">
                <a:tc>
                  <a:txBody>
                    <a:bodyPr/>
                    <a:p>
                      <a:pPr>
                        <a:defRPr/>
                      </a:pPr>
                      <a:r>
                        <a:rPr lang="en-US" sz="2000" b="1" i="0" u="none" strike="noStrike" cap="none" spc="0">
                          <a:solidFill>
                            <a:schemeClr val="lt1"/>
                          </a:solidFill>
                          <a:latin typeface="Calibri"/>
                          <a:ea typeface="Calibri"/>
                          <a:cs typeface="Calibri"/>
                        </a:rPr>
                        <a:t>Metric</a:t>
                      </a:r>
                      <a:endParaRPr sz="2000"/>
                    </a:p>
                  </a:txBody>
                  <a:tcPr anchor="ctr"/>
                </a:tc>
                <a:tc>
                  <a:txBody>
                    <a:bodyPr/>
                    <a:p>
                      <a:pPr>
                        <a:defRPr/>
                      </a:pPr>
                      <a:r>
                        <a:rPr lang="en-US" sz="2000" b="1" i="0" u="none" strike="noStrike" cap="none" spc="0">
                          <a:solidFill>
                            <a:schemeClr val="lt1"/>
                          </a:solidFill>
                          <a:latin typeface="Calibri"/>
                          <a:ea typeface="Calibri"/>
                          <a:cs typeface="Calibri"/>
                        </a:rPr>
                        <a:t>RF</a:t>
                      </a:r>
                      <a:endParaRPr sz="2000"/>
                    </a:p>
                  </a:txBody>
                  <a:tcPr anchor="ctr"/>
                </a:tc>
                <a:tc>
                  <a:txBody>
                    <a:bodyPr/>
                    <a:p>
                      <a:pPr>
                        <a:defRPr/>
                      </a:pPr>
                      <a:r>
                        <a:rPr lang="en-US" sz="2000" b="1" i="0" u="none" strike="noStrike" cap="none" spc="0">
                          <a:solidFill>
                            <a:schemeClr val="lt1"/>
                          </a:solidFill>
                          <a:latin typeface="Calibri"/>
                          <a:ea typeface="Calibri"/>
                          <a:cs typeface="Calibri"/>
                        </a:rPr>
                        <a:t>XGB</a:t>
                      </a:r>
                      <a:endParaRPr sz="2000"/>
                    </a:p>
                  </a:txBody>
                  <a:tcPr anchor="ctr"/>
                </a:tc>
                <a:tc>
                  <a:txBody>
                    <a:bodyPr/>
                    <a:p>
                      <a:pPr>
                        <a:defRPr/>
                      </a:pPr>
                      <a:r>
                        <a:rPr lang="en-US" sz="2000" b="1" i="0" u="none" strike="noStrike" cap="none" spc="0">
                          <a:solidFill>
                            <a:schemeClr val="lt1"/>
                          </a:solidFill>
                          <a:latin typeface="Calibri"/>
                          <a:ea typeface="Calibri"/>
                          <a:cs typeface="Calibri"/>
                        </a:rPr>
                        <a:t>HistGB</a:t>
                      </a:r>
                      <a:endParaRPr sz="2000"/>
                    </a:p>
                  </a:txBody>
                  <a:tcPr anchor="ctr"/>
                </a:tc>
              </a:tr>
              <a:tr h="389358">
                <a:tc>
                  <a:txBody>
                    <a:bodyPr/>
                    <a:p>
                      <a:pPr>
                        <a:defRPr/>
                      </a:pPr>
                      <a:r>
                        <a:rPr lang="en-US" sz="2000" b="0" i="0" u="none" strike="noStrike" cap="none" spc="0">
                          <a:solidFill>
                            <a:schemeClr val="tx1"/>
                          </a:solidFill>
                          <a:latin typeface="Calibri"/>
                          <a:ea typeface="Calibri"/>
                          <a:cs typeface="Calibri"/>
                        </a:rPr>
                        <a:t>R²</a:t>
                      </a:r>
                      <a:endParaRPr sz="2000"/>
                    </a:p>
                  </a:txBody>
                  <a:tcPr anchor="ctr"/>
                </a:tc>
                <a:tc>
                  <a:txBody>
                    <a:bodyPr/>
                    <a:p>
                      <a:pPr>
                        <a:defRPr/>
                      </a:pPr>
                      <a:r>
                        <a:rPr lang="en-US" sz="2000" b="0" i="0" u="none" strike="noStrike" cap="none" spc="0">
                          <a:solidFill>
                            <a:schemeClr val="dk1"/>
                          </a:solidFill>
                          <a:latin typeface="Calibri"/>
                          <a:ea typeface="Calibri"/>
                          <a:cs typeface="Calibri"/>
                        </a:rPr>
                        <a:t>0.946</a:t>
                      </a:r>
                      <a:endParaRPr sz="2000"/>
                    </a:p>
                  </a:txBody>
                  <a:tcPr anchor="ctr"/>
                </a:tc>
                <a:tc>
                  <a:txBody>
                    <a:bodyPr/>
                    <a:p>
                      <a:pPr>
                        <a:defRPr/>
                      </a:pPr>
                      <a:r>
                        <a:rPr lang="en-US" sz="2000" b="0" i="0" u="none" strike="noStrike" cap="none" spc="0">
                          <a:solidFill>
                            <a:schemeClr val="dk1"/>
                          </a:solidFill>
                          <a:latin typeface="Calibri"/>
                          <a:ea typeface="Calibri"/>
                          <a:cs typeface="Calibri"/>
                        </a:rPr>
                        <a:t>0.939</a:t>
                      </a:r>
                      <a:endParaRPr sz="2000"/>
                    </a:p>
                  </a:txBody>
                  <a:tcPr anchor="ctr"/>
                </a:tc>
                <a:tc>
                  <a:txBody>
                    <a:bodyPr/>
                    <a:p>
                      <a:pPr>
                        <a:defRPr/>
                      </a:pPr>
                      <a:r>
                        <a:rPr lang="en-US" sz="2000" b="0" i="0" u="none" strike="noStrike" cap="none" spc="0">
                          <a:solidFill>
                            <a:schemeClr val="dk1"/>
                          </a:solidFill>
                          <a:latin typeface="Calibri"/>
                          <a:ea typeface="Calibri"/>
                          <a:cs typeface="Calibri"/>
                        </a:rPr>
                        <a:t>0.934</a:t>
                      </a:r>
                      <a:endParaRPr sz="2000"/>
                    </a:p>
                  </a:txBody>
                  <a:tcPr anchor="ctr"/>
                </a:tc>
              </a:tr>
              <a:tr h="389358">
                <a:tc>
                  <a:txBody>
                    <a:bodyPr/>
                    <a:p>
                      <a:pPr>
                        <a:defRPr/>
                      </a:pPr>
                      <a:r>
                        <a:rPr lang="en-US" sz="2000" b="0" i="0" u="none" strike="noStrike" cap="none" spc="0">
                          <a:solidFill>
                            <a:schemeClr val="dk1"/>
                          </a:solidFill>
                          <a:latin typeface="Calibri"/>
                          <a:ea typeface="Calibri"/>
                          <a:cs typeface="Calibri"/>
                        </a:rPr>
                        <a:t>MAE</a:t>
                      </a:r>
                      <a:endParaRPr sz="2000"/>
                    </a:p>
                  </a:txBody>
                  <a:tcPr anchor="ctr"/>
                </a:tc>
                <a:tc>
                  <a:txBody>
                    <a:bodyPr/>
                    <a:p>
                      <a:pPr>
                        <a:defRPr/>
                      </a:pPr>
                      <a:r>
                        <a:rPr lang="en-US" sz="2000" b="0" i="0" u="none" strike="noStrike" cap="none" spc="0">
                          <a:solidFill>
                            <a:schemeClr val="dk1"/>
                          </a:solidFill>
                          <a:latin typeface="Calibri"/>
                          <a:ea typeface="Calibri"/>
                          <a:cs typeface="Calibri"/>
                        </a:rPr>
                        <a:t>$35.58</a:t>
                      </a:r>
                      <a:endParaRPr sz="2000"/>
                    </a:p>
                  </a:txBody>
                  <a:tcPr anchor="ctr"/>
                </a:tc>
                <a:tc>
                  <a:txBody>
                    <a:bodyPr/>
                    <a:p>
                      <a:pPr>
                        <a:defRPr/>
                      </a:pPr>
                      <a:r>
                        <a:rPr lang="en-US" sz="2000" b="0" i="0" u="none" strike="noStrike" cap="none" spc="0">
                          <a:solidFill>
                            <a:schemeClr val="dk1"/>
                          </a:solidFill>
                          <a:latin typeface="Calibri"/>
                          <a:ea typeface="Calibri"/>
                          <a:cs typeface="Calibri"/>
                        </a:rPr>
                        <a:t>$46.47</a:t>
                      </a:r>
                      <a:endParaRPr sz="2000"/>
                    </a:p>
                  </a:txBody>
                  <a:tcPr anchor="ctr"/>
                </a:tc>
                <a:tc>
                  <a:txBody>
                    <a:bodyPr/>
                    <a:p>
                      <a:pPr>
                        <a:defRPr/>
                      </a:pPr>
                      <a:r>
                        <a:rPr lang="en-US" sz="2000" b="0" i="0" u="none" strike="noStrike" cap="none" spc="0">
                          <a:solidFill>
                            <a:schemeClr val="dk1"/>
                          </a:solidFill>
                          <a:latin typeface="Calibri"/>
                          <a:ea typeface="Calibri"/>
                          <a:cs typeface="Calibri"/>
                        </a:rPr>
                        <a:t>$47.07</a:t>
                      </a:r>
                      <a:endParaRPr sz="2000"/>
                    </a:p>
                  </a:txBody>
                  <a:tcPr anchor="ctr"/>
                </a:tc>
              </a:tr>
              <a:tr h="389358">
                <a:tc>
                  <a:txBody>
                    <a:bodyPr/>
                    <a:p>
                      <a:pPr>
                        <a:defRPr/>
                      </a:pPr>
                      <a:r>
                        <a:rPr lang="en-US" sz="2000" b="0" i="0" u="none" strike="noStrike" cap="none" spc="0">
                          <a:solidFill>
                            <a:schemeClr val="dk1"/>
                          </a:solidFill>
                          <a:latin typeface="Calibri"/>
                          <a:ea typeface="Calibri"/>
                          <a:cs typeface="Calibri"/>
                        </a:rPr>
                        <a:t>RMSE</a:t>
                      </a:r>
                      <a:endParaRPr sz="2000"/>
                    </a:p>
                  </a:txBody>
                  <a:tcPr anchor="ctr"/>
                </a:tc>
                <a:tc>
                  <a:txBody>
                    <a:bodyPr/>
                    <a:p>
                      <a:pPr>
                        <a:defRPr/>
                      </a:pPr>
                      <a:r>
                        <a:rPr lang="en-US" sz="2000" b="0" i="0" u="none" strike="noStrike" cap="none" spc="0">
                          <a:solidFill>
                            <a:schemeClr val="dk1"/>
                          </a:solidFill>
                          <a:latin typeface="Calibri"/>
                          <a:ea typeface="Calibri"/>
                          <a:cs typeface="Calibri"/>
                        </a:rPr>
                        <a:t>$77.32</a:t>
                      </a:r>
                      <a:endParaRPr sz="2000"/>
                    </a:p>
                  </a:txBody>
                  <a:tcPr anchor="ctr"/>
                </a:tc>
                <a:tc>
                  <a:txBody>
                    <a:bodyPr/>
                    <a:p>
                      <a:pPr>
                        <a:defRPr/>
                      </a:pPr>
                      <a:r>
                        <a:rPr lang="en-US" sz="2000" b="0" i="0" u="none" strike="noStrike" cap="none" spc="0">
                          <a:solidFill>
                            <a:schemeClr val="dk1"/>
                          </a:solidFill>
                          <a:latin typeface="Calibri"/>
                          <a:ea typeface="Calibri"/>
                          <a:cs typeface="Calibri"/>
                        </a:rPr>
                        <a:t>$82.58</a:t>
                      </a:r>
                      <a:endParaRPr sz="2000"/>
                    </a:p>
                  </a:txBody>
                  <a:tcPr anchor="ctr"/>
                </a:tc>
                <a:tc>
                  <a:txBody>
                    <a:bodyPr/>
                    <a:p>
                      <a:pPr>
                        <a:defRPr/>
                      </a:pPr>
                      <a:r>
                        <a:rPr lang="en-US" sz="2000" b="0" i="0" u="none" strike="noStrike" cap="none" spc="0">
                          <a:solidFill>
                            <a:schemeClr val="dk1"/>
                          </a:solidFill>
                          <a:latin typeface="Calibri"/>
                          <a:ea typeface="Calibri"/>
                          <a:cs typeface="Calibri"/>
                        </a:rPr>
                        <a:t>$85.70</a:t>
                      </a:r>
                      <a:endParaRPr sz="2000"/>
                    </a:p>
                  </a:txBody>
                  <a:tcPr anchor="ct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8151874" name="Title 1"/>
          <p:cNvSpPr>
            <a:spLocks noGrp="1"/>
          </p:cNvSpPr>
          <p:nvPr>
            <p:ph type="title"/>
          </p:nvPr>
        </p:nvSpPr>
        <p:spPr bwMode="auto"/>
        <p:txBody>
          <a:bodyPr/>
          <a:lstStyle/>
          <a:p>
            <a:pPr>
              <a:defRPr/>
            </a:pPr>
            <a:r>
              <a:rPr lang="en-US"/>
              <a:t>Issues, Risks, Concerns</a:t>
            </a:r>
            <a:endParaRPr/>
          </a:p>
        </p:txBody>
      </p:sp>
      <p:sp>
        <p:nvSpPr>
          <p:cNvPr id="1710290737"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200" b="1">
                <a:latin typeface="Calibri"/>
              </a:rPr>
              <a:t>Issues</a:t>
            </a:r>
            <a:endParaRPr sz="2200"/>
          </a:p>
          <a:p>
            <a:pPr lvl="1" algn="l">
              <a:defRPr/>
            </a:pPr>
            <a:r>
              <a:rPr sz="2200" b="0">
                <a:latin typeface="Calibri"/>
              </a:rPr>
              <a:t>None at this time</a:t>
            </a:r>
            <a:endParaRPr sz="2200"/>
          </a:p>
          <a:p>
            <a:pPr algn="l">
              <a:defRPr/>
            </a:pPr>
            <a:r>
              <a:rPr sz="2200" b="1">
                <a:latin typeface="Calibri"/>
              </a:rPr>
              <a:t>Risks</a:t>
            </a:r>
            <a:endParaRPr sz="2200"/>
          </a:p>
          <a:p>
            <a:pPr lvl="1" algn="l">
              <a:defRPr/>
            </a:pPr>
            <a:r>
              <a:rPr sz="2200" b="0">
                <a:latin typeface="Calibri"/>
              </a:rPr>
              <a:t>None at this time</a:t>
            </a:r>
            <a:endParaRPr sz="2200"/>
          </a:p>
          <a:p>
            <a:pPr algn="l">
              <a:defRPr/>
            </a:pPr>
            <a:r>
              <a:rPr sz="2200" b="1">
                <a:latin typeface="Calibri"/>
              </a:rPr>
              <a:t>Concerns</a:t>
            </a:r>
            <a:endParaRPr sz="2200"/>
          </a:p>
          <a:p>
            <a:pPr lvl="1" algn="l">
              <a:defRPr/>
            </a:pPr>
            <a:r>
              <a:rPr sz="2200" b="0">
                <a:latin typeface="Calibri"/>
              </a:rPr>
              <a:t>None at this time</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9819176" name="Title 1"/>
          <p:cNvSpPr>
            <a:spLocks noGrp="1"/>
          </p:cNvSpPr>
          <p:nvPr>
            <p:ph type="title"/>
          </p:nvPr>
        </p:nvSpPr>
        <p:spPr bwMode="auto"/>
        <p:txBody>
          <a:bodyPr/>
          <a:lstStyle/>
          <a:p>
            <a:pPr>
              <a:defRPr/>
            </a:pPr>
            <a:r>
              <a:rPr lang="en-US"/>
              <a:t>Next Steps</a:t>
            </a:r>
            <a:endParaRPr/>
          </a:p>
        </p:txBody>
      </p:sp>
      <p:sp>
        <p:nvSpPr>
          <p:cNvPr id="2089741575"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2000" b="1">
                <a:latin typeface="Calibri"/>
              </a:rPr>
              <a:t>Task 6.1: Plan Deployment (continue)</a:t>
            </a:r>
            <a:endParaRPr sz="2000"/>
          </a:p>
          <a:p>
            <a:pPr lvl="1" algn="l">
              <a:defRPr/>
            </a:pPr>
            <a:r>
              <a:rPr sz="2000" b="0">
                <a:latin typeface="Calibri"/>
              </a:rPr>
              <a:t>Original Start: 5 Jul 2026 | Revised: N/A | Actual Start: 4 Jul 2026</a:t>
            </a:r>
            <a:endParaRPr sz="2000"/>
          </a:p>
          <a:p>
            <a:pPr lvl="1" algn="l">
              <a:defRPr/>
            </a:pPr>
            <a:r>
              <a:rPr sz="2000" b="0">
                <a:latin typeface="Calibri"/>
              </a:rPr>
              <a:t>Original End:   18 Jul 2026 | Revised: N/A | Actual End: N/A</a:t>
            </a:r>
            <a:endParaRPr sz="2000"/>
          </a:p>
          <a:p>
            <a:pPr algn="l">
              <a:defRPr/>
            </a:pPr>
            <a:r>
              <a:rPr sz="2000" b="1">
                <a:latin typeface="Calibri"/>
              </a:rPr>
              <a:t>Task 6.2: Plan Monitoring and Maintenance (continue)</a:t>
            </a:r>
            <a:endParaRPr sz="2000"/>
          </a:p>
          <a:p>
            <a:pPr lvl="1" algn="l">
              <a:defRPr/>
            </a:pPr>
            <a:r>
              <a:rPr sz="2000" b="0">
                <a:latin typeface="Calibri"/>
              </a:rPr>
              <a:t>Original Start: 5 Jul 2026 | Revised: N/A | Actual Start: 4 Jul 2026</a:t>
            </a:r>
            <a:endParaRPr sz="2000"/>
          </a:p>
          <a:p>
            <a:pPr lvl="1" algn="l">
              <a:defRPr/>
            </a:pPr>
            <a:r>
              <a:rPr sz="2000" b="0">
                <a:latin typeface="Calibri"/>
              </a:rPr>
              <a:t>Original End:   18 Jul 2026 | Revised: N/A | Actual End: N/A</a:t>
            </a:r>
            <a:endParaRPr sz="2000"/>
          </a:p>
          <a:p>
            <a:pPr algn="l">
              <a:defRPr/>
            </a:pPr>
            <a:r>
              <a:rPr sz="2000" b="1">
                <a:latin typeface="Calibri"/>
              </a:rPr>
              <a:t>Task 6.3: Final Presentation</a:t>
            </a:r>
            <a:endParaRPr sz="2000"/>
          </a:p>
          <a:p>
            <a:pPr lvl="1" algn="l">
              <a:defRPr/>
            </a:pPr>
            <a:r>
              <a:rPr sz="2000" b="0">
                <a:latin typeface="Calibri"/>
              </a:rPr>
              <a:t>Original Start: 19 Jul 2026 | Revised: N/A | Actual Start: N/A</a:t>
            </a:r>
            <a:endParaRPr sz="2000"/>
          </a:p>
          <a:p>
            <a:pPr lvl="1" algn="l">
              <a:defRPr/>
            </a:pPr>
            <a:r>
              <a:rPr sz="2000" b="0">
                <a:latin typeface="Calibri"/>
              </a:rPr>
              <a:t>Original End:   25 Jul 2026 | Revised: N/A | Actual End: N/A</a:t>
            </a:r>
            <a:endParaRPr sz="2000"/>
          </a:p>
          <a:p>
            <a:pPr algn="l">
              <a:defRPr/>
            </a:pPr>
            <a:r>
              <a:rPr sz="2000" b="1">
                <a:latin typeface="Calibri"/>
              </a:rPr>
              <a:t>Task 6.3: Final Report</a:t>
            </a:r>
            <a:endParaRPr sz="2000"/>
          </a:p>
          <a:p>
            <a:pPr lvl="1" algn="l">
              <a:defRPr/>
            </a:pPr>
            <a:r>
              <a:rPr sz="2000" b="0">
                <a:latin typeface="Calibri"/>
              </a:rPr>
              <a:t>Original Start: 19 Jul 2026 | Revised: N/A | Actual Start: N/A</a:t>
            </a:r>
            <a:endParaRPr sz="2000"/>
          </a:p>
          <a:p>
            <a:pPr lvl="1" algn="l">
              <a:defRPr/>
            </a:pPr>
            <a:r>
              <a:rPr sz="2000" b="0">
                <a:latin typeface="Calibri"/>
              </a:rPr>
              <a:t>Original End:   1 Aug 2026 | Revised: N/A | Actual End: N/A</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4154192" name="Title 1"/>
          <p:cNvSpPr>
            <a:spLocks noGrp="1"/>
          </p:cNvSpPr>
          <p:nvPr>
            <p:ph type="title"/>
          </p:nvPr>
        </p:nvSpPr>
        <p:spPr bwMode="auto"/>
        <p:txBody>
          <a:bodyPr/>
          <a:lstStyle/>
          <a:p>
            <a:pPr>
              <a:defRPr/>
            </a:pPr>
            <a:r>
              <a:rPr lang="en-US"/>
              <a:t>Personal Reflection</a:t>
            </a:r>
            <a:endParaRPr/>
          </a:p>
        </p:txBody>
      </p:sp>
      <p:sp>
        <p:nvSpPr>
          <p:cNvPr id="1290174302"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400" b="0">
                <a:latin typeface="Calibri"/>
              </a:rPr>
              <a:t>Phase 5 is now complete, and the Phase 5 PDF report was submitted this week. Looking back, the evaluation phase confirmed what the modeling metrics were already showing; Random Forest is the strongest model, and location drives price more than any individual amenity. The process review was valuable; I was surprised how much impact the K-Means clustering and region-based IQR had on the final results. Starting Phase 6 feels like the home stretch. I know the deployment plan and monitoring plan are academic exercises rather than a real production deployment, but Professor Nardi made it clear they still need to be thorough. The main milestones ahead are the final presentation and final report, and I want to make sure those get enough time in July.</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5840135"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8582586"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26,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26,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0671552" name="Title 1"/>
          <p:cNvSpPr>
            <a:spLocks noGrp="1"/>
          </p:cNvSpPr>
          <p:nvPr>
            <p:ph type="title"/>
          </p:nvPr>
        </p:nvSpPr>
        <p:spPr bwMode="auto"/>
        <p:txBody>
          <a:bodyPr/>
          <a:lstStyle/>
          <a:p>
            <a:pPr>
              <a:defRPr/>
            </a:pPr>
            <a:r>
              <a:rPr lang="en-US"/>
              <a:t>Agenda</a:t>
            </a:r>
            <a:endParaRPr/>
          </a:p>
        </p:txBody>
      </p:sp>
      <p:sp>
        <p:nvSpPr>
          <p:cNvPr id="503498762"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4131717" name="Title 1"/>
          <p:cNvSpPr>
            <a:spLocks noGrp="1"/>
          </p:cNvSpPr>
          <p:nvPr>
            <p:ph type="title"/>
          </p:nvPr>
        </p:nvSpPr>
        <p:spPr bwMode="auto"/>
        <p:txBody>
          <a:bodyPr/>
          <a:lstStyle/>
          <a:p>
            <a:pPr>
              <a:defRPr/>
            </a:pPr>
            <a:r>
              <a:rPr lang="en-US"/>
              <a:t>Status Overview</a:t>
            </a:r>
            <a:endParaRPr/>
          </a:p>
        </p:txBody>
      </p:sp>
      <p:sp>
        <p:nvSpPr>
          <p:cNvPr id="1991623513"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lgn="l">
              <a:lnSpc>
                <a:spcPct val="100000"/>
              </a:lnSpc>
              <a:defRPr/>
            </a:pPr>
            <a:r>
              <a:rPr sz="2200" b="1">
                <a:latin typeface="Calibri"/>
              </a:rPr>
              <a:t>Project Status: </a:t>
            </a:r>
            <a:r>
              <a:rPr sz="2200" b="1">
                <a:solidFill>
                  <a:srgbClr val="00FF00"/>
                </a:solidFill>
                <a:latin typeface="Calibri"/>
              </a:rPr>
              <a:t>GREEN</a:t>
            </a:r>
            <a:endParaRPr sz="2200"/>
          </a:p>
          <a:p>
            <a:pPr algn="l">
              <a:defRPr/>
            </a:pPr>
            <a:r>
              <a:rPr sz="2200" b="1">
                <a:latin typeface="Calibri"/>
              </a:rPr>
              <a:t>Task 5.1: Evaluate Results</a:t>
            </a:r>
            <a:endParaRPr sz="2200"/>
          </a:p>
          <a:p>
            <a:pPr lvl="1" algn="l">
              <a:defRPr/>
            </a:pPr>
            <a:r>
              <a:rPr sz="2200" b="0">
                <a:latin typeface="Calibri"/>
              </a:rPr>
              <a:t>Status: </a:t>
            </a:r>
            <a:r>
              <a:rPr sz="2200" b="0">
                <a:solidFill>
                  <a:srgbClr val="00FF00"/>
                </a:solidFill>
                <a:latin typeface="Calibri"/>
              </a:rPr>
              <a:t>GREEN</a:t>
            </a:r>
            <a:r>
              <a:rPr sz="2200" b="0">
                <a:latin typeface="Calibri"/>
              </a:rPr>
              <a:t> — 100%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26 Jun 2026</a:t>
            </a:r>
            <a:endParaRPr sz="2200"/>
          </a:p>
          <a:p>
            <a:pPr algn="l">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60%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N/A</a:t>
            </a:r>
            <a:endParaRPr sz="2200"/>
          </a:p>
          <a:p>
            <a:pPr algn="l">
              <a:defRPr/>
            </a:pPr>
            <a:r>
              <a:rPr sz="2200" b="1">
                <a:latin typeface="Calibri"/>
              </a:rPr>
              <a:t>Task 5.3: Determine Next Steps</a:t>
            </a:r>
            <a:endParaRPr sz="2200"/>
          </a:p>
          <a:p>
            <a:pPr lvl="1" algn="l">
              <a:defRPr/>
            </a:pPr>
            <a:r>
              <a:rPr sz="2200" b="0">
                <a:latin typeface="Calibri"/>
              </a:rPr>
              <a:t>Status: </a:t>
            </a:r>
            <a:r>
              <a:rPr sz="2200" b="0">
                <a:solidFill>
                  <a:srgbClr val="00FF00"/>
                </a:solidFill>
                <a:latin typeface="Calibri"/>
              </a:rPr>
              <a:t>GREEN</a:t>
            </a:r>
            <a:r>
              <a:rPr sz="2200" b="0">
                <a:latin typeface="Calibri"/>
              </a:rPr>
              <a:t> — 20% complete</a:t>
            </a:r>
            <a:endParaRPr sz="2200"/>
          </a:p>
          <a:p>
            <a:pPr lvl="1" algn="l">
              <a:defRPr/>
            </a:pPr>
            <a:r>
              <a:rPr sz="2200" b="0">
                <a:latin typeface="Calibri"/>
              </a:rPr>
              <a:t>Original Start: 21 Jun 2026 | Revised: N/A | Actual Start: 20 Jun 2026</a:t>
            </a:r>
            <a:endParaRPr sz="2200"/>
          </a:p>
          <a:p>
            <a:pPr lvl="1" algn="l">
              <a:defRPr/>
            </a:pPr>
            <a:r>
              <a:rPr sz="2200" b="0">
                <a:latin typeface="Calibri"/>
              </a:rPr>
              <a:t>Original End:   4 Jul 2026 | Revised: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7990117" name="Title 1"/>
          <p:cNvSpPr>
            <a:spLocks noGrp="1"/>
          </p:cNvSpPr>
          <p:nvPr>
            <p:ph type="title"/>
          </p:nvPr>
        </p:nvSpPr>
        <p:spPr bwMode="auto"/>
        <p:txBody>
          <a:bodyPr/>
          <a:lstStyle/>
          <a:p>
            <a:pPr>
              <a:defRPr/>
            </a:pPr>
            <a:r>
              <a:rPr lang="en-US"/>
              <a:t>Items Completed This Week</a:t>
            </a:r>
            <a:endParaRPr/>
          </a:p>
        </p:txBody>
      </p:sp>
      <p:sp>
        <p:nvSpPr>
          <p:cNvPr id="856082996"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600" b="1">
                <a:latin typeface="Calibri"/>
              </a:rPr>
              <a:t>Task 5.1: Evaluate Results</a:t>
            </a:r>
            <a:endParaRPr sz="2600"/>
          </a:p>
          <a:p>
            <a:pPr lvl="1" algn="l">
              <a:defRPr/>
            </a:pPr>
            <a:r>
              <a:rPr sz="2600" b="0">
                <a:latin typeface="Calibri"/>
              </a:rPr>
              <a:t>Status: </a:t>
            </a:r>
            <a:r>
              <a:rPr sz="2600" b="0">
                <a:solidFill>
                  <a:srgbClr val="00FF00"/>
                </a:solidFill>
                <a:latin typeface="Calibri"/>
              </a:rPr>
              <a:t>GREEN</a:t>
            </a:r>
            <a:r>
              <a:rPr sz="2600" b="0">
                <a:latin typeface="Calibri"/>
              </a:rPr>
              <a:t> — 100% complete</a:t>
            </a:r>
            <a:endParaRPr sz="2600"/>
          </a:p>
          <a:p>
            <a:pPr lvl="1" algn="l">
              <a:defRPr/>
            </a:pPr>
            <a:r>
              <a:rPr sz="2600" b="0">
                <a:latin typeface="Calibri"/>
              </a:rPr>
              <a:t>Original Start: 21 Jun 2026 | Revised: N/A | Actual Start: 19 Jun 2026</a:t>
            </a:r>
            <a:endParaRPr sz="2600"/>
          </a:p>
          <a:p>
            <a:pPr lvl="1" algn="l">
              <a:defRPr/>
            </a:pPr>
            <a:r>
              <a:rPr sz="2600" b="0">
                <a:latin typeface="Calibri"/>
              </a:rPr>
              <a:t>Original End:   4 Jul 2026 | Revised: N/A | Actual End: 26 Jun 2026</a:t>
            </a:r>
            <a:endParaRPr sz="2600"/>
          </a:p>
          <a:p>
            <a:pPr lvl="1" algn="l">
              <a:defRPr/>
            </a:pPr>
            <a:r>
              <a:rPr sz="2600" b="0">
                <a:latin typeface="Calibri"/>
              </a:rPr>
              <a:t>Model comparison: Random Forest selected as best performer (R²=0.946, MAE=$35.58)</a:t>
            </a:r>
            <a:endParaRPr sz="2600"/>
          </a:p>
          <a:p>
            <a:pPr lvl="1" algn="l">
              <a:defRPr/>
            </a:pPr>
            <a:r>
              <a:rPr sz="2600" b="0">
                <a:latin typeface="Calibri"/>
              </a:rPr>
              <a:t>Business-goal alignment assessment completed</a:t>
            </a:r>
            <a:endParaRPr sz="2600"/>
          </a:p>
          <a:p>
            <a:pPr lvl="1" algn="l">
              <a:defRPr/>
            </a:pPr>
            <a:r>
              <a:rPr sz="2600" b="0">
                <a:latin typeface="Calibri"/>
              </a:rPr>
              <a:t>Result Assessment and Model Approval deliverables documented</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7690488" name="Title 1"/>
          <p:cNvSpPr>
            <a:spLocks noGrp="1"/>
          </p:cNvSpPr>
          <p:nvPr>
            <p:ph type="title"/>
          </p:nvPr>
        </p:nvSpPr>
        <p:spPr bwMode="auto"/>
        <p:txBody>
          <a:bodyPr/>
          <a:lstStyle/>
          <a:p>
            <a:pPr>
              <a:defRPr/>
            </a:pPr>
            <a:r>
              <a:rPr lang="en-US"/>
              <a:t>Items In Progress</a:t>
            </a:r>
            <a:endParaRPr/>
          </a:p>
        </p:txBody>
      </p:sp>
      <p:sp>
        <p:nvSpPr>
          <p:cNvPr id="1460013670"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lgn="l">
              <a:lnSpc>
                <a:spcPct val="100000"/>
              </a:lnSpc>
              <a:defRPr/>
            </a:pPr>
            <a:r>
              <a:rPr sz="2400" b="1">
                <a:latin typeface="Calibri"/>
              </a:rPr>
              <a:t>Task 5.2: Review Process</a:t>
            </a:r>
            <a:endParaRPr sz="2400"/>
          </a:p>
          <a:p>
            <a:pPr lvl="1" algn="l">
              <a:defRPr/>
            </a:pPr>
            <a:r>
              <a:rPr sz="2400" b="0">
                <a:latin typeface="Calibri"/>
              </a:rPr>
              <a:t>Status: </a:t>
            </a:r>
            <a:r>
              <a:rPr sz="2400" b="0">
                <a:solidFill>
                  <a:srgbClr val="00FF00"/>
                </a:solidFill>
                <a:latin typeface="Calibri"/>
              </a:rPr>
              <a:t>GREEN</a:t>
            </a:r>
            <a:r>
              <a:rPr sz="2400" b="0">
                <a:latin typeface="Calibri"/>
              </a:rPr>
              <a:t> — 60% complete</a:t>
            </a:r>
            <a:endParaRPr sz="2400"/>
          </a:p>
          <a:p>
            <a:pPr lvl="1" algn="l">
              <a:defRPr/>
            </a:pPr>
            <a:r>
              <a:rPr sz="2400" b="0">
                <a:latin typeface="Calibri"/>
              </a:rPr>
              <a:t>Original Start: 21 Jun 2026 | Revised: N/A | Actual Start: 19 Jun 2026</a:t>
            </a:r>
            <a:endParaRPr sz="2400"/>
          </a:p>
          <a:p>
            <a:pPr lvl="1" algn="l">
              <a:defRPr/>
            </a:pPr>
            <a:r>
              <a:rPr sz="2400" b="0">
                <a:latin typeface="Calibri"/>
              </a:rPr>
              <a:t>Original End:   4 Jul 2026 | Revised: N/A | Actual End: N/A</a:t>
            </a:r>
            <a:endParaRPr sz="2400"/>
          </a:p>
          <a:p>
            <a:pPr lvl="1" algn="l">
              <a:defRPr/>
            </a:pPr>
            <a:r>
              <a:rPr sz="2400" b="0">
                <a:latin typeface="Calibri"/>
              </a:rPr>
              <a:t>Process review in progress: documenting what worked well, gaps, lessons learned</a:t>
            </a:r>
            <a:endParaRPr sz="2400"/>
          </a:p>
          <a:p>
            <a:pPr lvl="1" algn="l">
              <a:defRPr/>
            </a:pPr>
            <a:r>
              <a:rPr sz="2400" b="0">
                <a:latin typeface="Calibri"/>
              </a:rPr>
              <a:t>Remaining: finalise Process Evaluation Report</a:t>
            </a:r>
            <a:endParaRPr sz="2400"/>
          </a:p>
          <a:p>
            <a:pPr algn="l">
              <a:defRPr/>
            </a:pPr>
            <a:r>
              <a:rPr sz="2400" b="1">
                <a:latin typeface="Calibri"/>
              </a:rPr>
              <a:t>Task 5.3: Determine Next Steps</a:t>
            </a:r>
            <a:endParaRPr sz="2400"/>
          </a:p>
          <a:p>
            <a:pPr lvl="1" algn="l">
              <a:defRPr/>
            </a:pPr>
            <a:r>
              <a:rPr sz="2400" b="0">
                <a:latin typeface="Calibri"/>
              </a:rPr>
              <a:t>Status: </a:t>
            </a:r>
            <a:r>
              <a:rPr sz="2400" b="0">
                <a:solidFill>
                  <a:srgbClr val="00FF00"/>
                </a:solidFill>
                <a:latin typeface="Calibri"/>
              </a:rPr>
              <a:t>GREEN</a:t>
            </a:r>
            <a:r>
              <a:rPr sz="2400" b="0">
                <a:latin typeface="Calibri"/>
              </a:rPr>
              <a:t> — 20% complete</a:t>
            </a:r>
            <a:endParaRPr sz="2400"/>
          </a:p>
          <a:p>
            <a:pPr lvl="1" algn="l">
              <a:defRPr/>
            </a:pPr>
            <a:r>
              <a:rPr sz="2400" b="0">
                <a:latin typeface="Calibri"/>
              </a:rPr>
              <a:t>Original Start: 21 Jun 2026 | Revised: N/A | Actual Start: 20 Jun 2026</a:t>
            </a:r>
            <a:endParaRPr sz="2400"/>
          </a:p>
          <a:p>
            <a:pPr lvl="1" algn="l">
              <a:defRPr/>
            </a:pPr>
            <a:r>
              <a:rPr sz="2400" b="0">
                <a:latin typeface="Calibri"/>
              </a:rPr>
              <a:t>Original End:   4 Jul 2026 | Revised: N/A | Actual End: N/A</a:t>
            </a:r>
            <a:endParaRPr sz="2400"/>
          </a:p>
          <a:p>
            <a:pPr lvl="1" algn="l">
              <a:defRPr/>
            </a:pPr>
            <a:r>
              <a:rPr sz="2400" b="0">
                <a:latin typeface="Calibri"/>
              </a:rPr>
              <a:t>Preliminary next-step options identified</a:t>
            </a:r>
            <a:endParaRPr sz="2400"/>
          </a:p>
          <a:p>
            <a:pPr lvl="1" algn="l">
              <a:defRPr/>
            </a:pPr>
            <a:r>
              <a:rPr sz="2400" b="0">
                <a:latin typeface="Calibri"/>
              </a:rPr>
              <a:t>Remaining: document possible actions (deploy vs. revise), final decision, Phase 5 report</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8702581" name="Title 1"/>
          <p:cNvSpPr>
            <a:spLocks noGrp="1"/>
          </p:cNvSpPr>
          <p:nvPr>
            <p:ph type="title"/>
          </p:nvPr>
        </p:nvSpPr>
        <p:spPr bwMode="auto"/>
        <p:txBody>
          <a:bodyPr/>
          <a:lstStyle/>
          <a:p>
            <a:pPr>
              <a:defRPr/>
            </a:pPr>
            <a:r>
              <a:rPr lang="en-US"/>
              <a:t>Items To Be Started</a:t>
            </a:r>
            <a:endParaRPr/>
          </a:p>
        </p:txBody>
      </p:sp>
      <p:sp>
        <p:nvSpPr>
          <p:cNvPr id="850475410"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Task 6.1: Plan Deployment</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a:p>
            <a:pPr algn="l">
              <a:defRPr/>
            </a:pPr>
            <a:r>
              <a:rPr sz="2600" b="1">
                <a:latin typeface="Calibri"/>
              </a:rPr>
              <a:t>Task 6.2: Plan Monitoring and Maintenance</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333948" name="Title 1"/>
          <p:cNvSpPr>
            <a:spLocks noGrp="1"/>
          </p:cNvSpPr>
          <p:nvPr>
            <p:ph type="title"/>
          </p:nvPr>
        </p:nvSpPr>
        <p:spPr bwMode="auto"/>
        <p:txBody>
          <a:bodyPr/>
          <a:lstStyle/>
          <a:p>
            <a:pPr>
              <a:defRPr/>
            </a:pPr>
            <a:r>
              <a:rPr lang="en-US"/>
              <a:t>Sample of Items Completed This Week</a:t>
            </a:r>
            <a:endParaRPr/>
          </a:p>
        </p:txBody>
      </p:sp>
      <p:sp>
        <p:nvSpPr>
          <p:cNvPr id="1143652213"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1800" b="1">
                <a:latin typeface="Calibri"/>
              </a:rPr>
              <a:t>Model Evaluation Summary — Business Goal Alignment</a:t>
            </a:r>
            <a:endParaRPr sz="1800"/>
          </a:p>
          <a:p>
            <a:pPr algn="l">
              <a:defRPr/>
            </a:pPr>
            <a:r>
              <a:rPr sz="1800" b="1">
                <a:latin typeface="Calibri"/>
              </a:rPr>
              <a:t>Data Mining Goals Met:</a:t>
            </a:r>
            <a:endParaRPr sz="1800"/>
          </a:p>
          <a:p>
            <a:pPr lvl="1" algn="l">
              <a:defRPr/>
            </a:pPr>
            <a:r>
              <a:rPr sz="1800" b="0">
                <a:latin typeface="Calibri"/>
              </a:rPr>
              <a:t>Predict price using 16 features: RF achieves R²=0.946, MAE=$35.58 (~3.5% error)</a:t>
            </a:r>
            <a:endParaRPr sz="1800"/>
          </a:p>
          <a:p>
            <a:pPr lvl="1" algn="l">
              <a:defRPr/>
            </a:pPr>
            <a:r>
              <a:rPr sz="1800" b="0">
                <a:latin typeface="Calibri"/>
              </a:rPr>
              <a:t>Identify most important features: location_cluster and region are top drivers</a:t>
            </a:r>
            <a:endParaRPr sz="1800"/>
          </a:p>
          <a:p>
            <a:pPr lvl="1" algn="l">
              <a:defRPr/>
            </a:pPr>
            <a:r>
              <a:rPr sz="1800" b="0">
                <a:latin typeface="Calibri"/>
              </a:rPr>
              <a:t>Compare three tree-based models: RF (0.946) &gt; XGB (0.939) &gt; HistGB (0.934)</a:t>
            </a:r>
            <a:endParaRPr sz="1800"/>
          </a:p>
          <a:p>
            <a:pPr algn="l">
              <a:defRPr/>
            </a:pPr>
            <a:r>
              <a:rPr sz="1800" b="1">
                <a:latin typeface="Calibri"/>
              </a:rPr>
              <a:t>Feature Importance Consensus (Top 4 per model):</a:t>
            </a:r>
            <a:endParaRPr sz="1800"/>
          </a:p>
          <a:p>
            <a:pPr algn="l">
              <a:defRPr/>
            </a:pPr>
            <a:r>
              <a:rPr sz="1800" b="0">
                <a:latin typeface="Calibri"/>
              </a:rPr>
              <a:t>Conclusion: All three models met the accuracy target. Geography is the dominant price driver.</a:t>
            </a:r>
            <a:endParaRPr sz="1800"/>
          </a:p>
        </p:txBody>
      </p:sp>
      <p:graphicFrame>
        <p:nvGraphicFramePr>
          <p:cNvPr id="709896849" name=""/>
          <p:cNvGraphicFramePr>
            <a:graphicFrameLocks xmlns:a="http://schemas.openxmlformats.org/drawingml/2006/main"/>
          </p:cNvGraphicFramePr>
          <p:nvPr/>
        </p:nvGraphicFramePr>
        <p:xfrm rot="0">
          <a:off x="967320" y="3574784"/>
          <a:ext cx="2624328" cy="2072638"/>
        </p:xfrm>
        <a:graphic>
          <a:graphicData uri="http://schemas.openxmlformats.org/drawingml/2006/table">
            <a:tbl>
              <a:tblPr firstRow="1" firstCol="0" lastRow="0" lastCol="0" bandRow="1" bandCol="0">
                <a:tableStyleId>{5C22544A-7EE6-4342-B048-85BDC9FD1C3A}</a:tableStyleId>
              </a:tblPr>
              <a:tblGrid>
                <a:gridCol w="1171719"/>
                <a:gridCol w="360528"/>
                <a:gridCol w="630924"/>
                <a:gridCol w="461151"/>
              </a:tblGrid>
              <a:tr h="255027">
                <a:tc>
                  <a:txBody>
                    <a:bodyPr/>
                    <a:p>
                      <a:pPr>
                        <a:defRPr/>
                      </a:pPr>
                      <a:r>
                        <a:rPr lang="en-US" sz="1100" b="1" i="0" u="none" strike="noStrike" cap="none" spc="0">
                          <a:solidFill>
                            <a:schemeClr val="lt1"/>
                          </a:solidFill>
                          <a:latin typeface="Calibri"/>
                          <a:ea typeface="Calibri"/>
                          <a:cs typeface="Calibri"/>
                        </a:rPr>
                        <a:t>Feature</a:t>
                      </a:r>
                      <a:endParaRPr sz="1100"/>
                    </a:p>
                  </a:txBody>
                  <a:tcPr/>
                </a:tc>
                <a:tc>
                  <a:txBody>
                    <a:bodyPr/>
                    <a:p>
                      <a:pPr>
                        <a:defRPr/>
                      </a:pPr>
                      <a:r>
                        <a:rPr lang="en-US" sz="1100" b="1" i="0" u="none" strike="noStrike" cap="none" spc="0">
                          <a:solidFill>
                            <a:schemeClr val="lt1"/>
                          </a:solidFill>
                          <a:latin typeface="Calibri"/>
                          <a:ea typeface="Calibri"/>
                          <a:cs typeface="Calibri"/>
                        </a:rPr>
                        <a:t>RF</a:t>
                      </a:r>
                      <a:endParaRPr sz="1100"/>
                    </a:p>
                  </a:txBody>
                  <a:tcPr/>
                </a:tc>
                <a:tc>
                  <a:txBody>
                    <a:bodyPr/>
                    <a:p>
                      <a:pPr>
                        <a:defRPr/>
                      </a:pPr>
                      <a:r>
                        <a:rPr lang="en-US" sz="1100" b="1" i="0" u="none" strike="noStrike" cap="none" spc="0">
                          <a:solidFill>
                            <a:schemeClr val="lt1"/>
                          </a:solidFill>
                          <a:latin typeface="Calibri"/>
                          <a:ea typeface="Calibri"/>
                          <a:cs typeface="Calibri"/>
                        </a:rPr>
                        <a:t>HistGB</a:t>
                      </a:r>
                      <a:endParaRPr sz="1100"/>
                    </a:p>
                  </a:txBody>
                  <a:tcPr/>
                </a:tc>
                <a:tc>
                  <a:txBody>
                    <a:bodyPr/>
                    <a:p>
                      <a:pPr>
                        <a:defRPr/>
                      </a:pPr>
                      <a:r>
                        <a:rPr lang="en-US" sz="1100" b="1" i="0" u="none" strike="noStrike" cap="none" spc="0">
                          <a:solidFill>
                            <a:schemeClr val="lt1"/>
                          </a:solidFill>
                          <a:latin typeface="Calibri"/>
                          <a:ea typeface="Calibri"/>
                          <a:cs typeface="Calibri"/>
                        </a:rPr>
                        <a:t>XGB</a:t>
                      </a:r>
                      <a:endParaRPr sz="1100"/>
                    </a:p>
                  </a:txBody>
                  <a:tcPr/>
                </a:tc>
              </a:tr>
              <a:tr h="255027">
                <a:tc>
                  <a:txBody>
                    <a:bodyPr/>
                    <a:p>
                      <a:pPr>
                        <a:defRPr/>
                      </a:pPr>
                      <a:r>
                        <a:rPr lang="en-US" sz="1100" b="0" i="0" u="none" strike="noStrike" cap="none" spc="0">
                          <a:solidFill>
                            <a:schemeClr val="dk1"/>
                          </a:solidFill>
                          <a:latin typeface="Calibri"/>
                          <a:ea typeface="Calibri"/>
                          <a:cs typeface="Calibri"/>
                        </a:rPr>
                        <a:t>location_cluster </a:t>
                      </a:r>
                      <a:endParaRPr sz="1100"/>
                    </a:p>
                  </a:txBody>
                  <a:tcPr/>
                </a:tc>
                <a:tc>
                  <a:txBody>
                    <a:bodyPr/>
                    <a:p>
                      <a:pPr>
                        <a:defRPr/>
                      </a:pPr>
                      <a:r>
                        <a:rPr sz="1100"/>
                        <a:t>1</a:t>
                      </a:r>
                      <a:endParaRPr sz="1100"/>
                    </a:p>
                  </a:txBody>
                  <a:tcPr/>
                </a:tc>
                <a:tc>
                  <a:txBody>
                    <a:bodyPr/>
                    <a:p>
                      <a:pPr>
                        <a:defRPr/>
                      </a:pPr>
                      <a:r>
                        <a:rPr sz="1100"/>
                        <a:t>1</a:t>
                      </a:r>
                      <a:endParaRPr sz="1100"/>
                    </a:p>
                  </a:txBody>
                  <a:tcPr/>
                </a:tc>
                <a:tc>
                  <a:txBody>
                    <a:bodyPr/>
                    <a:p>
                      <a:pPr>
                        <a:defRPr/>
                      </a:pPr>
                      <a:r>
                        <a:rPr sz="1100"/>
                        <a:t>1</a:t>
                      </a:r>
                      <a:endParaRPr sz="1100"/>
                    </a:p>
                  </a:txBody>
                  <a:tcPr/>
                </a:tc>
              </a:tr>
              <a:tr h="255027">
                <a:tc>
                  <a:txBody>
                    <a:bodyPr/>
                    <a:p>
                      <a:pPr algn="l">
                        <a:defRPr/>
                      </a:pPr>
                      <a:r>
                        <a:rPr lang="en-US" sz="1100" b="0" i="0" u="none" strike="noStrike" cap="none" spc="0">
                          <a:solidFill>
                            <a:schemeClr val="dk1"/>
                          </a:solidFill>
                          <a:latin typeface="Calibri"/>
                          <a:ea typeface="Calibri"/>
                          <a:cs typeface="Calibri"/>
                        </a:rPr>
                        <a:t>region</a:t>
                      </a:r>
                      <a:endParaRPr sz="1100"/>
                    </a:p>
                  </a:txBody>
                  <a:tcPr/>
                </a:tc>
                <a:tc>
                  <a:txBody>
                    <a:bodyPr/>
                    <a:p>
                      <a:pPr>
                        <a:defRPr/>
                      </a:pPr>
                      <a:r>
                        <a:rPr sz="1100"/>
                        <a:t>2</a:t>
                      </a:r>
                      <a:endParaRPr sz="1100"/>
                    </a:p>
                  </a:txBody>
                  <a:tcPr/>
                </a:tc>
                <a:tc>
                  <a:txBody>
                    <a:bodyPr/>
                    <a:p>
                      <a:pPr>
                        <a:defRPr/>
                      </a:pPr>
                      <a:r>
                        <a:rPr sz="1100"/>
                        <a:t>3</a:t>
                      </a:r>
                      <a:endParaRPr sz="1100"/>
                    </a:p>
                  </a:txBody>
                  <a:tcPr/>
                </a:tc>
                <a:tc>
                  <a:txBody>
                    <a:bodyPr/>
                    <a:p>
                      <a:pPr>
                        <a:defRPr/>
                      </a:pPr>
                      <a:r>
                        <a:rPr sz="1100"/>
                        <a:t>2</a:t>
                      </a:r>
                      <a:endParaRPr sz="1100"/>
                    </a:p>
                  </a:txBody>
                  <a:tcPr/>
                </a:tc>
              </a:tr>
              <a:tr h="255027">
                <a:tc>
                  <a:txBody>
                    <a:bodyPr/>
                    <a:p>
                      <a:pPr>
                        <a:defRPr/>
                      </a:pPr>
                      <a:r>
                        <a:rPr lang="en-US" sz="1100" b="0" i="0" u="none" strike="noStrike" cap="none" spc="0">
                          <a:solidFill>
                            <a:schemeClr val="dk1"/>
                          </a:solidFill>
                          <a:latin typeface="Calibri"/>
                          <a:ea typeface="Calibri"/>
                          <a:cs typeface="Calibri"/>
                        </a:rPr>
                        <a:t>sqfeet</a:t>
                      </a:r>
                      <a:endParaRPr sz="1100"/>
                    </a:p>
                  </a:txBody>
                  <a:tcPr/>
                </a:tc>
                <a:tc>
                  <a:txBody>
                    <a:bodyPr/>
                    <a:p>
                      <a:pPr>
                        <a:defRPr/>
                      </a:pPr>
                      <a:r>
                        <a:rPr sz="1100"/>
                        <a:t>3</a:t>
                      </a:r>
                      <a:endParaRPr sz="1100"/>
                    </a:p>
                  </a:txBody>
                  <a:tcPr/>
                </a:tc>
                <a:tc>
                  <a:txBody>
                    <a:bodyPr/>
                    <a:p>
                      <a:pPr>
                        <a:defRPr/>
                      </a:pPr>
                      <a:r>
                        <a:rPr sz="1100"/>
                        <a:t>2</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long</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baths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3</a:t>
                      </a:r>
                      <a:endParaRPr sz="1100"/>
                    </a:p>
                  </a:txBody>
                  <a:tcPr/>
                </a:tc>
              </a:tr>
              <a:tr h="255027">
                <a:tc>
                  <a:txBody>
                    <a:bodyPr/>
                    <a:p>
                      <a:pPr>
                        <a:defRPr/>
                      </a:pPr>
                      <a:r>
                        <a:rPr lang="en-US" sz="1100" b="0" i="0" u="none" strike="noStrike" cap="none" spc="0">
                          <a:solidFill>
                            <a:schemeClr val="dk1"/>
                          </a:solidFill>
                          <a:latin typeface="Calibri"/>
                          <a:ea typeface="Calibri"/>
                          <a:cs typeface="Calibri"/>
                        </a:rPr>
                        <a:t>laundry_options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8959739" name="Title 1"/>
          <p:cNvSpPr>
            <a:spLocks noGrp="1"/>
          </p:cNvSpPr>
          <p:nvPr>
            <p:ph type="title"/>
          </p:nvPr>
        </p:nvSpPr>
        <p:spPr bwMode="auto"/>
        <p:txBody>
          <a:bodyPr/>
          <a:lstStyle/>
          <a:p>
            <a:pPr>
              <a:defRPr/>
            </a:pPr>
            <a:r>
              <a:rPr lang="en-US"/>
              <a:t>Issues, Risks, Concerns</a:t>
            </a:r>
            <a:endParaRPr/>
          </a:p>
        </p:txBody>
      </p:sp>
      <p:sp>
        <p:nvSpPr>
          <p:cNvPr id="208175831"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600" b="1">
                <a:latin typeface="Calibri"/>
              </a:rPr>
              <a:t>Issues</a:t>
            </a:r>
            <a:endParaRPr sz="2600"/>
          </a:p>
          <a:p>
            <a:pPr lvl="1" algn="l">
              <a:defRPr/>
            </a:pPr>
            <a:r>
              <a:rPr sz="2600" b="0">
                <a:latin typeface="Calibri"/>
              </a:rPr>
              <a:t>None at this time</a:t>
            </a:r>
            <a:endParaRPr sz="2600"/>
          </a:p>
          <a:p>
            <a:pPr algn="l">
              <a:defRPr/>
            </a:pPr>
            <a:r>
              <a:rPr sz="2600" b="1">
                <a:latin typeface="Calibri"/>
              </a:rPr>
              <a:t>Risks</a:t>
            </a:r>
            <a:endParaRPr sz="2600"/>
          </a:p>
          <a:p>
            <a:pPr lvl="1" algn="l">
              <a:defRPr/>
            </a:pPr>
            <a:r>
              <a:rPr sz="2600" b="0">
                <a:latin typeface="Calibri"/>
              </a:rPr>
              <a:t>None at this time</a:t>
            </a:r>
            <a:endParaRPr sz="2600"/>
          </a:p>
          <a:p>
            <a:pPr algn="l">
              <a:defRPr/>
            </a:pPr>
            <a:r>
              <a:rPr sz="2600" b="1">
                <a:latin typeface="Calibri"/>
              </a:rPr>
              <a:t>Concerns</a:t>
            </a:r>
            <a:endParaRPr sz="2600"/>
          </a:p>
          <a:p>
            <a:pPr lvl="1" algn="l">
              <a:defRPr/>
            </a:pPr>
            <a:r>
              <a:rPr sz="2600" b="0">
                <a:latin typeface="Calibri"/>
              </a:rPr>
              <a:t>None at this time</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1475677" name="Title 1"/>
          <p:cNvSpPr>
            <a:spLocks noGrp="1"/>
          </p:cNvSpPr>
          <p:nvPr>
            <p:ph type="title"/>
          </p:nvPr>
        </p:nvSpPr>
        <p:spPr bwMode="auto"/>
        <p:txBody>
          <a:bodyPr/>
          <a:lstStyle/>
          <a:p>
            <a:pPr>
              <a:defRPr/>
            </a:pPr>
            <a:r>
              <a:rPr lang="en-US"/>
              <a:t>Next Steps</a:t>
            </a:r>
            <a:endParaRPr/>
          </a:p>
        </p:txBody>
      </p:sp>
      <p:sp>
        <p:nvSpPr>
          <p:cNvPr id="117379679"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lgn="l">
              <a:lnSpc>
                <a:spcPct val="100000"/>
              </a:lnSpc>
              <a:defRPr/>
            </a:pPr>
            <a:r>
              <a:rPr sz="2600" b="1">
                <a:latin typeface="Calibri"/>
              </a:rPr>
              <a:t>Task 5.2: Review Process (finalise)</a:t>
            </a:r>
            <a:endParaRPr sz="2600"/>
          </a:p>
          <a:p>
            <a:pPr lvl="1" algn="l">
              <a:defRPr/>
            </a:pPr>
            <a:r>
              <a:rPr sz="2600" b="0">
                <a:latin typeface="Calibri"/>
              </a:rPr>
              <a:t>Original Start: 21 Jun 2026 | Revised: N/A | Actual Start: 19 Jun 2026</a:t>
            </a:r>
            <a:endParaRPr sz="2600"/>
          </a:p>
          <a:p>
            <a:pPr lvl="1" algn="l">
              <a:defRPr/>
            </a:pPr>
            <a:r>
              <a:rPr sz="2600" b="0">
                <a:latin typeface="Calibri"/>
              </a:rPr>
              <a:t>Original End:   4 Jul 2026 | Revised: N/A | Actual End: N/A</a:t>
            </a:r>
            <a:endParaRPr sz="2600"/>
          </a:p>
          <a:p>
            <a:pPr algn="l">
              <a:defRPr/>
            </a:pPr>
            <a:r>
              <a:rPr sz="2600" b="1">
                <a:latin typeface="Calibri"/>
              </a:rPr>
              <a:t>Task 5.3: Determine Next Steps (continuing)</a:t>
            </a:r>
            <a:endParaRPr sz="2600"/>
          </a:p>
          <a:p>
            <a:pPr lvl="1" algn="l">
              <a:defRPr/>
            </a:pPr>
            <a:r>
              <a:rPr sz="2600" b="0">
                <a:latin typeface="Calibri"/>
              </a:rPr>
              <a:t>Original Start: 21 Jun 2026 | Revised: N/A | Actual Start: 20 Jun 2026</a:t>
            </a:r>
            <a:endParaRPr sz="2600"/>
          </a:p>
          <a:p>
            <a:pPr lvl="1" algn="l">
              <a:defRPr/>
            </a:pPr>
            <a:r>
              <a:rPr sz="2600" b="0">
                <a:latin typeface="Calibri"/>
              </a:rPr>
              <a:t>Original End:   4 Jul 2026 | Revised: N/A | Actual End: N/A</a:t>
            </a:r>
            <a:endParaRPr sz="2600"/>
          </a:p>
          <a:p>
            <a:pPr algn="l">
              <a:defRPr/>
            </a:pPr>
            <a:r>
              <a:rPr sz="2600" b="1">
                <a:latin typeface="Calibri"/>
              </a:rPr>
              <a:t>Task 6.1: Plan Deployment</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a:p>
            <a:pPr algn="l">
              <a:defRPr/>
            </a:pPr>
            <a:r>
              <a:rPr sz="2600" b="1">
                <a:latin typeface="Calibri"/>
              </a:rPr>
              <a:t>Task 6.2: Plan Monitoring and Maintenance</a:t>
            </a:r>
            <a:endParaRPr sz="2600"/>
          </a:p>
          <a:p>
            <a:pPr lvl="1" algn="l">
              <a:defRPr/>
            </a:pPr>
            <a:r>
              <a:rPr sz="2600" b="0">
                <a:latin typeface="Calibri"/>
              </a:rPr>
              <a:t>Original Start: 5 Jul 2026 | Revised: N/A | Actual Start: N/A</a:t>
            </a:r>
            <a:endParaRPr sz="2600"/>
          </a:p>
          <a:p>
            <a:pPr lvl="1" algn="l">
              <a:defRPr/>
            </a:pPr>
            <a:r>
              <a:rPr sz="2600" b="0">
                <a:latin typeface="Calibri"/>
              </a:rPr>
              <a:t>Original End:   18 Jul 2026 | Revised: N/A | Actual End: N/A</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4668112" name="Title 1"/>
          <p:cNvSpPr>
            <a:spLocks noGrp="1"/>
          </p:cNvSpPr>
          <p:nvPr>
            <p:ph type="title"/>
          </p:nvPr>
        </p:nvSpPr>
        <p:spPr bwMode="auto"/>
        <p:txBody>
          <a:bodyPr/>
          <a:lstStyle/>
          <a:p>
            <a:pPr>
              <a:defRPr/>
            </a:pPr>
            <a:r>
              <a:rPr lang="en-US"/>
              <a:t>Personal Reflection</a:t>
            </a:r>
            <a:endParaRPr/>
          </a:p>
        </p:txBody>
      </p:sp>
      <p:sp>
        <p:nvSpPr>
          <p:cNvPr id="1100190955"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600" b="0">
                <a:latin typeface="Calibri"/>
              </a:rPr>
              <a:t>Phase 5 is progressing well. The model evaluation work confirmed what I suspected from Phase 4, Random Forest is the clear winner, and location-based features dominate the rankings. The process review has been useful for stepping back and looking at the project holistically; I identified a few areas where I could have been more efficient during data preparation. The main push now is wrapping up the Phase 5 report and getting clarity on the Phase 6 tasks, since Professor Nardi confirmed that deployment plans need to be written even without a physical deployment. I feel on track for the July 4 deadline.</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9603863"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6385694"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19,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19,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6089534" name="Title 1"/>
          <p:cNvSpPr>
            <a:spLocks noGrp="1"/>
          </p:cNvSpPr>
          <p:nvPr>
            <p:ph type="title"/>
          </p:nvPr>
        </p:nvSpPr>
        <p:spPr bwMode="auto"/>
        <p:txBody>
          <a:bodyPr/>
          <a:lstStyle/>
          <a:p>
            <a:pPr>
              <a:defRPr/>
            </a:pPr>
            <a:r>
              <a:rPr lang="en-US"/>
              <a:t>Agenda</a:t>
            </a:r>
            <a:endParaRPr/>
          </a:p>
        </p:txBody>
      </p:sp>
      <p:sp>
        <p:nvSpPr>
          <p:cNvPr id="1747646738"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9220740" name="Title 1"/>
          <p:cNvSpPr>
            <a:spLocks noGrp="1"/>
          </p:cNvSpPr>
          <p:nvPr>
            <p:ph type="title"/>
          </p:nvPr>
        </p:nvSpPr>
        <p:spPr bwMode="auto"/>
        <p:txBody>
          <a:bodyPr/>
          <a:lstStyle/>
          <a:p>
            <a:pPr>
              <a:defRPr/>
            </a:pPr>
            <a:r>
              <a:rPr lang="en-US"/>
              <a:t>Status Overview</a:t>
            </a:r>
            <a:endParaRPr/>
          </a:p>
        </p:txBody>
      </p:sp>
      <p:sp>
        <p:nvSpPr>
          <p:cNvPr id="993530990"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a:bodyPr>
          <a:lstStyle/>
          <a:p>
            <a:pPr algn="l">
              <a:lnSpc>
                <a:spcPct val="100000"/>
              </a:lnSpc>
              <a:defRPr/>
            </a:pPr>
            <a:r>
              <a:rPr sz="1200" b="1">
                <a:latin typeface="Calibri"/>
              </a:rPr>
              <a:t>Project Status: </a:t>
            </a:r>
            <a:r>
              <a:rPr sz="1200" b="1">
                <a:solidFill>
                  <a:srgbClr val="00FF00"/>
                </a:solidFill>
                <a:latin typeface="Calibri"/>
              </a:rPr>
              <a:t>GREEN</a:t>
            </a:r>
            <a:endParaRPr/>
          </a:p>
          <a:p>
            <a:pPr algn="l">
              <a:defRPr/>
            </a:pPr>
            <a:r>
              <a:rPr sz="1100" b="1">
                <a:latin typeface="Calibri"/>
              </a:rPr>
              <a:t>Task 4.2: Generate Test Design</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algn="l">
              <a:defRPr/>
            </a:pPr>
            <a:r>
              <a:rPr sz="1100" b="1">
                <a:latin typeface="Calibri"/>
              </a:rPr>
              <a:t>Task 4.3: Build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algn="l">
              <a:defRPr/>
            </a:pPr>
            <a:r>
              <a:rPr sz="1100" b="1">
                <a:latin typeface="Calibri"/>
              </a:rPr>
              <a:t>Task 4.4: Assess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algn="l">
              <a:defRPr/>
            </a:pPr>
            <a:r>
              <a:rPr sz="1100" b="1">
                <a:latin typeface="Calibri"/>
              </a:rPr>
              <a:t>Task 5.1: Evaluate Results</a:t>
            </a:r>
            <a:endParaRPr/>
          </a:p>
          <a:p>
            <a:pPr lvl="1" algn="l">
              <a:defRPr/>
            </a:pPr>
            <a:r>
              <a:rPr sz="1000" b="0">
                <a:latin typeface="Calibri"/>
              </a:rPr>
              <a:t>Status: </a:t>
            </a:r>
            <a:r>
              <a:rPr sz="1000" b="0">
                <a:solidFill>
                  <a:srgbClr val="00FF00"/>
                </a:solidFill>
                <a:latin typeface="Calibri"/>
              </a:rPr>
              <a:t>GREEN</a:t>
            </a:r>
            <a:r>
              <a:rPr sz="1000" b="0">
                <a:latin typeface="Calibri"/>
              </a:rPr>
              <a:t> — 5% complete</a:t>
            </a:r>
            <a:endParaRPr/>
          </a:p>
          <a:p>
            <a:pPr lvl="1" algn="l">
              <a:defRPr/>
            </a:pPr>
            <a:r>
              <a:rPr sz="900" b="0">
                <a:latin typeface="Calibri"/>
              </a:rPr>
              <a:t>Original Start: 21 Jun 2026 | Revised: N/A | Actual Start: 19 Jun 2026</a:t>
            </a:r>
            <a:endParaRPr/>
          </a:p>
          <a:p>
            <a:pPr lvl="1" algn="l">
              <a:defRPr/>
            </a:pPr>
            <a:r>
              <a:rPr sz="900" b="0">
                <a:latin typeface="Calibri"/>
              </a:rPr>
              <a:t>Original End:   4 Jul 2026 | Revised: N/A | Actual End: N/A</a:t>
            </a:r>
            <a:endParaRPr/>
          </a:p>
          <a:p>
            <a:pPr algn="l">
              <a:defRPr/>
            </a:pPr>
            <a:r>
              <a:rPr sz="1100" b="1">
                <a:latin typeface="Calibri"/>
              </a:rPr>
              <a:t>Task 5.2: Review Process</a:t>
            </a:r>
            <a:endParaRPr/>
          </a:p>
          <a:p>
            <a:pPr lvl="1" algn="l">
              <a:defRPr/>
            </a:pPr>
            <a:r>
              <a:rPr sz="1000" b="0">
                <a:latin typeface="Calibri"/>
              </a:rPr>
              <a:t>Status: </a:t>
            </a:r>
            <a:r>
              <a:rPr sz="1000" b="0">
                <a:solidFill>
                  <a:srgbClr val="00FF00"/>
                </a:solidFill>
                <a:latin typeface="Calibri"/>
              </a:rPr>
              <a:t>GREEN</a:t>
            </a:r>
            <a:r>
              <a:rPr sz="1000" b="0">
                <a:latin typeface="Calibri"/>
              </a:rPr>
              <a:t> — 5% complete</a:t>
            </a:r>
            <a:endParaRPr/>
          </a:p>
          <a:p>
            <a:pPr lvl="1" algn="l">
              <a:defRPr/>
            </a:pPr>
            <a:r>
              <a:rPr sz="900" b="0">
                <a:latin typeface="Calibri"/>
              </a:rPr>
              <a:t>Original Start: 21 Jun 2026 | Revised: N/A | Actual Start: 19 Jun 2026</a:t>
            </a:r>
            <a:endParaRPr/>
          </a:p>
          <a:p>
            <a:pPr lvl="1" algn="l">
              <a:defRPr/>
            </a:pPr>
            <a:r>
              <a:rPr sz="900" b="0">
                <a:latin typeface="Calibri"/>
              </a:rPr>
              <a:t>Original End:   4 Jul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967713" name="Title 1"/>
          <p:cNvSpPr>
            <a:spLocks noGrp="1"/>
          </p:cNvSpPr>
          <p:nvPr>
            <p:ph type="title"/>
          </p:nvPr>
        </p:nvSpPr>
        <p:spPr bwMode="auto"/>
        <p:txBody>
          <a:bodyPr/>
          <a:lstStyle/>
          <a:p>
            <a:pPr>
              <a:defRPr/>
            </a:pPr>
            <a:r>
              <a:rPr lang="en-US"/>
              <a:t>Items Completed This Week</a:t>
            </a:r>
            <a:endParaRPr/>
          </a:p>
        </p:txBody>
      </p:sp>
      <p:sp>
        <p:nvSpPr>
          <p:cNvPr id="1392141726"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1">
                <a:latin typeface="Calibri"/>
              </a:rPr>
              <a:t>Task 4.2: Generate Test Design</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lvl="1" algn="l">
              <a:defRPr/>
            </a:pPr>
            <a:r>
              <a:rPr sz="1000" b="0">
                <a:latin typeface="Calibri"/>
              </a:rPr>
              <a:t>80/20 train-test split finalized (113,682 train / 28,421 test rows)</a:t>
            </a:r>
            <a:endParaRPr/>
          </a:p>
          <a:p>
            <a:pPr lvl="1" algn="l">
              <a:defRPr/>
            </a:pPr>
            <a:r>
              <a:rPr sz="1000" b="0">
                <a:latin typeface="Calibri"/>
              </a:rPr>
              <a:t>Evaluation metrics: MAE, MSE, RMSE, R², ASE, SSE, Observed Avg</a:t>
            </a:r>
            <a:endParaRPr/>
          </a:p>
          <a:p>
            <a:pPr lvl="1" algn="l">
              <a:defRPr/>
            </a:pPr>
            <a:r>
              <a:rPr sz="1000" b="0">
                <a:latin typeface="Calibri"/>
              </a:rPr>
              <a:t>Test design documented in Phase 4 report</a:t>
            </a:r>
            <a:endParaRPr/>
          </a:p>
          <a:p>
            <a:pPr algn="l">
              <a:defRPr/>
            </a:pPr>
            <a:r>
              <a:rPr sz="1100" b="1">
                <a:latin typeface="Calibri"/>
              </a:rPr>
              <a:t>Task 4.3: Build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lvl="1" algn="l">
              <a:defRPr/>
            </a:pPr>
            <a:r>
              <a:rPr sz="1000" b="0">
                <a:latin typeface="Calibri"/>
              </a:rPr>
              <a:t>All three models trained on 16-feature matrix (113,682 train rows)</a:t>
            </a:r>
            <a:endParaRPr/>
          </a:p>
          <a:p>
            <a:pPr lvl="1" algn="l">
              <a:defRPr/>
            </a:pPr>
            <a:r>
              <a:rPr sz="1000" b="0">
                <a:latin typeface="Calibri"/>
              </a:rPr>
              <a:t>Hyperparameter tuning completed across 6 iterative runs</a:t>
            </a:r>
            <a:endParaRPr/>
          </a:p>
          <a:p>
            <a:pPr lvl="1" algn="l">
              <a:defRPr/>
            </a:pPr>
            <a:r>
              <a:rPr sz="1000" b="0">
                <a:latin typeface="Calibri"/>
              </a:rPr>
              <a:t>Final configs: RF (n_estimators=500), HistGB (max_iter=3000, early_stopping), XGBoost (n_estimators=2000)</a:t>
            </a:r>
            <a:endParaRPr/>
          </a:p>
          <a:p>
            <a:pPr lvl="1" algn="l">
              <a:defRPr/>
            </a:pPr>
            <a:r>
              <a:rPr sz="1000" b="0">
                <a:latin typeface="Calibri"/>
              </a:rPr>
              <a:t>OvP, feature importance, and ASE-vs-trees plots generated for each model</a:t>
            </a:r>
            <a:endParaRPr/>
          </a:p>
          <a:p>
            <a:pPr algn="l">
              <a:defRPr/>
            </a:pPr>
            <a:r>
              <a:rPr sz="1100" b="1">
                <a:latin typeface="Calibri"/>
              </a:rPr>
              <a:t>Task 4.4: Assess Model</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7 Jun 2026 | Revised: N/A | Actual Start: 7 Jun 2026</a:t>
            </a:r>
            <a:endParaRPr/>
          </a:p>
          <a:p>
            <a:pPr lvl="1" algn="l">
              <a:defRPr/>
            </a:pPr>
            <a:r>
              <a:rPr sz="900" b="0">
                <a:latin typeface="Calibri"/>
              </a:rPr>
              <a:t>Original End:   20 Jun 2026 | Revised: N/A | Actual End: 19 Jun 2026</a:t>
            </a:r>
            <a:endParaRPr/>
          </a:p>
          <a:p>
            <a:pPr lvl="1" algn="l">
              <a:defRPr/>
            </a:pPr>
            <a:r>
              <a:rPr sz="1000" b="0">
                <a:latin typeface="Calibri"/>
              </a:rPr>
              <a:t>Random Forest: R²=0.946 (MAE: $35.58)</a:t>
            </a:r>
            <a:endParaRPr/>
          </a:p>
          <a:p>
            <a:pPr lvl="1" algn="l">
              <a:defRPr/>
            </a:pPr>
            <a:r>
              <a:rPr sz="1000" b="0">
                <a:latin typeface="Calibri"/>
              </a:rPr>
              <a:t>XGBoost: R²=0.939</a:t>
            </a:r>
            <a:endParaRPr/>
          </a:p>
          <a:p>
            <a:pPr lvl="1" algn="l">
              <a:defRPr/>
            </a:pPr>
            <a:r>
              <a:rPr sz="1000" b="0">
                <a:latin typeface="Calibri"/>
              </a:rPr>
              <a:t>HistGradientBoosting: R²=0.934</a:t>
            </a:r>
            <a:endParaRPr/>
          </a:p>
          <a:p>
            <a:pPr lvl="1" algn="l">
              <a:defRPr/>
            </a:pPr>
            <a:r>
              <a:rPr sz="1000" b="0">
                <a:latin typeface="Calibri"/>
              </a:rPr>
              <a:t>Feature importance analyzed across all three models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3354821" name="Title 1"/>
          <p:cNvSpPr>
            <a:spLocks noGrp="1"/>
          </p:cNvSpPr>
          <p:nvPr>
            <p:ph type="title"/>
          </p:nvPr>
        </p:nvSpPr>
        <p:spPr bwMode="auto"/>
        <p:txBody>
          <a:bodyPr/>
          <a:lstStyle/>
          <a:p>
            <a:pPr>
              <a:defRPr/>
            </a:pPr>
            <a:r>
              <a:rPr lang="en-US"/>
              <a:t>Items In Progress</a:t>
            </a:r>
            <a:endParaRPr/>
          </a:p>
        </p:txBody>
      </p:sp>
      <p:sp>
        <p:nvSpPr>
          <p:cNvPr id="775038291"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5.1: Evaluate Results</a:t>
            </a:r>
            <a:endParaRPr sz="2200"/>
          </a:p>
          <a:p>
            <a:pPr lvl="1" algn="l">
              <a:defRPr/>
            </a:pPr>
            <a:r>
              <a:rPr sz="2200" b="0">
                <a:latin typeface="Calibri"/>
              </a:rPr>
              <a:t>Status: </a:t>
            </a:r>
            <a:r>
              <a:rPr sz="2200" b="0">
                <a:solidFill>
                  <a:srgbClr val="00FF00"/>
                </a:solidFill>
                <a:latin typeface="Calibri"/>
              </a:rPr>
              <a:t>GREEN</a:t>
            </a:r>
            <a:r>
              <a:rPr sz="2200" b="0">
                <a:latin typeface="Calibri"/>
              </a:rPr>
              <a:t> — 5%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N/A</a:t>
            </a:r>
            <a:endParaRPr sz="2200"/>
          </a:p>
          <a:p>
            <a:pPr lvl="1" algn="l">
              <a:defRPr/>
            </a:pPr>
            <a:r>
              <a:rPr sz="2200" b="0">
                <a:latin typeface="Calibri"/>
              </a:rPr>
              <a:t>Remaining: compare model metrics, identify best performer, analyze feature importance</a:t>
            </a:r>
            <a:endParaRPr sz="2200"/>
          </a:p>
          <a:p>
            <a:pPr algn="l">
              <a:defRPr/>
            </a:pPr>
            <a:r>
              <a:rPr sz="2200" b="1">
                <a:latin typeface="Calibri"/>
              </a:rPr>
              <a:t>Task 5.2: Review Process</a:t>
            </a:r>
            <a:endParaRPr sz="2200"/>
          </a:p>
          <a:p>
            <a:pPr lvl="1" algn="l">
              <a:defRPr/>
            </a:pPr>
            <a:r>
              <a:rPr sz="2200" b="0">
                <a:latin typeface="Calibri"/>
              </a:rPr>
              <a:t>Status: </a:t>
            </a:r>
            <a:r>
              <a:rPr sz="2200" b="0">
                <a:solidFill>
                  <a:srgbClr val="00FF00"/>
                </a:solidFill>
                <a:latin typeface="Calibri"/>
              </a:rPr>
              <a:t>GREEN</a:t>
            </a:r>
            <a:r>
              <a:rPr sz="2200" b="0">
                <a:latin typeface="Calibri"/>
              </a:rPr>
              <a:t> — 5% complete</a:t>
            </a:r>
            <a:endParaRPr sz="2200"/>
          </a:p>
          <a:p>
            <a:pPr lvl="1" algn="l">
              <a:defRPr/>
            </a:pPr>
            <a:r>
              <a:rPr sz="2200" b="0">
                <a:latin typeface="Calibri"/>
              </a:rPr>
              <a:t>Original Start: 21 Jun 2026 | Revised: N/A | Actual Start: 19 Jun 2026</a:t>
            </a:r>
            <a:endParaRPr sz="2200"/>
          </a:p>
          <a:p>
            <a:pPr lvl="1" algn="l">
              <a:defRPr/>
            </a:pPr>
            <a:r>
              <a:rPr sz="2200" b="0">
                <a:latin typeface="Calibri"/>
              </a:rPr>
              <a:t>Original End:   4 Jul 2026 | Revised: N/A | Actual End: N/A</a:t>
            </a:r>
            <a:endParaRPr sz="2200"/>
          </a:p>
          <a:p>
            <a:pPr lvl="1" algn="l">
              <a:defRPr/>
            </a:pPr>
            <a:r>
              <a:rPr sz="2200" b="0">
                <a:latin typeface="Calibri"/>
              </a:rPr>
              <a:t>Remaining: assess data-mining goals, document gaps and lessons learned</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516374" name="Title 1"/>
          <p:cNvSpPr>
            <a:spLocks noGrp="1"/>
          </p:cNvSpPr>
          <p:nvPr>
            <p:ph type="title"/>
          </p:nvPr>
        </p:nvSpPr>
        <p:spPr bwMode="auto"/>
        <p:txBody>
          <a:bodyPr/>
          <a:lstStyle/>
          <a:p>
            <a:pPr>
              <a:defRPr/>
            </a:pPr>
            <a:r>
              <a:rPr lang="en-US"/>
              <a:t>Items To Be Started</a:t>
            </a:r>
            <a:endParaRPr/>
          </a:p>
        </p:txBody>
      </p:sp>
      <p:sp>
        <p:nvSpPr>
          <p:cNvPr id="349218303"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algn="l">
              <a:lnSpc>
                <a:spcPct val="100000"/>
              </a:lnSpc>
              <a:defRPr/>
            </a:pPr>
            <a:r>
              <a:rPr sz="2400" b="1">
                <a:latin typeface="Calibri"/>
              </a:rPr>
              <a:t>Task 5.3: Determine Next Steps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a:p>
            <a:pPr lvl="1" algn="l">
              <a:defRPr/>
            </a:pPr>
            <a:r>
              <a:rPr sz="2400" b="0">
                <a:latin typeface="Calibri"/>
              </a:rPr>
              <a:t>Decide deploy or revise; document recommended improvements</a:t>
            </a:r>
            <a:endParaRPr sz="2400"/>
          </a:p>
          <a:p>
            <a:pPr algn="l">
              <a:defRPr/>
            </a:pPr>
            <a:r>
              <a:rPr sz="2400" b="1">
                <a:latin typeface="Calibri"/>
              </a:rPr>
              <a:t>Task 6.1: Plan Deployment</a:t>
            </a:r>
            <a:endParaRPr sz="2400"/>
          </a:p>
          <a:p>
            <a:pPr lvl="1" algn="l">
              <a:defRPr/>
            </a:pPr>
            <a:r>
              <a:rPr sz="2400" b="0">
                <a:latin typeface="Calibri"/>
              </a:rPr>
              <a:t>Original Start: 5 Jul 2026 | Revised: N/A | Actual Start: N/A</a:t>
            </a:r>
            <a:endParaRPr sz="2400"/>
          </a:p>
          <a:p>
            <a:pPr lvl="1" algn="l">
              <a:defRPr/>
            </a:pPr>
            <a:r>
              <a:rPr sz="2400" b="0">
                <a:latin typeface="Calibri"/>
              </a:rPr>
              <a:t>Original End:   18 Jul 2026 | Revised: N/A | Actual End: N/A</a:t>
            </a:r>
            <a:endParaRPr sz="2400"/>
          </a:p>
          <a:p>
            <a:pPr algn="l">
              <a:defRPr/>
            </a:pPr>
            <a:r>
              <a:rPr sz="2400" b="1">
                <a:latin typeface="Calibri"/>
              </a:rPr>
              <a:t>Task 6.3: Final Presentation</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25 Jul 2026 | Revised: N/A | Actual End: N/A</a:t>
            </a:r>
            <a:endParaRPr sz="2400"/>
          </a:p>
          <a:p>
            <a:pPr algn="l">
              <a:defRPr/>
            </a:pPr>
            <a:r>
              <a:rPr sz="2400" b="1">
                <a:latin typeface="Calibri"/>
              </a:rPr>
              <a:t>Task 6.3: Final Report</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1 Aug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0603919" name="Title 1"/>
          <p:cNvSpPr>
            <a:spLocks noGrp="1"/>
          </p:cNvSpPr>
          <p:nvPr>
            <p:ph type="title"/>
          </p:nvPr>
        </p:nvSpPr>
        <p:spPr bwMode="auto"/>
        <p:txBody>
          <a:bodyPr/>
          <a:lstStyle/>
          <a:p>
            <a:pPr>
              <a:defRPr/>
            </a:pPr>
            <a:r>
              <a:rPr lang="en-US"/>
              <a:t>Sample of Items Completed This Week</a:t>
            </a:r>
            <a:endParaRPr/>
          </a:p>
        </p:txBody>
      </p:sp>
      <p:sp>
        <p:nvSpPr>
          <p:cNvPr id="1027991171" name="Content Placeholder 2"/>
          <p:cNvSpPr>
            <a:spLocks noGrp="1"/>
          </p:cNvSpPr>
          <p:nvPr>
            <p:ph idx="1"/>
          </p:nvPr>
        </p:nvSpPr>
        <p:spPr bwMode="auto">
          <a:xfrm>
            <a:off x="599088" y="1194215"/>
            <a:ext cx="10993815" cy="4453209"/>
          </a:xfrm>
        </p:spPr>
        <p:txBody>
          <a:bodyPr vertOverflow="overflow" horzOverflow="overflow" vert="horz" wrap="square" lIns="91440" tIns="45720" rIns="91440" bIns="45720" numCol="1" spcCol="0" rtlCol="0" fromWordArt="0" anchor="t" anchorCtr="0" forceAA="0" upright="0" compatLnSpc="0">
            <a:normAutofit/>
          </a:bodyPr>
          <a:lstStyle/>
          <a:p>
            <a:pPr algn="l">
              <a:lnSpc>
                <a:spcPct val="100000"/>
              </a:lnSpc>
              <a:spcBef>
                <a:spcPts val="431"/>
              </a:spcBef>
              <a:defRPr/>
            </a:pPr>
            <a:r>
              <a:rPr sz="1600" b="1">
                <a:latin typeface="Calibri"/>
              </a:rPr>
              <a:t>Model Performance Comparison</a:t>
            </a:r>
            <a:endParaRPr sz="1600"/>
          </a:p>
          <a:p>
            <a:pPr algn="l">
              <a:spcBef>
                <a:spcPts val="431"/>
              </a:spcBef>
              <a:spcAft>
                <a:spcPts val="0"/>
              </a:spcAft>
              <a:defRPr/>
            </a:pPr>
            <a:r>
              <a:rPr sz="1600" b="0">
                <a:latin typeface="Calibri"/>
              </a:rPr>
              <a:t>All three models achieved R² above 0.93. Random Forest is best: R²=0.946, MAE=$35.58 (~3.5% error vs $1,016 mean price).</a:t>
            </a:r>
            <a:endParaRPr sz="1600"/>
          </a:p>
          <a:p>
            <a:pPr marL="0" indent="0" algn="l">
              <a:buFont typeface="Arial"/>
              <a:buNone/>
              <a:defRPr/>
            </a:pPr>
            <a:endParaRPr sz="1600"/>
          </a:p>
          <a:p>
            <a:pPr marL="0" indent="0" algn="l">
              <a:buFont typeface="Arial"/>
              <a:buNone/>
              <a:defRPr/>
            </a:pPr>
            <a:endParaRPr sz="1600"/>
          </a:p>
          <a:p>
            <a:pPr marL="0" indent="0" algn="l">
              <a:buFont typeface="Arial"/>
              <a:buNone/>
              <a:defRPr/>
            </a:pPr>
            <a:endParaRPr sz="1600"/>
          </a:p>
          <a:p>
            <a:pPr algn="l">
              <a:spcBef>
                <a:spcPts val="719"/>
              </a:spcBef>
              <a:defRPr/>
            </a:pPr>
            <a:r>
              <a:rPr sz="1600" b="1">
                <a:latin typeface="Calibri"/>
              </a:rPr>
              <a:t>Feature Importance Rankings — Top 4 by Model</a:t>
            </a:r>
            <a:endParaRPr sz="1600"/>
          </a:p>
          <a:p>
            <a:pPr algn="l">
              <a:spcBef>
                <a:spcPts val="431"/>
              </a:spcBef>
              <a:defRPr/>
            </a:pPr>
            <a:r>
              <a:rPr sz="1600" b="0">
                <a:latin typeface="Calibri"/>
              </a:rPr>
              <a:t>Location-based features dominate: location_cluster is #1 across all models. Geographic features account for 4 of 7 ranked slots.</a:t>
            </a:r>
            <a:endParaRPr sz="1600"/>
          </a:p>
          <a:p>
            <a:pPr marL="0" indent="0" algn="l">
              <a:buFont typeface="Arial"/>
              <a:buNone/>
              <a:defRPr/>
            </a:pPr>
            <a:endParaRPr sz="1600"/>
          </a:p>
        </p:txBody>
      </p:sp>
      <p:graphicFrame>
        <p:nvGraphicFramePr>
          <p:cNvPr id="1191749914" name="Table 18145075"/>
          <p:cNvGraphicFramePr>
            <a:graphicFrameLocks xmlns:a="http://schemas.openxmlformats.org/drawingml/2006/main"/>
          </p:cNvGraphicFramePr>
          <p:nvPr/>
        </p:nvGraphicFramePr>
        <p:xfrm rot="0">
          <a:off x="1107394" y="1744367"/>
          <a:ext cx="5038343" cy="1036319"/>
        </p:xfrm>
        <a:graphic>
          <a:graphicData uri="http://schemas.openxmlformats.org/drawingml/2006/table">
            <a:tbl>
              <a:tblPr firstRow="1" firstCol="0" lastRow="0" lastCol="0" bandRow="1" bandCol="0">
                <a:tableStyleId>{5C22544A-7EE6-4342-B048-85BDC9FD1C3A}</a:tableStyleId>
              </a:tblPr>
              <a:tblGrid>
                <a:gridCol w="1227352"/>
                <a:gridCol w="787984"/>
                <a:gridCol w="1007668"/>
                <a:gridCol w="1007668"/>
                <a:gridCol w="1007668"/>
              </a:tblGrid>
              <a:tr h="256615">
                <a:tc>
                  <a:txBody>
                    <a:bodyPr/>
                    <a:p>
                      <a:pPr>
                        <a:defRPr/>
                      </a:pPr>
                      <a:r>
                        <a:rPr lang="en-US" sz="1100" b="1" i="0" u="none" strike="noStrike" cap="none" spc="0">
                          <a:solidFill>
                            <a:schemeClr val="lt1"/>
                          </a:solidFill>
                          <a:latin typeface="Calibri"/>
                          <a:ea typeface="Calibri"/>
                          <a:cs typeface="Calibri"/>
                        </a:rPr>
                        <a:t>Model</a:t>
                      </a:r>
                      <a:endParaRPr sz="1100"/>
                    </a:p>
                  </a:txBody>
                  <a:tcPr anchor="ctr"/>
                </a:tc>
                <a:tc>
                  <a:txBody>
                    <a:bodyPr/>
                    <a:p>
                      <a:pPr>
                        <a:defRPr/>
                      </a:pPr>
                      <a:r>
                        <a:rPr lang="en-US" sz="1100" b="1" i="0" u="none" strike="noStrike" cap="none" spc="0">
                          <a:solidFill>
                            <a:schemeClr val="lt1"/>
                          </a:solidFill>
                          <a:latin typeface="Calibri"/>
                          <a:ea typeface="Calibri"/>
                          <a:cs typeface="Calibri"/>
                        </a:rPr>
                        <a:t>MAE</a:t>
                      </a:r>
                      <a:endParaRPr sz="1100"/>
                    </a:p>
                  </a:txBody>
                  <a:tcPr anchor="ctr"/>
                </a:tc>
                <a:tc>
                  <a:txBody>
                    <a:bodyPr/>
                    <a:p>
                      <a:pPr>
                        <a:defRPr/>
                      </a:pPr>
                      <a:r>
                        <a:rPr lang="en-US" sz="1100" b="1" i="0" u="none" strike="noStrike" cap="none" spc="0">
                          <a:solidFill>
                            <a:schemeClr val="lt1"/>
                          </a:solidFill>
                          <a:latin typeface="Calibri"/>
                          <a:ea typeface="Calibri"/>
                          <a:cs typeface="Calibri"/>
                        </a:rPr>
                        <a:t>RMSE</a:t>
                      </a:r>
                      <a:endParaRPr sz="1100"/>
                    </a:p>
                  </a:txBody>
                  <a:tcPr anchor="ctr"/>
                </a:tc>
                <a:tc>
                  <a:txBody>
                    <a:bodyPr/>
                    <a:p>
                      <a:pPr>
                        <a:defRPr/>
                      </a:pPr>
                      <a:r>
                        <a:rPr lang="en-US" sz="1100" b="1" i="0" u="none" strike="noStrike" cap="none" spc="0">
                          <a:solidFill>
                            <a:schemeClr val="lt1"/>
                          </a:solidFill>
                          <a:latin typeface="Calibri"/>
                          <a:ea typeface="Calibri"/>
                          <a:cs typeface="Calibri"/>
                        </a:rPr>
                        <a:t>R²</a:t>
                      </a:r>
                      <a:endParaRPr sz="1100"/>
                    </a:p>
                  </a:txBody>
                  <a:tcPr anchor="ctr"/>
                </a:tc>
                <a:tc>
                  <a:txBody>
                    <a:bodyPr/>
                    <a:p>
                      <a:pPr>
                        <a:defRPr/>
                      </a:pPr>
                      <a:r>
                        <a:rPr lang="en-US" sz="1100" b="1" i="0" u="none" strike="noStrike" cap="none" spc="0">
                          <a:solidFill>
                            <a:schemeClr val="lt1"/>
                          </a:solidFill>
                          <a:latin typeface="Calibri"/>
                          <a:ea typeface="Calibri"/>
                          <a:cs typeface="Calibri"/>
                        </a:rPr>
                        <a:t>ASE</a:t>
                      </a:r>
                      <a:endParaRPr sz="1100"/>
                    </a:p>
                  </a:txBody>
                  <a:tcPr anchor="ctr"/>
                </a:tc>
              </a:tr>
              <a:tr h="256615">
                <a:tc>
                  <a:txBody>
                    <a:bodyPr/>
                    <a:p>
                      <a:pPr>
                        <a:defRPr/>
                      </a:pPr>
                      <a:r>
                        <a:rPr lang="en-US" sz="1100" b="0" i="0" u="none" strike="noStrike" cap="none" spc="0">
                          <a:solidFill>
                            <a:schemeClr val="dk1"/>
                          </a:solidFill>
                          <a:latin typeface="Calibri"/>
                          <a:ea typeface="Calibri"/>
                          <a:cs typeface="Calibri"/>
                        </a:rPr>
                        <a:t>Random Forest</a:t>
                      </a:r>
                      <a:endParaRPr sz="1100"/>
                    </a:p>
                  </a:txBody>
                  <a:tcPr anchor="ctr"/>
                </a:tc>
                <a:tc>
                  <a:txBody>
                    <a:bodyPr/>
                    <a:p>
                      <a:pPr>
                        <a:defRPr/>
                      </a:pPr>
                      <a:r>
                        <a:rPr lang="en-US" sz="1100" b="0" i="0" u="none" strike="noStrike" cap="none" spc="0">
                          <a:solidFill>
                            <a:schemeClr val="dk1"/>
                          </a:solidFill>
                          <a:latin typeface="Calibri"/>
                          <a:ea typeface="Calibri"/>
                          <a:cs typeface="Calibri"/>
                        </a:rPr>
                        <a:t>$35.58</a:t>
                      </a:r>
                      <a:endParaRPr sz="1100"/>
                    </a:p>
                  </a:txBody>
                  <a:tcPr anchor="ctr"/>
                </a:tc>
                <a:tc>
                  <a:txBody>
                    <a:bodyPr/>
                    <a:p>
                      <a:pPr>
                        <a:defRPr/>
                      </a:pPr>
                      <a:r>
                        <a:rPr lang="en-US" sz="1100" b="0" i="0" u="none" strike="noStrike" cap="none" spc="0">
                          <a:solidFill>
                            <a:schemeClr val="dk1"/>
                          </a:solidFill>
                          <a:latin typeface="Calibri"/>
                          <a:ea typeface="Calibri"/>
                          <a:cs typeface="Calibri"/>
                        </a:rPr>
                        <a:t>$77.32</a:t>
                      </a:r>
                      <a:endParaRPr sz="1100"/>
                    </a:p>
                  </a:txBody>
                  <a:tcPr anchor="ctr"/>
                </a:tc>
                <a:tc>
                  <a:txBody>
                    <a:bodyPr/>
                    <a:p>
                      <a:pPr>
                        <a:defRPr/>
                      </a:pPr>
                      <a:r>
                        <a:rPr lang="en-US" sz="1100" b="0" i="0" u="none" strike="noStrike" cap="none" spc="0">
                          <a:solidFill>
                            <a:schemeClr val="dk1"/>
                          </a:solidFill>
                          <a:latin typeface="Calibri"/>
                          <a:ea typeface="Calibri"/>
                          <a:cs typeface="Calibri"/>
                        </a:rPr>
                        <a:t>0.946</a:t>
                      </a:r>
                      <a:endParaRPr sz="1100"/>
                    </a:p>
                  </a:txBody>
                  <a:tcPr anchor="ctr"/>
                </a:tc>
                <a:tc>
                  <a:txBody>
                    <a:bodyPr/>
                    <a:p>
                      <a:pPr>
                        <a:defRPr/>
                      </a:pPr>
                      <a:r>
                        <a:rPr lang="en-US" sz="1100" b="0" i="0" u="none" strike="noStrike" cap="none" spc="0">
                          <a:solidFill>
                            <a:schemeClr val="dk1"/>
                          </a:solidFill>
                          <a:latin typeface="Calibri"/>
                          <a:ea typeface="Calibri"/>
                          <a:cs typeface="Calibri"/>
                        </a:rPr>
                        <a:t>5,978.4</a:t>
                      </a:r>
                      <a:endParaRPr sz="1100"/>
                    </a:p>
                  </a:txBody>
                  <a:tcPr anchor="ctr"/>
                </a:tc>
              </a:tr>
              <a:tr h="256615">
                <a:tc>
                  <a:txBody>
                    <a:bodyPr/>
                    <a:p>
                      <a:pPr>
                        <a:defRPr/>
                      </a:pPr>
                      <a:r>
                        <a:rPr lang="en-US" sz="1100" b="0" i="0" u="none" strike="noStrike" cap="none" spc="0">
                          <a:solidFill>
                            <a:schemeClr val="dk1"/>
                          </a:solidFill>
                          <a:latin typeface="Calibri"/>
                          <a:ea typeface="Calibri"/>
                          <a:cs typeface="Calibri"/>
                        </a:rPr>
                        <a:t>HistGradientBoost</a:t>
                      </a:r>
                      <a:endParaRPr sz="1100"/>
                    </a:p>
                  </a:txBody>
                  <a:tcPr anchor="ctr"/>
                </a:tc>
                <a:tc>
                  <a:txBody>
                    <a:bodyPr/>
                    <a:p>
                      <a:pPr>
                        <a:defRPr/>
                      </a:pPr>
                      <a:r>
                        <a:rPr lang="en-US" sz="1100" b="0" i="0" u="none" strike="noStrike" cap="none" spc="0">
                          <a:solidFill>
                            <a:schemeClr val="dk1"/>
                          </a:solidFill>
                          <a:latin typeface="Calibri"/>
                          <a:ea typeface="Calibri"/>
                          <a:cs typeface="Calibri"/>
                        </a:rPr>
                        <a:t>$47.07</a:t>
                      </a:r>
                      <a:endParaRPr sz="1100"/>
                    </a:p>
                  </a:txBody>
                  <a:tcPr anchor="ctr"/>
                </a:tc>
                <a:tc>
                  <a:txBody>
                    <a:bodyPr/>
                    <a:p>
                      <a:pPr>
                        <a:defRPr/>
                      </a:pPr>
                      <a:r>
                        <a:rPr lang="en-US" sz="1100" b="0" i="0" u="none" strike="noStrike" cap="none" spc="0">
                          <a:solidFill>
                            <a:schemeClr val="dk1"/>
                          </a:solidFill>
                          <a:latin typeface="Calibri"/>
                          <a:ea typeface="Calibri"/>
                          <a:cs typeface="Calibri"/>
                        </a:rPr>
                        <a:t>$85.70</a:t>
                      </a:r>
                      <a:endParaRPr sz="1100"/>
                    </a:p>
                  </a:txBody>
                  <a:tcPr anchor="ctr"/>
                </a:tc>
                <a:tc>
                  <a:txBody>
                    <a:bodyPr/>
                    <a:p>
                      <a:pPr>
                        <a:defRPr/>
                      </a:pPr>
                      <a:r>
                        <a:rPr lang="en-US" sz="1100" b="0" i="0" u="none" strike="noStrike" cap="none" spc="0">
                          <a:solidFill>
                            <a:schemeClr val="dk1"/>
                          </a:solidFill>
                          <a:latin typeface="Calibri"/>
                          <a:ea typeface="Calibri"/>
                          <a:cs typeface="Calibri"/>
                        </a:rPr>
                        <a:t>0.934</a:t>
                      </a:r>
                      <a:endParaRPr sz="1100"/>
                    </a:p>
                  </a:txBody>
                  <a:tcPr anchor="ctr"/>
                </a:tc>
                <a:tc>
                  <a:txBody>
                    <a:bodyPr/>
                    <a:p>
                      <a:pPr>
                        <a:defRPr/>
                      </a:pPr>
                      <a:r>
                        <a:rPr lang="en-US" sz="1100" b="0" i="0" u="none" strike="noStrike" cap="none" spc="0">
                          <a:solidFill>
                            <a:schemeClr val="dk1"/>
                          </a:solidFill>
                          <a:latin typeface="Calibri"/>
                          <a:ea typeface="Calibri"/>
                          <a:cs typeface="Calibri"/>
                        </a:rPr>
                        <a:t>7,344.9</a:t>
                      </a:r>
                      <a:endParaRPr sz="1100"/>
                    </a:p>
                  </a:txBody>
                  <a:tcPr anchor="ctr"/>
                </a:tc>
              </a:tr>
              <a:tr h="256615">
                <a:tc>
                  <a:txBody>
                    <a:bodyPr/>
                    <a:p>
                      <a:pPr>
                        <a:defRPr/>
                      </a:pPr>
                      <a:r>
                        <a:rPr lang="en-US" sz="1100" b="0" i="0" u="none" strike="noStrike" cap="none" spc="0">
                          <a:solidFill>
                            <a:schemeClr val="dk1"/>
                          </a:solidFill>
                          <a:latin typeface="Calibri"/>
                          <a:ea typeface="Calibri"/>
                          <a:cs typeface="Calibri"/>
                        </a:rPr>
                        <a:t>XGBoost</a:t>
                      </a:r>
                      <a:endParaRPr sz="1100"/>
                    </a:p>
                  </a:txBody>
                  <a:tcPr anchor="ctr"/>
                </a:tc>
                <a:tc>
                  <a:txBody>
                    <a:bodyPr/>
                    <a:p>
                      <a:pPr>
                        <a:defRPr/>
                      </a:pPr>
                      <a:r>
                        <a:rPr lang="en-US" sz="1100" b="0" i="0" u="none" strike="noStrike" cap="none" spc="0">
                          <a:solidFill>
                            <a:schemeClr val="dk1"/>
                          </a:solidFill>
                          <a:latin typeface="Calibri"/>
                          <a:ea typeface="Calibri"/>
                          <a:cs typeface="Calibri"/>
                        </a:rPr>
                        <a:t>$46.47</a:t>
                      </a:r>
                      <a:endParaRPr sz="1100"/>
                    </a:p>
                  </a:txBody>
                  <a:tcPr anchor="ctr"/>
                </a:tc>
                <a:tc>
                  <a:txBody>
                    <a:bodyPr/>
                    <a:p>
                      <a:pPr>
                        <a:defRPr/>
                      </a:pPr>
                      <a:r>
                        <a:rPr lang="en-US" sz="1100" b="0" i="0" u="none" strike="noStrike" cap="none" spc="0">
                          <a:solidFill>
                            <a:schemeClr val="dk1"/>
                          </a:solidFill>
                          <a:latin typeface="Calibri"/>
                          <a:ea typeface="Calibri"/>
                          <a:cs typeface="Calibri"/>
                        </a:rPr>
                        <a:t>$82.58</a:t>
                      </a:r>
                      <a:endParaRPr sz="1100"/>
                    </a:p>
                  </a:txBody>
                  <a:tcPr anchor="ctr"/>
                </a:tc>
                <a:tc>
                  <a:txBody>
                    <a:bodyPr/>
                    <a:p>
                      <a:pPr>
                        <a:defRPr/>
                      </a:pPr>
                      <a:r>
                        <a:rPr lang="en-US" sz="1100" b="0" i="0" u="none" strike="noStrike" cap="none" spc="0">
                          <a:solidFill>
                            <a:schemeClr val="dk1"/>
                          </a:solidFill>
                          <a:latin typeface="Calibri"/>
                          <a:ea typeface="Calibri"/>
                          <a:cs typeface="Calibri"/>
                        </a:rPr>
                        <a:t>0.939</a:t>
                      </a:r>
                      <a:endParaRPr sz="1100"/>
                    </a:p>
                  </a:txBody>
                  <a:tcPr anchor="ctr"/>
                </a:tc>
                <a:tc>
                  <a:txBody>
                    <a:bodyPr/>
                    <a:p>
                      <a:pPr>
                        <a:defRPr/>
                      </a:pPr>
                      <a:r>
                        <a:rPr lang="en-US" sz="1100" b="0" i="0" u="none" strike="noStrike" cap="none" spc="0">
                          <a:solidFill>
                            <a:schemeClr val="dk1"/>
                          </a:solidFill>
                          <a:latin typeface="Calibri"/>
                          <a:ea typeface="Calibri"/>
                          <a:cs typeface="Calibri"/>
                        </a:rPr>
                        <a:t>6,820.1</a:t>
                      </a:r>
                      <a:endParaRPr sz="1100"/>
                    </a:p>
                  </a:txBody>
                  <a:tcPr anchor="ctr"/>
                </a:tc>
              </a:tr>
            </a:tbl>
          </a:graphicData>
        </a:graphic>
      </p:graphicFrame>
      <p:graphicFrame>
        <p:nvGraphicFramePr>
          <p:cNvPr id="624840484" name=""/>
          <p:cNvGraphicFramePr>
            <a:graphicFrameLocks xmlns:a="http://schemas.openxmlformats.org/drawingml/2006/main"/>
          </p:cNvGraphicFramePr>
          <p:nvPr/>
        </p:nvGraphicFramePr>
        <p:xfrm rot="0">
          <a:off x="1107394" y="3429000"/>
          <a:ext cx="2624328" cy="2072639"/>
        </p:xfrm>
        <a:graphic>
          <a:graphicData uri="http://schemas.openxmlformats.org/drawingml/2006/table">
            <a:tbl>
              <a:tblPr firstRow="1" firstCol="0" lastRow="0" lastCol="0" bandRow="1" bandCol="0">
                <a:tableStyleId>{5C22544A-7EE6-4342-B048-85BDC9FD1C3A}</a:tableStyleId>
              </a:tblPr>
              <a:tblGrid>
                <a:gridCol w="1171719"/>
                <a:gridCol w="360529"/>
                <a:gridCol w="630925"/>
                <a:gridCol w="461152"/>
              </a:tblGrid>
              <a:tr h="255027">
                <a:tc>
                  <a:txBody>
                    <a:bodyPr/>
                    <a:p>
                      <a:pPr>
                        <a:defRPr/>
                      </a:pPr>
                      <a:r>
                        <a:rPr lang="en-US" sz="1100" b="1" i="0" u="none" strike="noStrike" cap="none" spc="0">
                          <a:solidFill>
                            <a:schemeClr val="lt1"/>
                          </a:solidFill>
                          <a:latin typeface="Calibri"/>
                          <a:ea typeface="Calibri"/>
                          <a:cs typeface="Calibri"/>
                        </a:rPr>
                        <a:t>Feature</a:t>
                      </a:r>
                      <a:endParaRPr sz="1100"/>
                    </a:p>
                  </a:txBody>
                  <a:tcPr/>
                </a:tc>
                <a:tc>
                  <a:txBody>
                    <a:bodyPr/>
                    <a:p>
                      <a:pPr>
                        <a:defRPr/>
                      </a:pPr>
                      <a:r>
                        <a:rPr lang="en-US" sz="1100" b="1" i="0" u="none" strike="noStrike" cap="none" spc="0">
                          <a:solidFill>
                            <a:schemeClr val="lt1"/>
                          </a:solidFill>
                          <a:latin typeface="Calibri"/>
                          <a:ea typeface="Calibri"/>
                          <a:cs typeface="Calibri"/>
                        </a:rPr>
                        <a:t>RF</a:t>
                      </a:r>
                      <a:endParaRPr sz="1100"/>
                    </a:p>
                  </a:txBody>
                  <a:tcPr/>
                </a:tc>
                <a:tc>
                  <a:txBody>
                    <a:bodyPr/>
                    <a:p>
                      <a:pPr>
                        <a:defRPr/>
                      </a:pPr>
                      <a:r>
                        <a:rPr lang="en-US" sz="1100" b="1" i="0" u="none" strike="noStrike" cap="none" spc="0">
                          <a:solidFill>
                            <a:schemeClr val="lt1"/>
                          </a:solidFill>
                          <a:latin typeface="Calibri"/>
                          <a:ea typeface="Calibri"/>
                          <a:cs typeface="Calibri"/>
                        </a:rPr>
                        <a:t>HistGB</a:t>
                      </a:r>
                      <a:endParaRPr sz="1100"/>
                    </a:p>
                  </a:txBody>
                  <a:tcPr/>
                </a:tc>
                <a:tc>
                  <a:txBody>
                    <a:bodyPr/>
                    <a:p>
                      <a:pPr>
                        <a:defRPr/>
                      </a:pPr>
                      <a:r>
                        <a:rPr lang="en-US" sz="1100" b="1" i="0" u="none" strike="noStrike" cap="none" spc="0">
                          <a:solidFill>
                            <a:schemeClr val="lt1"/>
                          </a:solidFill>
                          <a:latin typeface="Calibri"/>
                          <a:ea typeface="Calibri"/>
                          <a:cs typeface="Calibri"/>
                        </a:rPr>
                        <a:t>XGB</a:t>
                      </a:r>
                      <a:endParaRPr sz="1100"/>
                    </a:p>
                  </a:txBody>
                  <a:tcPr/>
                </a:tc>
              </a:tr>
              <a:tr h="255027">
                <a:tc>
                  <a:txBody>
                    <a:bodyPr/>
                    <a:p>
                      <a:pPr>
                        <a:defRPr/>
                      </a:pPr>
                      <a:r>
                        <a:rPr lang="en-US" sz="1100" b="0" i="0" u="none" strike="noStrike" cap="none" spc="0">
                          <a:solidFill>
                            <a:schemeClr val="dk1"/>
                          </a:solidFill>
                          <a:latin typeface="Calibri"/>
                          <a:ea typeface="Calibri"/>
                          <a:cs typeface="Calibri"/>
                        </a:rPr>
                        <a:t>location_cluster </a:t>
                      </a:r>
                      <a:endParaRPr sz="1100"/>
                    </a:p>
                  </a:txBody>
                  <a:tcPr/>
                </a:tc>
                <a:tc>
                  <a:txBody>
                    <a:bodyPr/>
                    <a:p>
                      <a:pPr>
                        <a:defRPr/>
                      </a:pPr>
                      <a:r>
                        <a:rPr sz="1100"/>
                        <a:t>1</a:t>
                      </a:r>
                      <a:endParaRPr sz="1100"/>
                    </a:p>
                  </a:txBody>
                  <a:tcPr/>
                </a:tc>
                <a:tc>
                  <a:txBody>
                    <a:bodyPr/>
                    <a:p>
                      <a:pPr>
                        <a:defRPr/>
                      </a:pPr>
                      <a:r>
                        <a:rPr sz="1100"/>
                        <a:t>1</a:t>
                      </a:r>
                      <a:endParaRPr sz="1100"/>
                    </a:p>
                  </a:txBody>
                  <a:tcPr/>
                </a:tc>
                <a:tc>
                  <a:txBody>
                    <a:bodyPr/>
                    <a:p>
                      <a:pPr>
                        <a:defRPr/>
                      </a:pPr>
                      <a:r>
                        <a:rPr sz="1100"/>
                        <a:t>1</a:t>
                      </a:r>
                      <a:endParaRPr sz="1100"/>
                    </a:p>
                  </a:txBody>
                  <a:tcPr/>
                </a:tc>
              </a:tr>
              <a:tr h="255027">
                <a:tc>
                  <a:txBody>
                    <a:bodyPr/>
                    <a:p>
                      <a:pPr algn="l">
                        <a:defRPr/>
                      </a:pPr>
                      <a:r>
                        <a:rPr lang="en-US" sz="1100" b="0" i="0" u="none" strike="noStrike" cap="none" spc="0">
                          <a:solidFill>
                            <a:schemeClr val="dk1"/>
                          </a:solidFill>
                          <a:latin typeface="Calibri"/>
                          <a:ea typeface="Calibri"/>
                          <a:cs typeface="Calibri"/>
                        </a:rPr>
                        <a:t>region</a:t>
                      </a:r>
                      <a:endParaRPr sz="1100"/>
                    </a:p>
                  </a:txBody>
                  <a:tcPr/>
                </a:tc>
                <a:tc>
                  <a:txBody>
                    <a:bodyPr/>
                    <a:p>
                      <a:pPr>
                        <a:defRPr/>
                      </a:pPr>
                      <a:r>
                        <a:rPr sz="1100"/>
                        <a:t>2</a:t>
                      </a:r>
                      <a:endParaRPr sz="1100"/>
                    </a:p>
                  </a:txBody>
                  <a:tcPr/>
                </a:tc>
                <a:tc>
                  <a:txBody>
                    <a:bodyPr/>
                    <a:p>
                      <a:pPr>
                        <a:defRPr/>
                      </a:pPr>
                      <a:r>
                        <a:rPr sz="1100"/>
                        <a:t>3</a:t>
                      </a:r>
                      <a:endParaRPr sz="1100"/>
                    </a:p>
                  </a:txBody>
                  <a:tcPr/>
                </a:tc>
                <a:tc>
                  <a:txBody>
                    <a:bodyPr/>
                    <a:p>
                      <a:pPr>
                        <a:defRPr/>
                      </a:pPr>
                      <a:r>
                        <a:rPr sz="1100"/>
                        <a:t>2</a:t>
                      </a:r>
                      <a:endParaRPr sz="1100"/>
                    </a:p>
                  </a:txBody>
                  <a:tcPr/>
                </a:tc>
              </a:tr>
              <a:tr h="255027">
                <a:tc>
                  <a:txBody>
                    <a:bodyPr/>
                    <a:p>
                      <a:pPr>
                        <a:defRPr/>
                      </a:pPr>
                      <a:r>
                        <a:rPr lang="en-US" sz="1100" b="0" i="0" u="none" strike="noStrike" cap="none" spc="0">
                          <a:solidFill>
                            <a:schemeClr val="dk1"/>
                          </a:solidFill>
                          <a:latin typeface="Calibri"/>
                          <a:ea typeface="Calibri"/>
                          <a:cs typeface="Calibri"/>
                        </a:rPr>
                        <a:t>sqfeet</a:t>
                      </a:r>
                      <a:endParaRPr sz="1100"/>
                    </a:p>
                  </a:txBody>
                  <a:tcPr/>
                </a:tc>
                <a:tc>
                  <a:txBody>
                    <a:bodyPr/>
                    <a:p>
                      <a:pPr>
                        <a:defRPr/>
                      </a:pPr>
                      <a:r>
                        <a:rPr sz="1100"/>
                        <a:t>3</a:t>
                      </a:r>
                      <a:endParaRPr sz="1100"/>
                    </a:p>
                  </a:txBody>
                  <a:tcPr/>
                </a:tc>
                <a:tc>
                  <a:txBody>
                    <a:bodyPr/>
                    <a:p>
                      <a:pPr>
                        <a:defRPr/>
                      </a:pPr>
                      <a:r>
                        <a:rPr sz="1100"/>
                        <a:t>2</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long</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r>
              <a:tr h="255027">
                <a:tc>
                  <a:txBody>
                    <a:bodyPr/>
                    <a:p>
                      <a:pPr>
                        <a:defRPr/>
                      </a:pPr>
                      <a:r>
                        <a:rPr sz="1100"/>
                        <a:t>baths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3</a:t>
                      </a:r>
                      <a:endParaRPr sz="1100"/>
                    </a:p>
                  </a:txBody>
                  <a:tcPr/>
                </a:tc>
              </a:tr>
              <a:tr h="255027">
                <a:tc>
                  <a:txBody>
                    <a:bodyPr/>
                    <a:p>
                      <a:pPr>
                        <a:defRPr/>
                      </a:pPr>
                      <a:r>
                        <a:rPr lang="en-US" sz="1100" b="0" i="0" u="none" strike="noStrike" cap="none" spc="0">
                          <a:solidFill>
                            <a:schemeClr val="dk1"/>
                          </a:solidFill>
                          <a:latin typeface="Calibri"/>
                          <a:ea typeface="Calibri"/>
                          <a:cs typeface="Calibri"/>
                        </a:rPr>
                        <a:t>laundry_options</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lang="en-US" sz="1100" b="0" i="0" u="none" strike="noStrike" cap="none" spc="0">
                          <a:solidFill>
                            <a:schemeClr val="dk1"/>
                          </a:solidFill>
                          <a:latin typeface="Calibri"/>
                          <a:ea typeface="Calibri"/>
                          <a:cs typeface="Calibri"/>
                        </a:rPr>
                        <a:t>—</a:t>
                      </a:r>
                      <a:endParaRPr sz="1100"/>
                    </a:p>
                  </a:txBody>
                  <a:tcPr/>
                </a:tc>
                <a:tc>
                  <a:txBody>
                    <a:bodyPr/>
                    <a:p>
                      <a:pPr>
                        <a:defRPr/>
                      </a:pPr>
                      <a:r>
                        <a:rPr sz="1100"/>
                        <a:t>4</a:t>
                      </a:r>
                      <a:endParaRPr sz="11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6513147" name="Title 1"/>
          <p:cNvSpPr>
            <a:spLocks noGrp="1"/>
          </p:cNvSpPr>
          <p:nvPr>
            <p:ph type="title"/>
          </p:nvPr>
        </p:nvSpPr>
        <p:spPr bwMode="auto"/>
        <p:txBody>
          <a:bodyPr/>
          <a:lstStyle/>
          <a:p>
            <a:pPr>
              <a:defRPr/>
            </a:pPr>
            <a:r>
              <a:rPr lang="en-US"/>
              <a:t>Issues, Risks, Concerns</a:t>
            </a:r>
            <a:endParaRPr/>
          </a:p>
        </p:txBody>
      </p:sp>
      <p:sp>
        <p:nvSpPr>
          <p:cNvPr id="1290152458"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Issues</a:t>
            </a:r>
            <a:endParaRPr sz="2400"/>
          </a:p>
          <a:p>
            <a:pPr lvl="1" algn="l">
              <a:defRPr/>
            </a:pPr>
            <a:r>
              <a:rPr sz="2400" b="0">
                <a:latin typeface="Calibri"/>
              </a:rPr>
              <a:t>None at this time</a:t>
            </a:r>
            <a:endParaRPr sz="2400"/>
          </a:p>
          <a:p>
            <a:pPr algn="l">
              <a:defRPr/>
            </a:pPr>
            <a:r>
              <a:rPr sz="2400" b="1">
                <a:latin typeface="Calibri"/>
              </a:rPr>
              <a:t>Risks</a:t>
            </a:r>
            <a:endParaRPr sz="2400"/>
          </a:p>
          <a:p>
            <a:pPr lvl="1" algn="l">
              <a:defRPr/>
            </a:pPr>
            <a:r>
              <a:rPr sz="2400" b="0">
                <a:latin typeface="Calibri"/>
              </a:rPr>
              <a:t>None at this time</a:t>
            </a:r>
            <a:endParaRPr sz="2400"/>
          </a:p>
          <a:p>
            <a:pPr algn="l">
              <a:defRPr/>
            </a:pPr>
            <a:r>
              <a:rPr sz="2400" b="1">
                <a:latin typeface="Calibri"/>
              </a:rPr>
              <a:t>Concerns</a:t>
            </a:r>
            <a:endParaRPr sz="2400"/>
          </a:p>
          <a:p>
            <a:pPr lvl="1" algn="l">
              <a:defRPr/>
            </a:pPr>
            <a:r>
              <a:rPr sz="2400" b="0">
                <a:latin typeface="Calibri"/>
              </a:rPr>
              <a:t>Phase 6 scope and schedule</a:t>
            </a:r>
            <a:endParaRPr sz="2400"/>
          </a:p>
          <a:p>
            <a:pPr lvl="2" algn="l">
              <a:defRPr/>
            </a:pPr>
            <a:r>
              <a:rPr sz="2400" b="0">
                <a:latin typeface="Calibri"/>
              </a:rPr>
              <a:t>Awaiting prof. guidance on skipping Tasks 6.1/6.2 (no production deployment) and on handling July 11/18 status reports</a:t>
            </a:r>
            <a:endParaRPr sz="2400"/>
          </a:p>
          <a:p>
            <a:pPr lvl="2" algn="l">
              <a:defRPr/>
            </a:pPr>
            <a:r>
              <a:rPr sz="2400" b="0">
                <a:latin typeface="Calibri"/>
              </a:rPr>
              <a:t>Mitigation: message sent to Prof. Nardi on June 19 requesting clarification</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3769415" name="Title 1"/>
          <p:cNvSpPr>
            <a:spLocks noGrp="1"/>
          </p:cNvSpPr>
          <p:nvPr>
            <p:ph type="title"/>
          </p:nvPr>
        </p:nvSpPr>
        <p:spPr bwMode="auto"/>
        <p:txBody>
          <a:bodyPr/>
          <a:lstStyle/>
          <a:p>
            <a:pPr>
              <a:defRPr/>
            </a:pPr>
            <a:r>
              <a:rPr lang="en-US"/>
              <a:t>Next Steps</a:t>
            </a:r>
            <a:endParaRPr/>
          </a:p>
        </p:txBody>
      </p:sp>
      <p:sp>
        <p:nvSpPr>
          <p:cNvPr id="219677851"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75000" lnSpcReduction="5000"/>
          </a:bodyPr>
          <a:lstStyle/>
          <a:p>
            <a:pPr algn="l">
              <a:lnSpc>
                <a:spcPct val="100000"/>
              </a:lnSpc>
              <a:defRPr/>
            </a:pPr>
            <a:r>
              <a:rPr sz="2400" b="1">
                <a:latin typeface="Calibri"/>
              </a:rPr>
              <a:t>Task 5.1: Evaluate Results (continuing)</a:t>
            </a:r>
            <a:endParaRPr sz="2400"/>
          </a:p>
          <a:p>
            <a:pPr lvl="1" algn="l">
              <a:defRPr/>
            </a:pPr>
            <a:r>
              <a:rPr sz="2400" b="0">
                <a:latin typeface="Calibri"/>
              </a:rPr>
              <a:t>Original Start: 21 Jun 2026 | Revised: N/A | Actual Start: 19 Jun 2026</a:t>
            </a:r>
            <a:endParaRPr sz="2400"/>
          </a:p>
          <a:p>
            <a:pPr lvl="1" algn="l">
              <a:defRPr/>
            </a:pPr>
            <a:r>
              <a:rPr sz="2400" b="0">
                <a:latin typeface="Calibri"/>
              </a:rPr>
              <a:t>Original End:   4 Jul 2026 | Revised: N/A | Actual End: N/A</a:t>
            </a:r>
            <a:endParaRPr sz="2400"/>
          </a:p>
          <a:p>
            <a:pPr algn="l">
              <a:defRPr/>
            </a:pPr>
            <a:r>
              <a:rPr sz="2400" b="1">
                <a:latin typeface="Calibri"/>
              </a:rPr>
              <a:t>Task 5.2: Review Process (continuing)</a:t>
            </a:r>
            <a:endParaRPr sz="2400"/>
          </a:p>
          <a:p>
            <a:pPr lvl="1" algn="l">
              <a:defRPr/>
            </a:pPr>
            <a:r>
              <a:rPr sz="2400" b="0">
                <a:latin typeface="Calibri"/>
              </a:rPr>
              <a:t>Original Start: 21 Jun 2026 | Revised: N/A | Actual Start: 19 Jun 2026</a:t>
            </a:r>
            <a:endParaRPr sz="2400"/>
          </a:p>
          <a:p>
            <a:pPr lvl="1" algn="l">
              <a:defRPr/>
            </a:pPr>
            <a:r>
              <a:rPr sz="2400" b="0">
                <a:latin typeface="Calibri"/>
              </a:rPr>
              <a:t>Original End:   4 Jul 2026 | Revised: N/A | Actual End: N/A</a:t>
            </a:r>
            <a:endParaRPr sz="2400"/>
          </a:p>
          <a:p>
            <a:pPr algn="l">
              <a:defRPr/>
            </a:pPr>
            <a:r>
              <a:rPr sz="2400" b="1">
                <a:latin typeface="Calibri"/>
              </a:rPr>
              <a:t>Task 5.3: Determine Next Steps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a:p>
            <a:pPr algn="l">
              <a:defRPr/>
            </a:pPr>
            <a:r>
              <a:rPr sz="2400" b="1">
                <a:latin typeface="Calibri"/>
              </a:rPr>
              <a:t>Task 6.3: Final Presentation</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25 Jul 2026 | Revised: N/A | Actual End: N/A</a:t>
            </a:r>
            <a:endParaRPr sz="2400"/>
          </a:p>
          <a:p>
            <a:pPr algn="l">
              <a:defRPr/>
            </a:pPr>
            <a:r>
              <a:rPr sz="2400" b="1">
                <a:latin typeface="Calibri"/>
              </a:rPr>
              <a:t>Task 6.3: Final Report</a:t>
            </a:r>
            <a:endParaRPr sz="2400"/>
          </a:p>
          <a:p>
            <a:pPr lvl="1" algn="l">
              <a:defRPr/>
            </a:pPr>
            <a:r>
              <a:rPr sz="2400" b="0">
                <a:latin typeface="Calibri"/>
              </a:rPr>
              <a:t>Original Start: 19 Jul 2026 | Revised: N/A | Actual Start: N/A</a:t>
            </a:r>
            <a:endParaRPr sz="2400"/>
          </a:p>
          <a:p>
            <a:pPr lvl="1" algn="l">
              <a:defRPr/>
            </a:pPr>
            <a:r>
              <a:rPr sz="2400" b="0">
                <a:latin typeface="Calibri"/>
              </a:rPr>
              <a:t>Original End:   1 Aug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5455938" name="Title 1"/>
          <p:cNvSpPr>
            <a:spLocks noGrp="1"/>
          </p:cNvSpPr>
          <p:nvPr>
            <p:ph type="title"/>
          </p:nvPr>
        </p:nvSpPr>
        <p:spPr bwMode="auto"/>
        <p:txBody>
          <a:bodyPr/>
          <a:lstStyle/>
          <a:p>
            <a:pPr>
              <a:defRPr/>
            </a:pPr>
            <a:r>
              <a:rPr lang="en-US"/>
              <a:t>Personal Reflection</a:t>
            </a:r>
            <a:endParaRPr/>
          </a:p>
        </p:txBody>
      </p:sp>
      <p:sp>
        <p:nvSpPr>
          <p:cNvPr id="1063950433"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600" b="0">
                <a:latin typeface="Calibri"/>
              </a:rPr>
              <a:t>Phase 4 wrapped up solidly. Getting all three models trained and evaluated by the June 20 deadline took more iterations than I initially expected, but the results justify the effort. Random Forest landing at R² of 0.946 was a strong outcome. Seeing the feature importance plots confirm that location_cluster, region, and square footage are the dominant price drivers, which aligns with domain knowledge. I am satisfied with the modeling results and feel well positioned heading into Phase 5.</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2126717"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984511"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12,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12,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2225745" name="Title 1"/>
          <p:cNvSpPr>
            <a:spLocks noGrp="1"/>
          </p:cNvSpPr>
          <p:nvPr>
            <p:ph type="title"/>
          </p:nvPr>
        </p:nvSpPr>
        <p:spPr bwMode="auto"/>
        <p:txBody>
          <a:bodyPr/>
          <a:lstStyle/>
          <a:p>
            <a:pPr>
              <a:defRPr/>
            </a:pPr>
            <a:r>
              <a:rPr lang="en-US"/>
              <a:t>Agenda</a:t>
            </a:r>
            <a:endParaRPr/>
          </a:p>
        </p:txBody>
      </p:sp>
      <p:sp>
        <p:nvSpPr>
          <p:cNvPr id="1108851124"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3636007" name="Title 1"/>
          <p:cNvSpPr>
            <a:spLocks noGrp="1"/>
          </p:cNvSpPr>
          <p:nvPr>
            <p:ph type="title"/>
          </p:nvPr>
        </p:nvSpPr>
        <p:spPr bwMode="auto"/>
        <p:txBody>
          <a:bodyPr/>
          <a:lstStyle/>
          <a:p>
            <a:pPr>
              <a:defRPr/>
            </a:pPr>
            <a:r>
              <a:rPr lang="en-US"/>
              <a:t>Status Overview</a:t>
            </a:r>
            <a:endParaRPr/>
          </a:p>
        </p:txBody>
      </p:sp>
      <p:sp>
        <p:nvSpPr>
          <p:cNvPr id="1595829720"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60000" lnSpcReduction="8000"/>
          </a:bodyPr>
          <a:lstStyle/>
          <a:p>
            <a:pPr algn="l">
              <a:lnSpc>
                <a:spcPct val="100000"/>
              </a:lnSpc>
              <a:defRPr/>
            </a:pPr>
            <a:r>
              <a:rPr sz="2400" b="1">
                <a:latin typeface="Calibri"/>
              </a:rPr>
              <a:t>Project Status: </a:t>
            </a:r>
            <a:r>
              <a:rPr sz="2400" b="1">
                <a:solidFill>
                  <a:srgbClr val="00FF00"/>
                </a:solidFill>
                <a:latin typeface="Calibri"/>
              </a:rPr>
              <a:t>GREEN</a:t>
            </a:r>
            <a:endParaRPr sz="2400"/>
          </a:p>
          <a:p>
            <a:pPr algn="l">
              <a:defRPr/>
            </a:pPr>
            <a:r>
              <a:rPr sz="2400" b="1">
                <a:latin typeface="Calibri"/>
              </a:rPr>
              <a:t>Task 4.1: Select Modeling Technique</a:t>
            </a:r>
            <a:endParaRPr sz="2400"/>
          </a:p>
          <a:p>
            <a:pPr lvl="1" algn="l">
              <a:defRPr/>
            </a:pPr>
            <a:r>
              <a:rPr sz="2400" b="0">
                <a:latin typeface="Calibri"/>
              </a:rPr>
              <a:t>Status: </a:t>
            </a:r>
            <a:r>
              <a:rPr sz="2400" b="0">
                <a:solidFill>
                  <a:srgbClr val="00FF00"/>
                </a:solidFill>
                <a:latin typeface="Calibri"/>
              </a:rPr>
              <a:t>GREEN</a:t>
            </a:r>
            <a:r>
              <a:rPr sz="2400" b="0">
                <a:latin typeface="Calibri"/>
              </a:rPr>
              <a:t> — 100% complete</a:t>
            </a:r>
            <a:endParaRPr sz="2400"/>
          </a:p>
          <a:p>
            <a:pPr lvl="1" algn="l">
              <a:defRPr/>
            </a:pPr>
            <a:r>
              <a:rPr sz="2400" b="0">
                <a:latin typeface="Calibri"/>
              </a:rPr>
              <a:t>Original Start: 7 Jun 2026 | Revised: N/A | Actual Start: 6 Jun 2026</a:t>
            </a:r>
            <a:endParaRPr sz="2400"/>
          </a:p>
          <a:p>
            <a:pPr lvl="1" algn="l">
              <a:defRPr/>
            </a:pPr>
            <a:r>
              <a:rPr sz="2400" b="0">
                <a:latin typeface="Calibri"/>
              </a:rPr>
              <a:t>Original End:   20 Jun 2026 | Revised: N/A | Actual End: 19 Jun 2026</a:t>
            </a:r>
            <a:endParaRPr sz="2400"/>
          </a:p>
          <a:p>
            <a:pPr algn="l">
              <a:defRPr/>
            </a:pPr>
            <a:r>
              <a:rPr sz="2400" b="1">
                <a:latin typeface="Calibri"/>
              </a:rPr>
              <a:t>Task 4.2: Generate Test Design</a:t>
            </a:r>
            <a:endParaRPr sz="2400"/>
          </a:p>
          <a:p>
            <a:pPr lvl="1" algn="l">
              <a:defRPr/>
            </a:pPr>
            <a:r>
              <a:rPr sz="2400" b="0">
                <a:latin typeface="Calibri"/>
              </a:rPr>
              <a:t>Status: </a:t>
            </a:r>
            <a:r>
              <a:rPr sz="2400" b="0">
                <a:solidFill>
                  <a:srgbClr val="00FF00"/>
                </a:solidFill>
                <a:latin typeface="Calibri"/>
              </a:rPr>
              <a:t>GREEN</a:t>
            </a:r>
            <a:r>
              <a:rPr sz="2400" b="0">
                <a:latin typeface="Calibri"/>
              </a:rPr>
              <a:t> — 50%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a:t>
            </a:r>
            <a:endParaRPr sz="2400"/>
          </a:p>
          <a:p>
            <a:pPr lvl="1" algn="l">
              <a:defRPr/>
            </a:pPr>
            <a:r>
              <a:rPr sz="2400" b="0">
                <a:latin typeface="Calibri"/>
              </a:rPr>
              <a:t>Status: </a:t>
            </a:r>
            <a:r>
              <a:rPr sz="2400" b="0">
                <a:solidFill>
                  <a:srgbClr val="00FF00"/>
                </a:solidFill>
                <a:latin typeface="Calibri"/>
              </a:rPr>
              <a:t>GREEN</a:t>
            </a:r>
            <a:r>
              <a:rPr sz="2400" b="0">
                <a:latin typeface="Calibri"/>
              </a:rPr>
              <a:t> — 40%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a:t>
            </a:r>
            <a:endParaRPr sz="2400"/>
          </a:p>
          <a:p>
            <a:pPr lvl="1" algn="l">
              <a:defRPr/>
            </a:pPr>
            <a:r>
              <a:rPr sz="2400" b="0">
                <a:latin typeface="Calibri"/>
              </a:rPr>
              <a:t>Status: </a:t>
            </a:r>
            <a:r>
              <a:rPr sz="2400" b="0">
                <a:solidFill>
                  <a:srgbClr val="00FF00"/>
                </a:solidFill>
                <a:latin typeface="Calibri"/>
              </a:rPr>
              <a:t>GREEN</a:t>
            </a:r>
            <a:r>
              <a:rPr sz="2400" b="0">
                <a:latin typeface="Calibri"/>
              </a:rPr>
              <a:t> — 10%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6410731" name="Title 1"/>
          <p:cNvSpPr>
            <a:spLocks noGrp="1"/>
          </p:cNvSpPr>
          <p:nvPr>
            <p:ph type="title"/>
          </p:nvPr>
        </p:nvSpPr>
        <p:spPr bwMode="auto"/>
        <p:txBody>
          <a:bodyPr/>
          <a:lstStyle/>
          <a:p>
            <a:pPr>
              <a:defRPr/>
            </a:pPr>
            <a:r>
              <a:rPr lang="en-US"/>
              <a:t>Items Completed This Week</a:t>
            </a:r>
            <a:endParaRPr/>
          </a:p>
        </p:txBody>
      </p:sp>
      <p:sp>
        <p:nvSpPr>
          <p:cNvPr id="1134724719"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400" b="1">
                <a:latin typeface="Calibri"/>
              </a:rPr>
              <a:t>Task 4.1: Select Modeling Technique</a:t>
            </a:r>
            <a:endParaRPr sz="2400"/>
          </a:p>
          <a:p>
            <a:pPr lvl="1" algn="l">
              <a:defRPr/>
            </a:pPr>
            <a:r>
              <a:rPr sz="2400" b="0">
                <a:latin typeface="Calibri"/>
              </a:rPr>
              <a:t>Status: </a:t>
            </a:r>
            <a:r>
              <a:rPr sz="2400" b="0">
                <a:solidFill>
                  <a:srgbClr val="00FF00"/>
                </a:solidFill>
                <a:latin typeface="Calibri"/>
              </a:rPr>
              <a:t>GREEN</a:t>
            </a:r>
            <a:r>
              <a:rPr sz="2400" b="0">
                <a:latin typeface="Calibri"/>
              </a:rPr>
              <a:t> — 100% complete</a:t>
            </a:r>
            <a:endParaRPr sz="2400"/>
          </a:p>
          <a:p>
            <a:pPr lvl="1" algn="l">
              <a:defRPr/>
            </a:pPr>
            <a:r>
              <a:rPr sz="2400" b="0">
                <a:latin typeface="Calibri"/>
              </a:rPr>
              <a:t>Original Start: 7 Jun 2026 | Revised: N/A | Actual Start: 6 Jun 2026</a:t>
            </a:r>
            <a:endParaRPr sz="2400"/>
          </a:p>
          <a:p>
            <a:pPr lvl="1" algn="l">
              <a:defRPr/>
            </a:pPr>
            <a:r>
              <a:rPr sz="2400" b="0">
                <a:latin typeface="Calibri"/>
              </a:rPr>
              <a:t>Original End:   20 Jun 2026 | Revised: N/A | Actual End: 19 Jun 2026</a:t>
            </a:r>
            <a:endParaRPr sz="2400"/>
          </a:p>
          <a:p>
            <a:pPr lvl="1" algn="l">
              <a:defRPr/>
            </a:pPr>
            <a:r>
              <a:rPr sz="2400" b="0">
                <a:latin typeface="Calibri"/>
              </a:rPr>
              <a:t>Three tree-based candidates selected: Random Forest, HistGradientBoostingRegressor, XGBoost</a:t>
            </a:r>
            <a:endParaRPr sz="2400"/>
          </a:p>
          <a:p>
            <a:pPr lvl="1" algn="l">
              <a:defRPr/>
            </a:pPr>
            <a:r>
              <a:rPr sz="2400" b="0">
                <a:latin typeface="Calibri"/>
              </a:rPr>
              <a:t>HistGradientBoostingRegressor chosen over standard GradientBoostingRegressor (56x faster with sample dataset, comparable R-squared)</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3246284" name="Title 1"/>
          <p:cNvSpPr>
            <a:spLocks noGrp="1"/>
          </p:cNvSpPr>
          <p:nvPr>
            <p:ph type="title"/>
          </p:nvPr>
        </p:nvSpPr>
        <p:spPr bwMode="auto"/>
        <p:txBody>
          <a:bodyPr/>
          <a:lstStyle/>
          <a:p>
            <a:pPr>
              <a:defRPr/>
            </a:pPr>
            <a:r>
              <a:rPr lang="en-US"/>
              <a:t>Items In Progress</a:t>
            </a:r>
            <a:endParaRPr/>
          </a:p>
        </p:txBody>
      </p:sp>
      <p:sp>
        <p:nvSpPr>
          <p:cNvPr id="1363361986"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75000" lnSpcReduction="5000"/>
          </a:bodyPr>
          <a:lstStyle/>
          <a:p>
            <a:pPr algn="l">
              <a:lnSpc>
                <a:spcPct val="100000"/>
              </a:lnSpc>
              <a:defRPr/>
            </a:pPr>
            <a:r>
              <a:rPr sz="2400" b="1">
                <a:latin typeface="Calibri"/>
              </a:rPr>
              <a:t>Task 4.2: Generate Test Design</a:t>
            </a:r>
            <a:endParaRPr sz="2400"/>
          </a:p>
          <a:p>
            <a:pPr lvl="1" algn="l">
              <a:defRPr/>
            </a:pPr>
            <a:r>
              <a:rPr sz="2400" b="0">
                <a:latin typeface="Calibri"/>
              </a:rPr>
              <a:t>Status: </a:t>
            </a:r>
            <a:r>
              <a:rPr sz="2400" b="0">
                <a:solidFill>
                  <a:srgbClr val="00FF00"/>
                </a:solidFill>
                <a:latin typeface="Calibri"/>
              </a:rPr>
              <a:t>GREEN</a:t>
            </a:r>
            <a:r>
              <a:rPr sz="2400" b="0">
                <a:latin typeface="Calibri"/>
              </a:rPr>
              <a:t> — 60%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lvl="1" algn="l">
              <a:defRPr/>
            </a:pPr>
            <a:r>
              <a:rPr sz="2400" b="0">
                <a:latin typeface="Calibri"/>
              </a:rPr>
              <a:t>Remaining: finalize split ratios, metric specs, document test design</a:t>
            </a:r>
            <a:endParaRPr sz="2400"/>
          </a:p>
          <a:p>
            <a:pPr algn="l">
              <a:defRPr/>
            </a:pPr>
            <a:r>
              <a:rPr sz="2400" b="1">
                <a:latin typeface="Calibri"/>
              </a:rPr>
              <a:t>Task 4.3: Build Model</a:t>
            </a:r>
            <a:endParaRPr sz="2400"/>
          </a:p>
          <a:p>
            <a:pPr lvl="1" algn="l">
              <a:defRPr/>
            </a:pPr>
            <a:r>
              <a:rPr sz="2400" b="0">
                <a:latin typeface="Calibri"/>
              </a:rPr>
              <a:t>Status: </a:t>
            </a:r>
            <a:r>
              <a:rPr sz="2400" b="0">
                <a:solidFill>
                  <a:srgbClr val="00FF00"/>
                </a:solidFill>
                <a:latin typeface="Calibri"/>
              </a:rPr>
              <a:t>GREEN</a:t>
            </a:r>
            <a:r>
              <a:rPr sz="2400" b="0">
                <a:latin typeface="Calibri"/>
              </a:rPr>
              <a:t> — 40%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lvl="1" algn="l">
              <a:defRPr/>
            </a:pPr>
            <a:r>
              <a:rPr sz="2400" b="0">
                <a:latin typeface="Calibri"/>
              </a:rPr>
              <a:t>Remaining: hyperparameter refinement, model comparison write-up, ensemble exploration</a:t>
            </a:r>
            <a:endParaRPr sz="2400"/>
          </a:p>
          <a:p>
            <a:pPr algn="l">
              <a:defRPr/>
            </a:pPr>
            <a:r>
              <a:rPr sz="2400" b="1">
                <a:latin typeface="Calibri"/>
              </a:rPr>
              <a:t>Task 4.4: Assess Model</a:t>
            </a:r>
            <a:endParaRPr sz="2400"/>
          </a:p>
          <a:p>
            <a:pPr lvl="1" algn="l">
              <a:defRPr/>
            </a:pPr>
            <a:r>
              <a:rPr sz="2400" b="0">
                <a:latin typeface="Calibri"/>
              </a:rPr>
              <a:t>Status: </a:t>
            </a:r>
            <a:r>
              <a:rPr sz="2400" b="0">
                <a:solidFill>
                  <a:srgbClr val="00FF00"/>
                </a:solidFill>
                <a:latin typeface="Calibri"/>
              </a:rPr>
              <a:t>GREEN</a:t>
            </a:r>
            <a:r>
              <a:rPr sz="2400" b="0">
                <a:latin typeface="Calibri"/>
              </a:rPr>
              <a:t> — 10% complete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lvl="1" algn="l">
              <a:defRPr/>
            </a:pPr>
            <a:r>
              <a:rPr sz="2400" b="0">
                <a:latin typeface="Calibri"/>
              </a:rPr>
              <a:t>Remaining: full metric collection, residual analysis, feature importance, model comparison</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3189880" name="Title 1"/>
          <p:cNvSpPr>
            <a:spLocks noGrp="1"/>
          </p:cNvSpPr>
          <p:nvPr>
            <p:ph type="title"/>
          </p:nvPr>
        </p:nvSpPr>
        <p:spPr bwMode="auto"/>
        <p:txBody>
          <a:bodyPr/>
          <a:lstStyle/>
          <a:p>
            <a:pPr>
              <a:defRPr/>
            </a:pPr>
            <a:r>
              <a:rPr lang="en-US"/>
              <a:t>Items To Be Started</a:t>
            </a:r>
            <a:endParaRPr/>
          </a:p>
        </p:txBody>
      </p:sp>
      <p:sp>
        <p:nvSpPr>
          <p:cNvPr id="100205340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Task 5.1: Evaluate Results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a:p>
            <a:pPr algn="l">
              <a:defRPr/>
            </a:pPr>
            <a:r>
              <a:rPr sz="2400" b="1">
                <a:latin typeface="Calibri"/>
              </a:rPr>
              <a:t>Task 5.2: Review Process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900949" name="Title 1"/>
          <p:cNvSpPr>
            <a:spLocks noGrp="1"/>
          </p:cNvSpPr>
          <p:nvPr>
            <p:ph type="title"/>
          </p:nvPr>
        </p:nvSpPr>
        <p:spPr bwMode="auto"/>
        <p:txBody>
          <a:bodyPr/>
          <a:lstStyle/>
          <a:p>
            <a:pPr>
              <a:defRPr/>
            </a:pPr>
            <a:r>
              <a:rPr lang="en-US"/>
              <a:t>Sample of Items Completed This Week</a:t>
            </a:r>
            <a:endParaRPr/>
          </a:p>
        </p:txBody>
      </p:sp>
      <p:sp>
        <p:nvSpPr>
          <p:cNvPr id="3023926"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2400" b="0">
                <a:latin typeface="Calibri"/>
              </a:rPr>
              <a:t>Model Training; All Three Models</a:t>
            </a:r>
            <a:endParaRPr sz="2400"/>
          </a:p>
          <a:p>
            <a:pPr algn="l">
              <a:defRPr/>
            </a:pPr>
            <a:r>
              <a:rPr sz="2400" b="0">
                <a:latin typeface="Calibri"/>
              </a:rPr>
              <a:t>Random Forest (n_estimators=500), HistGradientBoostingRegressor (max_iter=3000), XGBoost (n_estimators=2000) trained on preprocessed 16-feature matrix (113,682 train rows).</a:t>
            </a:r>
            <a:endParaRPr sz="2400"/>
          </a:p>
          <a:p>
            <a:pPr algn="l">
              <a:defRPr/>
            </a:pPr>
            <a:r>
              <a:rPr sz="2400" b="0">
                <a:latin typeface="Consolas"/>
              </a:rPr>
              <a:t>rf = RandomForestRegressor(</a:t>
            </a:r>
            <a:endParaRPr sz="2400"/>
          </a:p>
          <a:p>
            <a:pPr algn="l">
              <a:defRPr/>
            </a:pPr>
            <a:r>
              <a:rPr sz="2400" b="0">
                <a:latin typeface="Consolas"/>
              </a:rPr>
              <a:t>    n_estimators=500, max_depth=None, min_samples_leaf=1,</a:t>
            </a:r>
            <a:endParaRPr sz="2400"/>
          </a:p>
          <a:p>
            <a:pPr algn="l">
              <a:defRPr/>
            </a:pPr>
            <a:r>
              <a:rPr sz="2400" b="0">
                <a:latin typeface="Consolas"/>
              </a:rPr>
              <a:t>    max_features="sqrt", random_state=42, n_jobs=-1</a:t>
            </a:r>
            <a:r>
              <a:rPr sz="2400" b="0">
                <a:latin typeface="Consolas"/>
              </a:rPr>
              <a:t>)</a:t>
            </a:r>
            <a:endParaRPr sz="2400"/>
          </a:p>
          <a:p>
            <a:pPr algn="l">
              <a:defRPr/>
            </a:pPr>
            <a:r>
              <a:rPr sz="2400" b="0">
                <a:latin typeface="Consolas"/>
              </a:rPr>
              <a:t>gb = HistGradientBoostingRegressor(</a:t>
            </a:r>
            <a:r>
              <a:rPr sz="2400" b="0">
                <a:latin typeface="Consolas"/>
              </a:rPr>
              <a:t>max_iter=3000, </a:t>
            </a:r>
            <a:endParaRPr sz="2400"/>
          </a:p>
          <a:p>
            <a:pPr algn="l">
              <a:defRPr/>
            </a:pPr>
            <a:r>
              <a:rPr sz="2400" b="0">
                <a:latin typeface="Consolas"/>
              </a:rPr>
              <a:t>    learning_rate=0.05, max_depth=7,</a:t>
            </a:r>
            <a:r>
              <a:rPr/>
              <a:t> </a:t>
            </a:r>
            <a:r>
              <a:rPr sz="2400" b="0">
                <a:latin typeface="Consolas"/>
              </a:rPr>
              <a:t>max_leaf_nodes=63,</a:t>
            </a:r>
            <a:endParaRPr sz="2400" b="0">
              <a:latin typeface="Consolas"/>
            </a:endParaRPr>
          </a:p>
          <a:p>
            <a:pPr algn="l">
              <a:defRPr/>
            </a:pPr>
            <a:r>
              <a:rPr sz="2400" b="0">
                <a:latin typeface="Consolas"/>
              </a:rPr>
              <a:t>    min_samples_leaf=1, early_stopping='auto', </a:t>
            </a:r>
            <a:r>
              <a:rPr sz="2400" b="0">
                <a:latin typeface="Consolas"/>
              </a:rPr>
              <a:t>random_state=42</a:t>
            </a:r>
            <a:r>
              <a:rPr sz="2400" b="0">
                <a:latin typeface="Consolas"/>
              </a:rPr>
              <a:t>)</a:t>
            </a:r>
            <a:endParaRPr sz="2400"/>
          </a:p>
          <a:p>
            <a:pPr algn="l">
              <a:defRPr/>
            </a:pPr>
            <a:r>
              <a:rPr sz="2400" b="0">
                <a:latin typeface="Consolas"/>
              </a:rPr>
              <a:t>xgb = XGBRegressor(</a:t>
            </a:r>
            <a:endParaRPr sz="2400"/>
          </a:p>
          <a:p>
            <a:pPr algn="l">
              <a:defRPr/>
            </a:pPr>
            <a:r>
              <a:rPr sz="2400" b="0">
                <a:latin typeface="Consolas"/>
              </a:rPr>
              <a:t>    n_estimators=2000, learning_rate=0.05, max_depth=7,</a:t>
            </a:r>
            <a:endParaRPr sz="2400"/>
          </a:p>
          <a:p>
            <a:pPr algn="l">
              <a:defRPr/>
            </a:pPr>
            <a:r>
              <a:rPr sz="2400" b="0">
                <a:latin typeface="Consolas"/>
              </a:rPr>
              <a:t>    subsample=0.8, colsample_bytree=0.8, random_state=42, n_jobs=-1</a:t>
            </a:r>
            <a:r>
              <a:rPr sz="2400" b="0">
                <a:latin typeface="Consolas"/>
              </a:rPr>
              <a:t>)</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3230239" name="Title 1"/>
          <p:cNvSpPr>
            <a:spLocks noGrp="1"/>
          </p:cNvSpPr>
          <p:nvPr>
            <p:ph type="title"/>
          </p:nvPr>
        </p:nvSpPr>
        <p:spPr bwMode="auto"/>
        <p:txBody>
          <a:bodyPr/>
          <a:lstStyle/>
          <a:p>
            <a:pPr>
              <a:defRPr/>
            </a:pPr>
            <a:r>
              <a:rPr lang="en-US"/>
              <a:t>Issues, Risks, Concerns</a:t>
            </a:r>
            <a:endParaRPr/>
          </a:p>
        </p:txBody>
      </p:sp>
      <p:sp>
        <p:nvSpPr>
          <p:cNvPr id="35844230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Issues</a:t>
            </a:r>
            <a:endParaRPr sz="2400"/>
          </a:p>
          <a:p>
            <a:pPr lvl="1" algn="l">
              <a:defRPr/>
            </a:pPr>
            <a:r>
              <a:rPr sz="2400" b="0">
                <a:latin typeface="Calibri"/>
              </a:rPr>
              <a:t>None at this time</a:t>
            </a:r>
            <a:endParaRPr sz="2400"/>
          </a:p>
          <a:p>
            <a:pPr algn="l">
              <a:defRPr/>
            </a:pPr>
            <a:r>
              <a:rPr sz="2400" b="1">
                <a:latin typeface="Calibri"/>
              </a:rPr>
              <a:t>Risks</a:t>
            </a:r>
            <a:endParaRPr sz="2400"/>
          </a:p>
          <a:p>
            <a:pPr lvl="1" algn="l">
              <a:defRPr/>
            </a:pPr>
            <a:r>
              <a:rPr sz="2400" b="0">
                <a:latin typeface="Calibri"/>
              </a:rPr>
              <a:t>None at this time</a:t>
            </a:r>
            <a:endParaRPr sz="2400"/>
          </a:p>
          <a:p>
            <a:pPr algn="l">
              <a:defRPr/>
            </a:pPr>
            <a:r>
              <a:rPr sz="2400" b="1">
                <a:latin typeface="Calibri"/>
              </a:rPr>
              <a:t>Concerns</a:t>
            </a:r>
            <a:endParaRPr sz="2400"/>
          </a:p>
          <a:p>
            <a:pPr lvl="1" algn="l">
              <a:defRPr/>
            </a:pPr>
            <a:r>
              <a:rPr sz="2400" b="0">
                <a:latin typeface="Calibri"/>
              </a:rPr>
              <a:t>None at this time</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8728942" name="Title 1"/>
          <p:cNvSpPr>
            <a:spLocks noGrp="1"/>
          </p:cNvSpPr>
          <p:nvPr>
            <p:ph type="title"/>
          </p:nvPr>
        </p:nvSpPr>
        <p:spPr bwMode="auto"/>
        <p:txBody>
          <a:bodyPr/>
          <a:lstStyle/>
          <a:p>
            <a:pPr>
              <a:defRPr/>
            </a:pPr>
            <a:r>
              <a:rPr lang="en-US"/>
              <a:t>Next Steps</a:t>
            </a:r>
            <a:endParaRPr/>
          </a:p>
        </p:txBody>
      </p:sp>
      <p:sp>
        <p:nvSpPr>
          <p:cNvPr id="511597041"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l">
              <a:lnSpc>
                <a:spcPct val="100000"/>
              </a:lnSpc>
              <a:defRPr/>
            </a:pPr>
            <a:r>
              <a:rPr sz="2400" b="1">
                <a:latin typeface="Calibri"/>
              </a:rPr>
              <a:t>Task 4.2: Generate Test Design (finalize)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 (continue)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 (continue)</a:t>
            </a:r>
            <a:endParaRPr sz="2400"/>
          </a:p>
          <a:p>
            <a:pPr lvl="1" algn="l">
              <a:defRPr/>
            </a:pPr>
            <a:r>
              <a:rPr sz="2400" b="0">
                <a:latin typeface="Calibri"/>
              </a:rPr>
              <a:t>Original Start: 7 Jun 2026 | Revised: N/A | Actual Start: 7 Jun 2026</a:t>
            </a:r>
            <a:endParaRPr sz="2400"/>
          </a:p>
          <a:p>
            <a:pPr lvl="1" algn="l">
              <a:defRPr/>
            </a:pPr>
            <a:r>
              <a:rPr sz="2400" b="0">
                <a:latin typeface="Calibri"/>
              </a:rPr>
              <a:t>Original End:   20 Jun 2026 | Revised: N/A | Actual End: N/A</a:t>
            </a:r>
            <a:endParaRPr sz="2400"/>
          </a:p>
          <a:p>
            <a:pPr algn="l">
              <a:defRPr/>
            </a:pPr>
            <a:r>
              <a:rPr sz="2400" b="1">
                <a:latin typeface="Calibri"/>
              </a:rPr>
              <a:t>Task 5.1: Evaluate Results</a:t>
            </a:r>
            <a:endParaRPr sz="2400"/>
          </a:p>
          <a:p>
            <a:pPr lvl="1" algn="l">
              <a:defRPr/>
            </a:pPr>
            <a:r>
              <a:rPr sz="2400" b="0">
                <a:latin typeface="Calibri"/>
              </a:rPr>
              <a:t>Original Start: 21 Jun 2026 | Revised: N/A | Actual Start: N/A</a:t>
            </a:r>
            <a:endParaRPr sz="2400"/>
          </a:p>
          <a:p>
            <a:pPr lvl="1" algn="l">
              <a:defRPr/>
            </a:pPr>
            <a:r>
              <a:rPr sz="2400" b="0">
                <a:latin typeface="Calibri"/>
              </a:rPr>
              <a:t>Original End:   4 Jul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9904470" name="Title 1"/>
          <p:cNvSpPr>
            <a:spLocks noGrp="1"/>
          </p:cNvSpPr>
          <p:nvPr>
            <p:ph type="title"/>
          </p:nvPr>
        </p:nvSpPr>
        <p:spPr bwMode="auto"/>
        <p:txBody>
          <a:bodyPr/>
          <a:lstStyle/>
          <a:p>
            <a:pPr>
              <a:defRPr/>
            </a:pPr>
            <a:r>
              <a:rPr lang="en-US"/>
              <a:t>Personal Reflection</a:t>
            </a:r>
            <a:endParaRPr/>
          </a:p>
        </p:txBody>
      </p:sp>
      <p:sp>
        <p:nvSpPr>
          <p:cNvPr id="618207057"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400" b="0">
                <a:latin typeface="Calibri"/>
              </a:rPr>
              <a:t>Phase 4 is off to a strong start. Getting the baseline Random Forest up and running in the first week of Modeling felt productive, though I know the hard part is ahead with hyperparameter tuning and the secondary models. The preprocessed matrices from Phase 3 made the transition smooth — having those 16 features ready to go saved at least a couple of days. I am aiming to have all four modeling tasks substantially complete by the June 20 deadline, with the main question being how much tuning depth is realistic within the remaining time.</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0715858"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6589626"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June 5,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June 6,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1867482" name="Title 1"/>
          <p:cNvSpPr>
            <a:spLocks noGrp="1"/>
          </p:cNvSpPr>
          <p:nvPr>
            <p:ph type="title"/>
          </p:nvPr>
        </p:nvSpPr>
        <p:spPr bwMode="auto"/>
        <p:txBody>
          <a:bodyPr/>
          <a:lstStyle/>
          <a:p>
            <a:pPr>
              <a:defRPr/>
            </a:pPr>
            <a:r>
              <a:rPr lang="en-US"/>
              <a:t>Agenda</a:t>
            </a:r>
            <a:endParaRPr/>
          </a:p>
        </p:txBody>
      </p:sp>
      <p:sp>
        <p:nvSpPr>
          <p:cNvPr id="1866600484"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4773891" name="Title 1"/>
          <p:cNvSpPr>
            <a:spLocks noGrp="1"/>
          </p:cNvSpPr>
          <p:nvPr>
            <p:ph type="title"/>
          </p:nvPr>
        </p:nvSpPr>
        <p:spPr bwMode="auto"/>
        <p:txBody>
          <a:bodyPr/>
          <a:lstStyle/>
          <a:p>
            <a:pPr>
              <a:defRPr/>
            </a:pPr>
            <a:r>
              <a:rPr lang="en-US"/>
              <a:t>Status Overview</a:t>
            </a:r>
            <a:endParaRPr/>
          </a:p>
        </p:txBody>
      </p:sp>
      <p:sp>
        <p:nvSpPr>
          <p:cNvPr id="1386463225" name="Content Placeholder 2"/>
          <p:cNvSpPr>
            <a:spLocks noGrp="1"/>
          </p:cNvSpPr>
          <p:nvPr>
            <p:ph idx="1"/>
          </p:nvPr>
        </p:nvSpPr>
        <p:spPr bwMode="auto">
          <a:xfrm>
            <a:off x="599089" y="1124608"/>
            <a:ext cx="10993815" cy="4522817"/>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l">
              <a:lnSpc>
                <a:spcPct val="100000"/>
              </a:lnSpc>
              <a:defRPr/>
            </a:pPr>
            <a:r>
              <a:rPr sz="2000" b="1">
                <a:latin typeface="Calibri"/>
              </a:rPr>
              <a:t>Project Status: </a:t>
            </a:r>
            <a:r>
              <a:rPr sz="2000" b="1">
                <a:solidFill>
                  <a:srgbClr val="00FF00"/>
                </a:solidFill>
                <a:latin typeface="Calibri"/>
              </a:rPr>
              <a:t>GREEN</a:t>
            </a:r>
            <a:endParaRPr sz="2000"/>
          </a:p>
          <a:p>
            <a:pPr algn="l">
              <a:defRPr/>
            </a:pPr>
            <a:r>
              <a:rPr sz="2000" b="1">
                <a:latin typeface="Calibri"/>
              </a:rPr>
              <a:t>Task 3.3: Construct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algn="l">
              <a:defRPr/>
            </a:pPr>
            <a:r>
              <a:rPr sz="2000" b="1">
                <a:latin typeface="Calibri"/>
              </a:rPr>
              <a:t>Task 3.4: Integrate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algn="l">
              <a:defRPr/>
            </a:pPr>
            <a:r>
              <a:rPr sz="2000" b="1">
                <a:latin typeface="Calibri"/>
              </a:rPr>
              <a:t>Task 3.5: Format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7672458" name="Title 1"/>
          <p:cNvSpPr>
            <a:spLocks noGrp="1"/>
          </p:cNvSpPr>
          <p:nvPr>
            <p:ph type="title"/>
          </p:nvPr>
        </p:nvSpPr>
        <p:spPr bwMode="auto"/>
        <p:txBody>
          <a:bodyPr/>
          <a:lstStyle/>
          <a:p>
            <a:pPr>
              <a:defRPr/>
            </a:pPr>
            <a:r>
              <a:rPr lang="en-US"/>
              <a:t>Items Completed This Week</a:t>
            </a:r>
            <a:endParaRPr/>
          </a:p>
        </p:txBody>
      </p:sp>
      <p:sp>
        <p:nvSpPr>
          <p:cNvPr id="1814172834"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2000" b="1">
                <a:latin typeface="Calibri"/>
              </a:rPr>
              <a:t>Task 3.3: Construct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lvl="1" algn="l">
              <a:defRPr/>
            </a:pPr>
            <a:r>
              <a:rPr sz="2000" b="0">
                <a:latin typeface="Calibri"/>
              </a:rPr>
              <a:t>K-Means clustering (k=148) engineered from lat/long; cluster labels converted to strings for target-encoding; train/test split (80/20, random_state=42) before clustering to prevent leakage.</a:t>
            </a:r>
            <a:endParaRPr sz="2000"/>
          </a:p>
          <a:p>
            <a:pPr algn="l">
              <a:defRPr/>
            </a:pPr>
            <a:r>
              <a:rPr sz="2000" b="1">
                <a:latin typeface="Calibri"/>
              </a:rPr>
              <a:t>Task 3.4: Integrate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lvl="1" algn="l">
              <a:defRPr/>
            </a:pPr>
            <a:r>
              <a:rPr sz="2000" b="0">
                <a:latin typeface="Calibri"/>
              </a:rPr>
              <a:t>No external data integration required; numeric and categorical feature matrices finalized (11 numeric + 5 categorical including location_cluster).</a:t>
            </a:r>
            <a:endParaRPr sz="2000"/>
          </a:p>
          <a:p>
            <a:pPr algn="l">
              <a:defRPr/>
            </a:pPr>
            <a:r>
              <a:rPr sz="2000" b="1">
                <a:latin typeface="Calibri"/>
              </a:rPr>
              <a:t>Task 3.5: Format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5 Jun 2026</a:t>
            </a:r>
            <a:endParaRPr sz="2000"/>
          </a:p>
          <a:p>
            <a:pPr lvl="1" algn="l">
              <a:defRPr/>
            </a:pPr>
            <a:r>
              <a:rPr sz="2000" b="0">
                <a:latin typeface="Calibri"/>
              </a:rPr>
              <a:t>TargetEncoder (smoothing=10) applied; final train: 115,284 x 16, test: 28,821 x 16.</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8286662" name="Title 1"/>
          <p:cNvSpPr>
            <a:spLocks noGrp="1"/>
          </p:cNvSpPr>
          <p:nvPr>
            <p:ph type="title"/>
          </p:nvPr>
        </p:nvSpPr>
        <p:spPr bwMode="auto"/>
        <p:txBody>
          <a:bodyPr/>
          <a:lstStyle/>
          <a:p>
            <a:pPr>
              <a:defRPr/>
            </a:pPr>
            <a:r>
              <a:rPr lang="en-US"/>
              <a:t>Items In Progress</a:t>
            </a:r>
            <a:endParaRPr/>
          </a:p>
        </p:txBody>
      </p:sp>
      <p:sp>
        <p:nvSpPr>
          <p:cNvPr id="1134965629"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200" b="1">
                <a:latin typeface="Calibri"/>
              </a:rPr>
              <a:t>Task 4.1: Select Modeling Technique</a:t>
            </a:r>
            <a:endParaRPr sz="2200"/>
          </a:p>
          <a:p>
            <a:pPr lvl="1" algn="l">
              <a:defRPr/>
            </a:pPr>
            <a:r>
              <a:rPr sz="2200" b="0">
                <a:latin typeface="Calibri"/>
              </a:rPr>
              <a:t>Status: </a:t>
            </a:r>
            <a:r>
              <a:rPr sz="2200" b="0">
                <a:solidFill>
                  <a:srgbClr val="00FF00"/>
                </a:solidFill>
                <a:latin typeface="Calibri"/>
              </a:rPr>
              <a:t>GREEN</a:t>
            </a:r>
            <a:r>
              <a:rPr sz="2200" b="0">
                <a:latin typeface="Calibri"/>
              </a:rPr>
              <a:t> — 1% complete</a:t>
            </a:r>
            <a:endParaRPr sz="2200"/>
          </a:p>
          <a:p>
            <a:pPr lvl="1" algn="l">
              <a:defRPr/>
            </a:pPr>
            <a:r>
              <a:rPr sz="2200" b="0">
                <a:latin typeface="Calibri"/>
              </a:rPr>
              <a:t>Original Start: 7 Jun 2026 | Revised: N/A | Actual Start: 6 Jun 2026</a:t>
            </a:r>
            <a:endParaRPr sz="2200"/>
          </a:p>
          <a:p>
            <a:pPr lvl="1" algn="l">
              <a:defRPr/>
            </a:pPr>
            <a:r>
              <a:rPr sz="2200" b="0">
                <a:latin typeface="Calibri"/>
              </a:rPr>
              <a:t>Original End:   20 Jun 2026 | Revised: N/A | Actual End: N/A</a:t>
            </a:r>
            <a:endParaRPr sz="2200"/>
          </a:p>
          <a:p>
            <a:pPr lvl="1" algn="l">
              <a:defRPr/>
            </a:pPr>
            <a:r>
              <a:rPr sz="2200" b="0">
                <a:latin typeface="Calibri"/>
              </a:rPr>
              <a:t>Initial candidates: Random Forest, HistGradientBoostingRegressor, XGBoost (tree-based, scale-invariant).</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2371274" name="Title 1"/>
          <p:cNvSpPr>
            <a:spLocks noGrp="1"/>
          </p:cNvSpPr>
          <p:nvPr>
            <p:ph type="title"/>
          </p:nvPr>
        </p:nvSpPr>
        <p:spPr bwMode="auto"/>
        <p:txBody>
          <a:bodyPr/>
          <a:lstStyle/>
          <a:p>
            <a:pPr>
              <a:defRPr/>
            </a:pPr>
            <a:r>
              <a:rPr lang="en-US"/>
              <a:t>Items To Be Started</a:t>
            </a:r>
            <a:endParaRPr/>
          </a:p>
        </p:txBody>
      </p:sp>
      <p:sp>
        <p:nvSpPr>
          <p:cNvPr id="119813536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400" b="1">
                <a:latin typeface="Calibri"/>
              </a:rPr>
              <a:t>Task 4.2: Generate Test Design</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084987" name="Title 1"/>
          <p:cNvSpPr>
            <a:spLocks noGrp="1"/>
          </p:cNvSpPr>
          <p:nvPr>
            <p:ph type="title"/>
          </p:nvPr>
        </p:nvSpPr>
        <p:spPr bwMode="auto"/>
        <p:txBody>
          <a:bodyPr/>
          <a:lstStyle/>
          <a:p>
            <a:pPr>
              <a:defRPr/>
            </a:pPr>
            <a:r>
              <a:rPr lang="en-US"/>
              <a:t>Sample of Items Completed This Week</a:t>
            </a:r>
            <a:endParaRPr/>
          </a:p>
        </p:txBody>
      </p:sp>
      <p:sp>
        <p:nvSpPr>
          <p:cNvPr id="243810781"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1800" b="0">
                <a:latin typeface="Calibri"/>
              </a:rPr>
              <a:t>Geographic and Apartment Filtering — Before/After Comparison</a:t>
            </a:r>
            <a:endParaRPr sz="1800"/>
          </a:p>
          <a:p>
            <a:pPr algn="l">
              <a:defRPr/>
            </a:pPr>
            <a:r>
              <a:rPr sz="1800" b="0">
                <a:latin typeface="Calibri"/>
              </a:rPr>
              <a:t>Cleaning narrowed 384,977 listings to ~144K Southern apartments</a:t>
            </a:r>
            <a:endParaRPr/>
          </a:p>
          <a:p>
            <a:pPr algn="l">
              <a:defRPr/>
            </a:pPr>
            <a:endParaRPr/>
          </a:p>
        </p:txBody>
      </p:sp>
      <p:pic>
        <p:nvPicPr>
          <p:cNvPr id="592103256" name="Picture 1411112550" descr="Housing Listing Locations, Not Cleaned.png"/>
          <p:cNvPicPr>
            <a:picLocks noChangeAspect="1"/>
          </p:cNvPicPr>
          <p:nvPr/>
        </p:nvPicPr>
        <p:blipFill rotWithShape="1">
          <a:blip r:embed="rId3"/>
          <a:stretch/>
        </p:blipFill>
        <p:spPr bwMode="auto">
          <a:xfrm flipH="0" flipV="0">
            <a:off x="842286" y="2034919"/>
            <a:ext cx="4970271" cy="3550194"/>
          </a:xfrm>
          <a:prstGeom prst="rect">
            <a:avLst/>
          </a:prstGeom>
        </p:spPr>
      </p:pic>
      <p:pic>
        <p:nvPicPr>
          <p:cNvPr id="2041985563" name="Picture 1411112551" descr="Southern Apartment Listing Locations, Cleaned.png"/>
          <p:cNvPicPr>
            <a:picLocks noChangeAspect="1"/>
          </p:cNvPicPr>
          <p:nvPr/>
        </p:nvPicPr>
        <p:blipFill rotWithShape="1">
          <a:blip r:embed="rId4"/>
          <a:stretch/>
        </p:blipFill>
        <p:spPr bwMode="auto">
          <a:xfrm flipH="0" flipV="0">
            <a:off x="6095997" y="2034919"/>
            <a:ext cx="4974683" cy="35533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7941176" name="Title 1"/>
          <p:cNvSpPr>
            <a:spLocks noGrp="1"/>
          </p:cNvSpPr>
          <p:nvPr>
            <p:ph type="title"/>
          </p:nvPr>
        </p:nvSpPr>
        <p:spPr bwMode="auto"/>
        <p:txBody>
          <a:bodyPr/>
          <a:lstStyle/>
          <a:p>
            <a:pPr>
              <a:defRPr/>
            </a:pPr>
            <a:r>
              <a:rPr lang="en-US"/>
              <a:t>Issues, Risks, Concerns</a:t>
            </a:r>
            <a:endParaRPr/>
          </a:p>
        </p:txBody>
      </p:sp>
      <p:sp>
        <p:nvSpPr>
          <p:cNvPr id="1085447237"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200" b="1">
                <a:latin typeface="Calibri"/>
              </a:rPr>
              <a:t>Issues</a:t>
            </a:r>
            <a:endParaRPr sz="2200"/>
          </a:p>
          <a:p>
            <a:pPr lvl="1" algn="l">
              <a:defRPr/>
            </a:pPr>
            <a:r>
              <a:rPr sz="2200" b="0">
                <a:latin typeface="Calibri"/>
              </a:rPr>
              <a:t>None at this time</a:t>
            </a:r>
            <a:endParaRPr sz="2200"/>
          </a:p>
          <a:p>
            <a:pPr algn="l">
              <a:defRPr/>
            </a:pPr>
            <a:endParaRPr sz="2200"/>
          </a:p>
          <a:p>
            <a:pPr algn="l">
              <a:defRPr/>
            </a:pPr>
            <a:r>
              <a:rPr sz="2200" b="1">
                <a:latin typeface="Calibri"/>
              </a:rPr>
              <a:t>Risks</a:t>
            </a:r>
            <a:endParaRPr sz="2200"/>
          </a:p>
          <a:p>
            <a:pPr lvl="1" algn="l">
              <a:defRPr/>
            </a:pPr>
            <a:r>
              <a:rPr sz="2200" b="0">
                <a:latin typeface="Calibri"/>
              </a:rPr>
              <a:t>None at this time</a:t>
            </a:r>
            <a:endParaRPr sz="2200"/>
          </a:p>
          <a:p>
            <a:pPr algn="l">
              <a:defRPr/>
            </a:pPr>
            <a:endParaRPr sz="2200"/>
          </a:p>
          <a:p>
            <a:pPr algn="l">
              <a:defRPr/>
            </a:pPr>
            <a:r>
              <a:rPr sz="2200" b="1">
                <a:latin typeface="Calibri"/>
              </a:rPr>
              <a:t>Concerns</a:t>
            </a:r>
            <a:endParaRPr sz="2200"/>
          </a:p>
          <a:p>
            <a:pPr lvl="1" algn="l">
              <a:defRPr/>
            </a:pPr>
            <a:r>
              <a:rPr sz="2200" b="0">
                <a:latin typeface="Calibri"/>
              </a:rPr>
              <a:t>None at this time</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834103" name="Title 1"/>
          <p:cNvSpPr>
            <a:spLocks noGrp="1"/>
          </p:cNvSpPr>
          <p:nvPr>
            <p:ph type="title"/>
          </p:nvPr>
        </p:nvSpPr>
        <p:spPr bwMode="auto"/>
        <p:txBody>
          <a:bodyPr/>
          <a:lstStyle/>
          <a:p>
            <a:pPr>
              <a:defRPr/>
            </a:pPr>
            <a:r>
              <a:rPr lang="en-US"/>
              <a:t>Next Steps</a:t>
            </a:r>
            <a:endParaRPr/>
          </a:p>
        </p:txBody>
      </p:sp>
      <p:sp>
        <p:nvSpPr>
          <p:cNvPr id="1934896721" name="Content Placeholder 2"/>
          <p:cNvSpPr>
            <a:spLocks noGrp="1"/>
          </p:cNvSpPr>
          <p:nvPr>
            <p:ph idx="1"/>
          </p:nvPr>
        </p:nvSpPr>
        <p:spPr bwMode="auto">
          <a:xfrm>
            <a:off x="599089" y="1049868"/>
            <a:ext cx="10993815" cy="4718543"/>
          </a:xfrm>
        </p:spPr>
        <p:txBody>
          <a:bodyPr wrap="square">
            <a:normAutofit/>
          </a:bodyPr>
          <a:lstStyle/>
          <a:p>
            <a:pPr algn="l">
              <a:defRPr/>
            </a:pPr>
            <a:r>
              <a:rPr sz="2400" b="1">
                <a:latin typeface="Calibri"/>
              </a:rPr>
              <a:t>Task 4.2: Generate Test Design</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4.3: Build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a:p>
            <a:pPr algn="l">
              <a:defRPr/>
            </a:pPr>
            <a:r>
              <a:rPr sz="2400" b="1">
                <a:latin typeface="Calibri"/>
              </a:rPr>
              <a:t>Task 4.4: Assess Model</a:t>
            </a:r>
            <a:endParaRPr sz="2400"/>
          </a:p>
          <a:p>
            <a:pPr lvl="1" algn="l">
              <a:defRPr/>
            </a:pPr>
            <a:r>
              <a:rPr sz="2400" b="0">
                <a:latin typeface="Calibri"/>
              </a:rPr>
              <a:t>Original Start: 7 Jun 2026 | Revised: N/A | Actual Start: N/A</a:t>
            </a:r>
            <a:endParaRPr sz="2400"/>
          </a:p>
          <a:p>
            <a:pPr lvl="1" algn="l">
              <a:defRPr/>
            </a:pPr>
            <a:r>
              <a:rPr sz="2400" b="0">
                <a:latin typeface="Calibri"/>
              </a:rPr>
              <a:t>Original End:   20 Jun 2026 | Revised: N/A | Actual End: N/A</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4117319" name="Title 1"/>
          <p:cNvSpPr>
            <a:spLocks noGrp="1"/>
          </p:cNvSpPr>
          <p:nvPr>
            <p:ph type="title"/>
          </p:nvPr>
        </p:nvSpPr>
        <p:spPr bwMode="auto"/>
        <p:txBody>
          <a:bodyPr/>
          <a:lstStyle/>
          <a:p>
            <a:pPr>
              <a:defRPr/>
            </a:pPr>
            <a:r>
              <a:rPr lang="en-US"/>
              <a:t>Personal Reflection</a:t>
            </a:r>
            <a:endParaRPr/>
          </a:p>
        </p:txBody>
      </p:sp>
      <p:sp>
        <p:nvSpPr>
          <p:cNvPr id="2138361682"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200" b="0">
                <a:latin typeface="Calibri"/>
              </a:rPr>
              <a:t>Phase 3 wrapped up right on schedule, and honestly it was closer than I would have liked. The target encoding versus one-hot encoding trade-off took more deliberation than expected, and getting the K-Means clustering to align with the 148 Craigslist regions required several iterations. I am relieved all five tasks landed by the June 6 deadline, it was tight but the pipeline is solid. The single Southern bounding box approach ended up simplifying the cleaning logic considerably, which saved time in the final push. Looking ahead to Phase 4, having clean preprocessed matrices ready means we can hit the ground running with modeling next week.</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563467"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6266936"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May 29,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			 </a:t>
            </a:r>
            <a:r>
              <a:rPr lang="en-US" sz="6000">
                <a:latin typeface="+mn-lt"/>
              </a:rPr>
              <a:t>May 29,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1196472" name="Title 1"/>
          <p:cNvSpPr>
            <a:spLocks noGrp="1"/>
          </p:cNvSpPr>
          <p:nvPr>
            <p:ph type="title"/>
          </p:nvPr>
        </p:nvSpPr>
        <p:spPr bwMode="auto"/>
        <p:txBody>
          <a:bodyPr/>
          <a:lstStyle/>
          <a:p>
            <a:pPr>
              <a:defRPr/>
            </a:pPr>
            <a:r>
              <a:rPr lang="en-US"/>
              <a:t>Agenda</a:t>
            </a:r>
            <a:endParaRPr/>
          </a:p>
        </p:txBody>
      </p:sp>
      <p:sp>
        <p:nvSpPr>
          <p:cNvPr id="1161547804"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7551502" name="Title 1"/>
          <p:cNvSpPr>
            <a:spLocks noGrp="1"/>
          </p:cNvSpPr>
          <p:nvPr>
            <p:ph type="title"/>
          </p:nvPr>
        </p:nvSpPr>
        <p:spPr bwMode="auto"/>
        <p:txBody>
          <a:bodyPr/>
          <a:lstStyle/>
          <a:p>
            <a:pPr>
              <a:defRPr/>
            </a:pPr>
            <a:r>
              <a:rPr lang="en-US"/>
              <a:t>Status Overview</a:t>
            </a:r>
            <a:endParaRPr/>
          </a:p>
        </p:txBody>
      </p:sp>
      <p:sp>
        <p:nvSpPr>
          <p:cNvPr id="974996896"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Project Status: </a:t>
            </a:r>
            <a:r>
              <a:rPr sz="1200" b="1">
                <a:solidFill>
                  <a:srgbClr val="00FF00"/>
                </a:solidFill>
                <a:latin typeface="Calibri"/>
              </a:rPr>
              <a:t>GREEN</a:t>
            </a:r>
            <a:endParaRPr/>
          </a:p>
          <a:p>
            <a:pPr algn="l">
              <a:defRPr/>
            </a:pPr>
            <a:r>
              <a:rPr sz="1100" b="1">
                <a:latin typeface="Calibri"/>
              </a:rPr>
              <a:t>Task 3.1: Select Data</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29 May 2026</a:t>
            </a:r>
            <a:endParaRPr/>
          </a:p>
          <a:p>
            <a:pPr algn="l">
              <a:defRPr/>
            </a:pPr>
            <a:r>
              <a:rPr sz="1100" b="1">
                <a:latin typeface="Calibri"/>
              </a:rPr>
              <a:t>Task 3.2: Clean Data</a:t>
            </a:r>
            <a:endParaRPr/>
          </a:p>
          <a:p>
            <a:pPr lvl="1" algn="l">
              <a:defRPr/>
            </a:pPr>
            <a:r>
              <a:rPr sz="1000" b="0">
                <a:latin typeface="Calibri"/>
              </a:rPr>
              <a:t>Status: </a:t>
            </a:r>
            <a:r>
              <a:rPr sz="1000" b="0">
                <a:solidFill>
                  <a:srgbClr val="00FF00"/>
                </a:solidFill>
                <a:latin typeface="Calibri"/>
              </a:rPr>
              <a:t>GREEN</a:t>
            </a:r>
            <a:r>
              <a:rPr sz="1000" b="0">
                <a:latin typeface="Calibri"/>
              </a:rPr>
              <a:t> — 100%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29 May 2026</a:t>
            </a:r>
            <a:endParaRPr/>
          </a:p>
          <a:p>
            <a:pPr algn="l">
              <a:defRPr/>
            </a:pPr>
            <a:r>
              <a:rPr sz="1100" b="1">
                <a:latin typeface="Calibri"/>
              </a:rPr>
              <a:t>Task 3.3: Construct Data</a:t>
            </a:r>
            <a:endParaRPr/>
          </a:p>
          <a:p>
            <a:pPr lvl="1" algn="l">
              <a:defRPr/>
            </a:pPr>
            <a:r>
              <a:rPr sz="1000" b="0">
                <a:latin typeface="Calibri"/>
              </a:rPr>
              <a:t>Status: </a:t>
            </a:r>
            <a:r>
              <a:rPr sz="1000" b="0">
                <a:solidFill>
                  <a:srgbClr val="00FF00"/>
                </a:solidFill>
                <a:latin typeface="Calibri"/>
              </a:rPr>
              <a:t>GREEN</a:t>
            </a:r>
            <a:r>
              <a:rPr sz="1000" b="0">
                <a:latin typeface="Calibri"/>
              </a:rPr>
              <a:t> — 60%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N/A</a:t>
            </a:r>
            <a:endParaRPr/>
          </a:p>
          <a:p>
            <a:pPr algn="l">
              <a:defRPr/>
            </a:pPr>
            <a:r>
              <a:rPr sz="1100" b="1">
                <a:latin typeface="Calibri"/>
              </a:rPr>
              <a:t>Task 3.4: Integrate Data</a:t>
            </a:r>
            <a:endParaRPr/>
          </a:p>
          <a:p>
            <a:pPr lvl="1" algn="l">
              <a:defRPr/>
            </a:pPr>
            <a:r>
              <a:rPr sz="1000" b="0">
                <a:latin typeface="Calibri"/>
              </a:rPr>
              <a:t>Status: </a:t>
            </a:r>
            <a:r>
              <a:rPr sz="1000" b="0">
                <a:solidFill>
                  <a:srgbClr val="00FF00"/>
                </a:solidFill>
                <a:latin typeface="Calibri"/>
              </a:rPr>
              <a:t>GREEN</a:t>
            </a:r>
            <a:r>
              <a:rPr sz="1000" b="0">
                <a:latin typeface="Calibri"/>
              </a:rPr>
              <a:t> — 60%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N/A</a:t>
            </a:r>
            <a:endParaRPr/>
          </a:p>
          <a:p>
            <a:pPr algn="l">
              <a:defRPr/>
            </a:pPr>
            <a:r>
              <a:rPr sz="1100" b="1">
                <a:latin typeface="Calibri"/>
              </a:rPr>
              <a:t>Task 3.5: Format Data</a:t>
            </a:r>
            <a:endParaRPr/>
          </a:p>
          <a:p>
            <a:pPr lvl="1" algn="l">
              <a:defRPr/>
            </a:pPr>
            <a:r>
              <a:rPr sz="1000" b="0">
                <a:latin typeface="Calibri"/>
              </a:rPr>
              <a:t>Status: </a:t>
            </a:r>
            <a:r>
              <a:rPr sz="1000" b="0">
                <a:solidFill>
                  <a:srgbClr val="00FF00"/>
                </a:solidFill>
                <a:latin typeface="Calibri"/>
              </a:rPr>
              <a:t>GREEN</a:t>
            </a:r>
            <a:r>
              <a:rPr sz="1000" b="0">
                <a:latin typeface="Calibri"/>
              </a:rPr>
              <a:t> — 10% complete</a:t>
            </a:r>
            <a:endParaRPr/>
          </a:p>
          <a:p>
            <a:pPr lvl="1" algn="l">
              <a:defRPr/>
            </a:pPr>
            <a:r>
              <a:rPr sz="900" b="0">
                <a:latin typeface="Calibri"/>
              </a:rPr>
              <a:t>Original Start: 24 May 2026 | Revised: N/A | Actual Start: 23 May 2026</a:t>
            </a:r>
            <a:endParaRPr/>
          </a:p>
          <a:p>
            <a:pPr lvl="1" algn="l">
              <a:defRPr/>
            </a:pPr>
            <a:r>
              <a:rPr sz="900" b="0">
                <a:latin typeface="Calibri"/>
              </a:rPr>
              <a:t>Original End:   6 Jun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6510552" name="Title 1"/>
          <p:cNvSpPr>
            <a:spLocks noGrp="1"/>
          </p:cNvSpPr>
          <p:nvPr>
            <p:ph type="title"/>
          </p:nvPr>
        </p:nvSpPr>
        <p:spPr bwMode="auto"/>
        <p:txBody>
          <a:bodyPr/>
          <a:lstStyle/>
          <a:p>
            <a:pPr>
              <a:defRPr/>
            </a:pPr>
            <a:r>
              <a:rPr lang="en-US"/>
              <a:t>Items Completed This Week</a:t>
            </a:r>
            <a:endParaRPr/>
          </a:p>
        </p:txBody>
      </p:sp>
      <p:sp>
        <p:nvSpPr>
          <p:cNvPr id="460883608"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2000" b="1">
                <a:latin typeface="Calibri"/>
              </a:rPr>
              <a:t>Task 3.1: Select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29 May 2026</a:t>
            </a:r>
            <a:endParaRPr sz="2000"/>
          </a:p>
          <a:p>
            <a:pPr lvl="1" algn="l">
              <a:defRPr/>
            </a:pPr>
            <a:r>
              <a:rPr sz="2000" b="0">
                <a:latin typeface="Calibri"/>
              </a:rPr>
              <a:t>Non-predictive columns (id, url, image_url, description) identified and dropped; 18 predictive columns retained for modeling; initial outlier scan flagged 2,236 anomalous price/sqfeet records (0.58%) for cleaning.</a:t>
            </a:r>
            <a:endParaRPr sz="2000"/>
          </a:p>
          <a:p>
            <a:pPr algn="l">
              <a:defRPr/>
            </a:pPr>
            <a:r>
              <a:rPr sz="2000" b="1">
                <a:latin typeface="Calibri"/>
              </a:rPr>
              <a:t>Task 3.2: Clean Data</a:t>
            </a:r>
            <a:endParaRPr sz="2000"/>
          </a:p>
          <a:p>
            <a:pPr lvl="1" algn="l">
              <a:defRPr/>
            </a:pPr>
            <a:r>
              <a:rPr sz="2000" b="0">
                <a:latin typeface="Calibri"/>
              </a:rPr>
              <a:t>Status: </a:t>
            </a:r>
            <a:r>
              <a:rPr sz="2000" b="0">
                <a:solidFill>
                  <a:srgbClr val="00FF00"/>
                </a:solidFill>
                <a:latin typeface="Calibri"/>
              </a:rPr>
              <a:t>GREEN</a:t>
            </a:r>
            <a:r>
              <a:rPr sz="2000" b="0">
                <a:latin typeface="Calibri"/>
              </a:rPr>
              <a:t> — 100% complete</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29 May 2026</a:t>
            </a:r>
            <a:endParaRPr sz="2000"/>
          </a:p>
          <a:p>
            <a:pPr lvl="1" algn="l">
              <a:defRPr/>
            </a:pPr>
            <a:r>
              <a:rPr sz="2000" b="0">
                <a:latin typeface="Calibri"/>
              </a:rPr>
              <a:t>Southern states &amp; apartment filter applied: 384,977 to 144,105 records across 17 Southern states.</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8486805" name="Title 1"/>
          <p:cNvSpPr>
            <a:spLocks noGrp="1"/>
          </p:cNvSpPr>
          <p:nvPr>
            <p:ph type="title"/>
          </p:nvPr>
        </p:nvSpPr>
        <p:spPr bwMode="auto"/>
        <p:txBody>
          <a:bodyPr/>
          <a:lstStyle/>
          <a:p>
            <a:pPr>
              <a:defRPr/>
            </a:pPr>
            <a:r>
              <a:rPr lang="en-US"/>
              <a:t>Items In Progress</a:t>
            </a:r>
            <a:endParaRPr/>
          </a:p>
        </p:txBody>
      </p:sp>
      <p:sp>
        <p:nvSpPr>
          <p:cNvPr id="1572241369"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lnSpc>
                <a:spcPct val="100000"/>
              </a:lnSpc>
              <a:defRPr/>
            </a:pPr>
            <a:r>
              <a:rPr sz="1800" b="1">
                <a:latin typeface="Calibri"/>
              </a:rPr>
              <a:t>Task 3.3: Construct Data</a:t>
            </a:r>
            <a:endParaRPr sz="1800"/>
          </a:p>
          <a:p>
            <a:pPr lvl="1" algn="l">
              <a:defRPr/>
            </a:pPr>
            <a:r>
              <a:rPr sz="1800" b="0">
                <a:latin typeface="Calibri"/>
              </a:rPr>
              <a:t>Status: </a:t>
            </a:r>
            <a:r>
              <a:rPr sz="1800" b="0">
                <a:solidFill>
                  <a:srgbClr val="00FF00"/>
                </a:solidFill>
                <a:latin typeface="Calibri"/>
              </a:rPr>
              <a:t>GREEN</a:t>
            </a:r>
            <a:r>
              <a:rPr sz="1800" b="0">
                <a:latin typeface="Calibri"/>
              </a:rPr>
              <a:t> — 60% complete</a:t>
            </a:r>
            <a:endParaRPr sz="1800"/>
          </a:p>
          <a:p>
            <a:pPr lvl="1" algn="l">
              <a:defRPr/>
            </a:pPr>
            <a:r>
              <a:rPr sz="1800" b="0">
                <a:latin typeface="Calibri"/>
              </a:rPr>
              <a:t>Original Start: 24 May 2026 | Revised: N/A | Actual Start: 23 May 2026</a:t>
            </a:r>
            <a:endParaRPr sz="1800"/>
          </a:p>
          <a:p>
            <a:pPr lvl="1" algn="l">
              <a:defRPr/>
            </a:pPr>
            <a:r>
              <a:rPr sz="1800" b="0">
                <a:latin typeface="Calibri"/>
              </a:rPr>
              <a:t>Original End:   6 Jun 2026 | Revised: N/A | Actual End: N/A</a:t>
            </a:r>
            <a:endParaRPr sz="1800"/>
          </a:p>
          <a:p>
            <a:pPr lvl="1" algn="l">
              <a:defRPr/>
            </a:pPr>
            <a:r>
              <a:rPr sz="1800" b="0">
                <a:latin typeface="Calibri"/>
              </a:rPr>
              <a:t>Train/test split complete (80/20); KMeans location clustering implemented for lat/long coordinates; remaining work includes feature interaction terms and derived variables.</a:t>
            </a:r>
            <a:endParaRPr sz="1800"/>
          </a:p>
          <a:p>
            <a:pPr algn="l">
              <a:defRPr/>
            </a:pPr>
            <a:r>
              <a:rPr sz="1800" b="1">
                <a:latin typeface="Calibri"/>
              </a:rPr>
              <a:t>Task 3.4: Integrate Data</a:t>
            </a:r>
            <a:endParaRPr sz="1800"/>
          </a:p>
          <a:p>
            <a:pPr lvl="1" algn="l">
              <a:defRPr/>
            </a:pPr>
            <a:r>
              <a:rPr sz="1800" b="0">
                <a:latin typeface="Calibri"/>
              </a:rPr>
              <a:t>Status: </a:t>
            </a:r>
            <a:r>
              <a:rPr sz="1800" b="0">
                <a:solidFill>
                  <a:srgbClr val="00FF00"/>
                </a:solidFill>
                <a:latin typeface="Calibri"/>
              </a:rPr>
              <a:t>GREEN</a:t>
            </a:r>
            <a:r>
              <a:rPr sz="1800" b="0">
                <a:latin typeface="Calibri"/>
              </a:rPr>
              <a:t> — 60% complete</a:t>
            </a:r>
            <a:endParaRPr sz="1800"/>
          </a:p>
          <a:p>
            <a:pPr lvl="1" algn="l">
              <a:defRPr/>
            </a:pPr>
            <a:r>
              <a:rPr sz="1800" b="0">
                <a:latin typeface="Calibri"/>
              </a:rPr>
              <a:t>Original Start: 24 May 2026 | Revised: N/A | Actual Start: 23 May 2026</a:t>
            </a:r>
            <a:endParaRPr sz="1800"/>
          </a:p>
          <a:p>
            <a:pPr lvl="1" algn="l">
              <a:defRPr/>
            </a:pPr>
            <a:r>
              <a:rPr sz="1800" b="0">
                <a:latin typeface="Calibri"/>
              </a:rPr>
              <a:t>Original End:   6 Jun 2026 | Revised: N/A | Actual End: N/A</a:t>
            </a:r>
            <a:endParaRPr sz="1800"/>
          </a:p>
          <a:p>
            <a:pPr lvl="1" algn="l">
              <a:defRPr/>
            </a:pPr>
            <a:r>
              <a:rPr sz="1800" b="0">
                <a:latin typeface="Calibri"/>
              </a:rPr>
              <a:t>Numeric and categorical feature matrices defined; column groups finalized (11 numeric, 5 categorical including location_cluster); final integration tested and working.</a:t>
            </a:r>
            <a:endParaRPr sz="1800"/>
          </a:p>
          <a:p>
            <a:pPr algn="l">
              <a:defRPr/>
            </a:pPr>
            <a:r>
              <a:rPr sz="1800" b="1">
                <a:latin typeface="Calibri"/>
              </a:rPr>
              <a:t>Task 3.5: Format Data</a:t>
            </a:r>
            <a:endParaRPr sz="1800"/>
          </a:p>
          <a:p>
            <a:pPr lvl="1" algn="l">
              <a:defRPr/>
            </a:pPr>
            <a:r>
              <a:rPr sz="1800" b="0">
                <a:latin typeface="Calibri"/>
              </a:rPr>
              <a:t>Status: </a:t>
            </a:r>
            <a:r>
              <a:rPr sz="1800" b="0">
                <a:solidFill>
                  <a:srgbClr val="00FF00"/>
                </a:solidFill>
                <a:latin typeface="Calibri"/>
              </a:rPr>
              <a:t>GREEN</a:t>
            </a:r>
            <a:r>
              <a:rPr sz="1800" b="0">
                <a:latin typeface="Calibri"/>
              </a:rPr>
              <a:t> — 10% complete</a:t>
            </a:r>
            <a:endParaRPr sz="1800"/>
          </a:p>
          <a:p>
            <a:pPr lvl="1" algn="l">
              <a:defRPr/>
            </a:pPr>
            <a:r>
              <a:rPr sz="1800" b="0">
                <a:latin typeface="Calibri"/>
              </a:rPr>
              <a:t>Original Start: 24 May 2026 | Revised: N/A | Actual Start: 23 May 2026</a:t>
            </a:r>
            <a:endParaRPr sz="1800"/>
          </a:p>
          <a:p>
            <a:pPr lvl="1" algn="l">
              <a:defRPr/>
            </a:pPr>
            <a:r>
              <a:rPr sz="1800" b="0">
                <a:latin typeface="Calibri"/>
              </a:rPr>
              <a:t>Original End:   6 Jun 2026 | Revised: N/A | Actual End: N/A</a:t>
            </a:r>
            <a:endParaRPr sz="1800"/>
          </a:p>
          <a:p>
            <a:pPr lvl="1" algn="l">
              <a:defRPr/>
            </a:pPr>
            <a:r>
              <a:rPr sz="1800" b="0">
                <a:latin typeface="Calibri"/>
              </a:rPr>
              <a:t>Target encoder configured; imputation strategy defined (median for numeric, most_frequent for categorical, Missing category for laundry/parking); final matrices (115,284 train, 28,821 test x 16 features) produced; remaining work on encoding parameter refinement.</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7046905" name="Title 1"/>
          <p:cNvSpPr>
            <a:spLocks noGrp="1"/>
          </p:cNvSpPr>
          <p:nvPr>
            <p:ph type="title"/>
          </p:nvPr>
        </p:nvSpPr>
        <p:spPr bwMode="auto"/>
        <p:txBody>
          <a:bodyPr/>
          <a:lstStyle/>
          <a:p>
            <a:pPr>
              <a:defRPr/>
            </a:pPr>
            <a:r>
              <a:rPr lang="en-US"/>
              <a:t>Items To Be Started</a:t>
            </a:r>
            <a:endParaRPr/>
          </a:p>
        </p:txBody>
      </p:sp>
      <p:sp>
        <p:nvSpPr>
          <p:cNvPr id="89241637"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000" b="1">
                <a:latin typeface="Calibri"/>
              </a:rPr>
              <a:t>Task 4.1: Select Modeling Technique</a:t>
            </a:r>
            <a:endParaRPr sz="2000"/>
          </a:p>
          <a:p>
            <a:pPr lvl="1" algn="l">
              <a:defRPr/>
            </a:pPr>
            <a:r>
              <a:rPr sz="2000" b="0">
                <a:latin typeface="Calibri"/>
              </a:rPr>
              <a:t>Original Start: 7 Jun 2026 | Revised: N/A | Actual Start: N/A</a:t>
            </a:r>
            <a:endParaRPr sz="2000"/>
          </a:p>
          <a:p>
            <a:pPr lvl="1" algn="l">
              <a:defRPr/>
            </a:pPr>
            <a:r>
              <a:rPr sz="2000" b="0">
                <a:latin typeface="Calibri"/>
              </a:rPr>
              <a:t>Original End:   20 Jun 2026 | Revised: N/A | Actual End: N/A</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3739854" name="Title 1"/>
          <p:cNvSpPr>
            <a:spLocks noGrp="1"/>
          </p:cNvSpPr>
          <p:nvPr>
            <p:ph type="title"/>
          </p:nvPr>
        </p:nvSpPr>
        <p:spPr bwMode="auto"/>
        <p:txBody>
          <a:bodyPr/>
          <a:lstStyle/>
          <a:p>
            <a:pPr>
              <a:defRPr/>
            </a:pPr>
            <a:r>
              <a:rPr lang="en-US"/>
              <a:t>Sample of Items Completed This Week</a:t>
            </a:r>
            <a:endParaRPr/>
          </a:p>
        </p:txBody>
      </p:sp>
      <p:sp>
        <p:nvSpPr>
          <p:cNvPr id="1433817605" name="Content Placeholder 2"/>
          <p:cNvSpPr>
            <a:spLocks noGrp="1"/>
          </p:cNvSpPr>
          <p:nvPr>
            <p:ph idx="1"/>
          </p:nvPr>
        </p:nvSpPr>
        <p:spPr bwMode="auto">
          <a:xfrm>
            <a:off x="599089" y="1194216"/>
            <a:ext cx="10993815" cy="4453209"/>
          </a:xfrm>
        </p:spPr>
        <p:txBody>
          <a:bodyPr wrap="square">
            <a:normAutofit/>
          </a:bodyPr>
          <a:lstStyle/>
          <a:p>
            <a:pPr algn="l">
              <a:lnSpc>
                <a:spcPct val="100000"/>
              </a:lnSpc>
              <a:defRPr/>
            </a:pPr>
            <a:r>
              <a:rPr sz="2000" b="1">
                <a:latin typeface="Calibri"/>
              </a:rPr>
              <a:t>Sample Code — IQR Outlier Removal by Region:</a:t>
            </a:r>
            <a:endParaRPr sz="2000"/>
          </a:p>
          <a:p>
            <a:pPr lvl="1" algn="l">
              <a:defRPr/>
            </a:pPr>
            <a:r>
              <a:rPr sz="2000" b="0">
                <a:latin typeface="Consolas"/>
              </a:rPr>
              <a:t>def clean_outliers(df, TARGET="price", scope="region", k=1.5):</a:t>
            </a:r>
            <a:endParaRPr sz="2000"/>
          </a:p>
          <a:p>
            <a:pPr lvl="1" algn="l">
              <a:defRPr/>
            </a:pPr>
            <a:r>
              <a:rPr sz="2000" b="0">
                <a:latin typeface="Consolas"/>
              </a:rPr>
              <a:t>    q1 = df.groupby(scope)[TARGET].transform(</a:t>
            </a:r>
            <a:endParaRPr sz="2000"/>
          </a:p>
          <a:p>
            <a:pPr lvl="1" algn="l">
              <a:defRPr/>
            </a:pPr>
            <a:r>
              <a:rPr sz="2000" b="0">
                <a:latin typeface="Consolas"/>
              </a:rPr>
              <a:t>        lambda s: s.quantile(0.25)</a:t>
            </a:r>
            <a:endParaRPr sz="2000"/>
          </a:p>
          <a:p>
            <a:pPr lvl="1" algn="l">
              <a:defRPr/>
            </a:pPr>
            <a:r>
              <a:rPr sz="2000" b="0">
                <a:latin typeface="Consolas"/>
              </a:rPr>
              <a:t>    )</a:t>
            </a:r>
            <a:endParaRPr sz="2000"/>
          </a:p>
          <a:p>
            <a:pPr lvl="1" algn="l">
              <a:defRPr/>
            </a:pPr>
            <a:r>
              <a:rPr sz="2000" b="0">
                <a:latin typeface="Consolas"/>
              </a:rPr>
              <a:t>    q3 = df.groupby(scope)[TARGET].transform(</a:t>
            </a:r>
            <a:endParaRPr sz="2000"/>
          </a:p>
          <a:p>
            <a:pPr lvl="1" algn="l">
              <a:defRPr/>
            </a:pPr>
            <a:r>
              <a:rPr sz="2000" b="0">
                <a:latin typeface="Consolas"/>
              </a:rPr>
              <a:t>        lambda s: s.quantile(0.75)</a:t>
            </a:r>
            <a:endParaRPr sz="2000"/>
          </a:p>
          <a:p>
            <a:pPr lvl="1" algn="l">
              <a:defRPr/>
            </a:pPr>
            <a:r>
              <a:rPr sz="2000" b="0">
                <a:latin typeface="Consolas"/>
              </a:rPr>
              <a:t>    )</a:t>
            </a:r>
            <a:endParaRPr sz="2000"/>
          </a:p>
          <a:p>
            <a:pPr lvl="1" algn="l">
              <a:defRPr/>
            </a:pPr>
            <a:r>
              <a:rPr sz="2000" b="0">
                <a:latin typeface="Consolas"/>
              </a:rPr>
              <a:t>    iqr = q3 - q1</a:t>
            </a:r>
            <a:endParaRPr sz="2000"/>
          </a:p>
          <a:p>
            <a:pPr lvl="1" algn="l">
              <a:defRPr/>
            </a:pPr>
            <a:r>
              <a:rPr sz="2000" b="0">
                <a:latin typeface="Consolas"/>
              </a:rPr>
              <a:t>    mask = (df[TARGET] &gt;= q1 - k*iqr) &amp; (df[TARGET] &lt;= q3 + k*iqr)</a:t>
            </a:r>
            <a:endParaRPr sz="2000"/>
          </a:p>
          <a:p>
            <a:pPr lvl="1" algn="l">
              <a:defRPr/>
            </a:pPr>
            <a:r>
              <a:rPr sz="2000" b="0">
                <a:latin typeface="Consolas"/>
              </a:rPr>
              <a:t>    return df[mask].copy()</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4070629" name="Title 1"/>
          <p:cNvSpPr>
            <a:spLocks noGrp="1"/>
          </p:cNvSpPr>
          <p:nvPr>
            <p:ph type="title"/>
          </p:nvPr>
        </p:nvSpPr>
        <p:spPr bwMode="auto"/>
        <p:txBody>
          <a:bodyPr/>
          <a:lstStyle/>
          <a:p>
            <a:pPr>
              <a:defRPr/>
            </a:pPr>
            <a:r>
              <a:rPr lang="en-US"/>
              <a:t>Issues, Risks, Concerns</a:t>
            </a:r>
            <a:endParaRPr/>
          </a:p>
        </p:txBody>
      </p:sp>
      <p:sp>
        <p:nvSpPr>
          <p:cNvPr id="222939993"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2000" b="1">
                <a:latin typeface="Calibri"/>
              </a:rPr>
              <a:t>Issues</a:t>
            </a:r>
            <a:endParaRPr sz="2000"/>
          </a:p>
          <a:p>
            <a:pPr lvl="1" algn="l">
              <a:defRPr/>
            </a:pPr>
            <a:r>
              <a:rPr sz="2000" b="0">
                <a:latin typeface="Calibri"/>
              </a:rPr>
              <a:t>Parking options missing rate increased from 36.5% to 51.2% after Southern/apartment filtering.</a:t>
            </a:r>
            <a:endParaRPr sz="2000"/>
          </a:p>
          <a:p>
            <a:pPr lvl="2" algn="l">
              <a:defRPr/>
            </a:pPr>
            <a:r>
              <a:rPr sz="2000" b="0">
                <a:latin typeface="Calibri"/>
              </a:rPr>
              <a:t>Impact: roughly half of Southern apartment listings lack parking data; imputation strategy is more consequential.</a:t>
            </a:r>
            <a:endParaRPr sz="2000"/>
          </a:p>
          <a:p>
            <a:pPr lvl="2" algn="l">
              <a:defRPr/>
            </a:pPr>
            <a:r>
              <a:rPr sz="2000" b="0">
                <a:latin typeface="Calibri"/>
              </a:rPr>
              <a:t>Mitigation: Missing preserved as its own category during target encoding so the model can learn from absence patterns.</a:t>
            </a:r>
            <a:endParaRPr sz="2000"/>
          </a:p>
          <a:p>
            <a:pPr algn="l">
              <a:defRPr/>
            </a:pPr>
            <a:r>
              <a:rPr sz="2000" b="1">
                <a:latin typeface="Calibri"/>
              </a:rPr>
              <a:t>Risks</a:t>
            </a:r>
            <a:endParaRPr sz="2000"/>
          </a:p>
          <a:p>
            <a:pPr lvl="1" algn="l">
              <a:defRPr/>
            </a:pPr>
            <a:r>
              <a:rPr sz="2000" b="0">
                <a:latin typeface="Calibri"/>
              </a:rPr>
              <a:t>None at this time</a:t>
            </a:r>
            <a:endParaRPr sz="2000"/>
          </a:p>
          <a:p>
            <a:pPr algn="l">
              <a:defRPr/>
            </a:pPr>
            <a:r>
              <a:rPr sz="2000" b="1">
                <a:latin typeface="Calibri"/>
              </a:rPr>
              <a:t>Concerns</a:t>
            </a:r>
            <a:endParaRPr sz="2000"/>
          </a:p>
          <a:p>
            <a:pPr lvl="1" algn="l">
              <a:defRPr/>
            </a:pPr>
            <a:r>
              <a:rPr sz="2000" b="0">
                <a:latin typeface="Calibri"/>
              </a:rPr>
              <a:t>None at this time</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7474196" name="Title 1"/>
          <p:cNvSpPr>
            <a:spLocks noGrp="1"/>
          </p:cNvSpPr>
          <p:nvPr>
            <p:ph type="title"/>
          </p:nvPr>
        </p:nvSpPr>
        <p:spPr bwMode="auto"/>
        <p:txBody>
          <a:bodyPr/>
          <a:lstStyle/>
          <a:p>
            <a:pPr>
              <a:defRPr/>
            </a:pPr>
            <a:r>
              <a:rPr lang="en-US"/>
              <a:t>Next Steps</a:t>
            </a:r>
            <a:endParaRPr/>
          </a:p>
        </p:txBody>
      </p:sp>
      <p:sp>
        <p:nvSpPr>
          <p:cNvPr id="2069526786" name="Content Placeholder 2"/>
          <p:cNvSpPr>
            <a:spLocks noGrp="1"/>
          </p:cNvSpPr>
          <p:nvPr>
            <p:ph idx="1"/>
          </p:nvPr>
        </p:nvSpPr>
        <p:spPr bwMode="auto">
          <a:xfrm>
            <a:off x="599089" y="1049868"/>
            <a:ext cx="10993815" cy="4718543"/>
          </a:xfrm>
        </p:spPr>
        <p:txBody>
          <a:bodyPr wrap="square">
            <a:normAutofit/>
          </a:bodyPr>
          <a:lstStyle/>
          <a:p>
            <a:pPr algn="l">
              <a:lnSpc>
                <a:spcPct val="100000"/>
              </a:lnSpc>
              <a:defRPr/>
            </a:pPr>
            <a:r>
              <a:rPr sz="2000" b="1">
                <a:latin typeface="Calibri"/>
              </a:rPr>
              <a:t>Task 3.3: Construct Data (continuing)</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N/A</a:t>
            </a:r>
            <a:endParaRPr sz="2000"/>
          </a:p>
          <a:p>
            <a:pPr algn="l">
              <a:defRPr/>
            </a:pPr>
            <a:r>
              <a:rPr sz="2000" b="1">
                <a:latin typeface="Calibri"/>
              </a:rPr>
              <a:t>Task 3.4: Integrate Data (continuing)</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N/A</a:t>
            </a:r>
            <a:endParaRPr sz="2000"/>
          </a:p>
          <a:p>
            <a:pPr algn="l">
              <a:defRPr/>
            </a:pPr>
            <a:r>
              <a:rPr sz="2000" b="1">
                <a:latin typeface="Calibri"/>
              </a:rPr>
              <a:t>Task 3.5: Format Data (continuing)</a:t>
            </a:r>
            <a:endParaRPr sz="2000"/>
          </a:p>
          <a:p>
            <a:pPr lvl="1" algn="l">
              <a:defRPr/>
            </a:pPr>
            <a:r>
              <a:rPr sz="2000" b="0">
                <a:latin typeface="Calibri"/>
              </a:rPr>
              <a:t>Original Start: 24 May 2026 | Revised: N/A | Actual Start: 23 May 2026</a:t>
            </a:r>
            <a:endParaRPr sz="2000"/>
          </a:p>
          <a:p>
            <a:pPr lvl="1" algn="l">
              <a:defRPr/>
            </a:pPr>
            <a:r>
              <a:rPr sz="2000" b="0">
                <a:latin typeface="Calibri"/>
              </a:rPr>
              <a:t>Original End:   6 Jun 2026 | Revised: N/A | Actual End: N/A</a:t>
            </a:r>
            <a:endParaRPr sz="2000"/>
          </a:p>
          <a:p>
            <a:pPr algn="l">
              <a:defRPr/>
            </a:pPr>
            <a:r>
              <a:rPr sz="2000" b="1">
                <a:latin typeface="Calibri"/>
              </a:rPr>
              <a:t>Task 4.1: Select Modeling Technique</a:t>
            </a:r>
            <a:endParaRPr sz="2000"/>
          </a:p>
          <a:p>
            <a:pPr lvl="1" algn="l">
              <a:defRPr/>
            </a:pPr>
            <a:r>
              <a:rPr sz="2000" b="0">
                <a:latin typeface="Calibri"/>
              </a:rPr>
              <a:t>Original Start: 7 Jun 2026 | Revised: N/A | Actual Start: N/A</a:t>
            </a:r>
            <a:endParaRPr sz="2000"/>
          </a:p>
          <a:p>
            <a:pPr lvl="1" algn="l">
              <a:defRPr/>
            </a:pPr>
            <a:r>
              <a:rPr sz="2000" b="0">
                <a:latin typeface="Calibri"/>
              </a:rPr>
              <a:t>Original End:   20 Jun 2026 | Revised: N/A | Actual End: N/A</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4284595" name="Title 1"/>
          <p:cNvSpPr>
            <a:spLocks noGrp="1"/>
          </p:cNvSpPr>
          <p:nvPr>
            <p:ph type="title"/>
          </p:nvPr>
        </p:nvSpPr>
        <p:spPr bwMode="auto"/>
        <p:txBody>
          <a:bodyPr/>
          <a:lstStyle/>
          <a:p>
            <a:pPr>
              <a:defRPr/>
            </a:pPr>
            <a:r>
              <a:rPr lang="en-US"/>
              <a:t>Personal Reflection</a:t>
            </a:r>
            <a:endParaRPr/>
          </a:p>
        </p:txBody>
      </p:sp>
      <p:sp>
        <p:nvSpPr>
          <p:cNvPr id="1313797115"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lang="en-US" sz="2000" b="0" i="0" u="none" strike="noStrike" cap="none" spc="0">
                <a:solidFill>
                  <a:schemeClr val="tx1"/>
                </a:solidFill>
                <a:latin typeface="Calibri"/>
                <a:ea typeface="Calibri"/>
                <a:cs typeface="Calibri"/>
              </a:rPr>
              <a:t>This was a productive midpoint week for Data Preparation. Having Tasks 3.1 and 3.2 fully wrapped up feels good: especially since I started the phase ahead of schedule. The geographic cleaning and IQR outlier removal were straightforward once I had the logic right, but the Southern states and apartment filters confirmed that our project scope will produce a solid ~144K record dataset to work with. The missing rate jump for parking_options (36% to 51%) after filtering caught my attention, though treating it as its own encoding category should handle it. I am a little surprised that we are already nearing the end of Phase 3 with the midterm presentation coming up: there is still a lot of Phase 4 ahead, but the data pipeline is shaping up well and the early modeling results in the notebook are promising. Confidence remains high.</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8958766"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3745581" name="Title 1"/>
          <p:cNvSpPr txBox="1"/>
          <p:nvPr/>
        </p:nvSpPr>
        <p:spPr bwMode="auto">
          <a:xfrm>
            <a:off x="629669" y="661481"/>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latin typeface="+mn-lt"/>
              </a:rPr>
              <a:t>Housing Amenities Impact on Apartment</a:t>
            </a:r>
            <a:br>
              <a:rPr lang="en-US" sz="7700" b="1">
                <a:latin typeface="+mn-lt"/>
              </a:rPr>
            </a:br>
            <a:r>
              <a:rPr lang="en-US" sz="7700" b="1">
                <a:latin typeface="+mn-lt"/>
              </a:rPr>
              <a:t>Listing Prices in the Southern USA</a:t>
            </a:r>
            <a:br>
              <a:rPr lang="en-US" sz="7700" b="1">
                <a:latin typeface="+mn-lt"/>
              </a:rPr>
            </a:br>
            <a:r>
              <a:rPr lang="en-US" sz="7700" b="1">
                <a:latin typeface="+mn-lt"/>
              </a:rPr>
              <a:t>Status Report</a:t>
            </a:r>
            <a:br>
              <a:rPr lang="en-US" sz="7700" b="1">
                <a:latin typeface="+mn-lt"/>
              </a:rPr>
            </a:br>
            <a:r>
              <a:rPr lang="en-US" sz="6600">
                <a:latin typeface="+mn-lt"/>
              </a:rPr>
              <a:t>Week Ending May 22, 2026</a:t>
            </a:r>
            <a:br>
              <a:rPr lang="en-US" sz="6600">
                <a:latin typeface="+mn-lt"/>
              </a:rPr>
            </a:br>
            <a:br>
              <a:rPr lang="en-US" sz="6600">
                <a:latin typeface="+mn-lt"/>
              </a:rPr>
            </a:br>
            <a:br>
              <a:rPr lang="en-US" sz="6600">
                <a:latin typeface="+mn-lt"/>
              </a:rPr>
            </a:br>
            <a:r>
              <a:rPr lang="en-US" sz="6600">
                <a:latin typeface="+mn-lt"/>
              </a:rPr>
              <a:t>                                                   </a:t>
            </a:r>
            <a:r>
              <a:rPr lang="en-US" sz="6000">
                <a:latin typeface="+mn-lt"/>
              </a:rPr>
              <a:t>Submitted by Gordon Oboh</a:t>
            </a:r>
            <a:br>
              <a:rPr lang="en-US" sz="6000">
                <a:latin typeface="+mn-lt"/>
              </a:rPr>
            </a:br>
            <a:r>
              <a:rPr lang="en-US" sz="6000">
                <a:latin typeface="+mn-lt"/>
              </a:rPr>
              <a:t>                                                                             May 22, 2026</a:t>
            </a:r>
            <a:endParaRPr lang="en-US" sz="4800">
              <a:latin typeface="+mn-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0101607" name="Title 1"/>
          <p:cNvSpPr>
            <a:spLocks noGrp="1"/>
          </p:cNvSpPr>
          <p:nvPr>
            <p:ph type="title"/>
          </p:nvPr>
        </p:nvSpPr>
        <p:spPr bwMode="auto"/>
        <p:txBody>
          <a:bodyPr/>
          <a:lstStyle/>
          <a:p>
            <a:pPr>
              <a:defRPr/>
            </a:pPr>
            <a:r>
              <a:rPr lang="en-US"/>
              <a:t>Agenda</a:t>
            </a:r>
            <a:endParaRPr/>
          </a:p>
        </p:txBody>
      </p:sp>
      <p:sp>
        <p:nvSpPr>
          <p:cNvPr id="1638110396" name="Content Placeholder 2"/>
          <p:cNvSpPr>
            <a:spLocks noGrp="1"/>
          </p:cNvSpPr>
          <p:nvPr>
            <p:ph idx="1"/>
          </p:nvPr>
        </p:nvSpPr>
        <p:spPr bwMode="auto">
          <a:xfrm>
            <a:off x="599089" y="1166070"/>
            <a:ext cx="10993815" cy="4492303"/>
          </a:xfrm>
        </p:spPr>
        <p:txBody>
          <a:bodyPr>
            <a:normAutofit/>
          </a:bodyPr>
          <a:lstStyle/>
          <a:p>
            <a:pPr>
              <a:lnSpc>
                <a:spcPct val="100000"/>
              </a:lnSpc>
              <a:defRPr/>
            </a:pPr>
            <a:r>
              <a:rPr lang="en-US" sz="2400"/>
              <a:t>Status Overview</a:t>
            </a:r>
            <a:endParaRPr/>
          </a:p>
          <a:p>
            <a:pPr>
              <a:lnSpc>
                <a:spcPct val="100000"/>
              </a:lnSpc>
              <a:defRPr/>
            </a:pPr>
            <a:r>
              <a:rPr lang="en-US" sz="2400"/>
              <a:t>Items Completed This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353845" name="Title 1"/>
          <p:cNvSpPr>
            <a:spLocks noGrp="1"/>
          </p:cNvSpPr>
          <p:nvPr>
            <p:ph type="title"/>
          </p:nvPr>
        </p:nvSpPr>
        <p:spPr bwMode="auto"/>
        <p:txBody>
          <a:bodyPr/>
          <a:lstStyle/>
          <a:p>
            <a:pPr>
              <a:defRPr/>
            </a:pPr>
            <a:r>
              <a:rPr lang="en-US"/>
              <a:t>Status Overview</a:t>
            </a:r>
            <a:endParaRPr/>
          </a:p>
        </p:txBody>
      </p:sp>
      <p:sp>
        <p:nvSpPr>
          <p:cNvPr id="516336752"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800" b="1">
                <a:latin typeface="Calibri"/>
              </a:rPr>
              <a:t>Project Status: </a:t>
            </a:r>
            <a:r>
              <a:rPr sz="1800" b="1">
                <a:solidFill>
                  <a:srgbClr val="00B050"/>
                </a:solidFill>
                <a:latin typeface="Calibri"/>
              </a:rPr>
              <a:t>GREEN</a:t>
            </a:r>
            <a:endParaRPr sz="1800"/>
          </a:p>
          <a:p>
            <a:pPr algn="l">
              <a:defRPr/>
            </a:pPr>
            <a:r>
              <a:rPr sz="1800" b="1">
                <a:latin typeface="Calibri"/>
              </a:rPr>
              <a:t>Task 2.2: Describing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algn="l">
              <a:defRPr/>
            </a:pPr>
            <a:r>
              <a:rPr sz="1800" b="1">
                <a:latin typeface="Calibri"/>
              </a:rPr>
              <a:t>Task 2.3: Exploring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algn="l">
              <a:defRPr/>
            </a:pPr>
            <a:r>
              <a:rPr sz="1800" b="1">
                <a:latin typeface="Calibri"/>
              </a:rPr>
              <a:t>Task 2.4: Verifying Data Quality</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19 May 2026</a:t>
            </a:r>
            <a:endParaRPr sz="1800"/>
          </a:p>
          <a:p>
            <a:pPr lvl="1" algn="l">
              <a:defRPr/>
            </a:pPr>
            <a:r>
              <a:rPr sz="1800" b="0">
                <a:latin typeface="Calibri"/>
              </a:rPr>
              <a:t>Original End:   23 May 2026 | Revised: N/A | Actual: 23 May 2026</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6464763" name="Title 1"/>
          <p:cNvSpPr>
            <a:spLocks noGrp="1"/>
          </p:cNvSpPr>
          <p:nvPr>
            <p:ph type="title"/>
          </p:nvPr>
        </p:nvSpPr>
        <p:spPr bwMode="auto"/>
        <p:txBody>
          <a:bodyPr/>
          <a:lstStyle/>
          <a:p>
            <a:pPr>
              <a:defRPr/>
            </a:pPr>
            <a:r>
              <a:rPr lang="en-US"/>
              <a:t>Items Completed This Week</a:t>
            </a:r>
            <a:endParaRPr/>
          </a:p>
        </p:txBody>
      </p:sp>
      <p:sp>
        <p:nvSpPr>
          <p:cNvPr id="236896659" name="Content Placeholder 2"/>
          <p:cNvSpPr>
            <a:spLocks noGrp="1"/>
          </p:cNvSpPr>
          <p:nvPr>
            <p:ph idx="1"/>
          </p:nvPr>
        </p:nvSpPr>
        <p:spPr bwMode="auto">
          <a:xfrm>
            <a:off x="599089" y="1124608"/>
            <a:ext cx="10993815" cy="4669441"/>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algn="l">
              <a:defRPr/>
            </a:pPr>
            <a:r>
              <a:rPr sz="1800" b="1">
                <a:latin typeface="Calibri"/>
              </a:rPr>
              <a:t>Task 2.2: Describing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lvl="1" algn="l">
              <a:defRPr/>
            </a:pPr>
            <a:r>
              <a:rPr sz="1800" b="0">
                <a:latin typeface="Calibri"/>
              </a:rPr>
              <a:t>Features classified into numeric (price, sqfeet, beds, baths), categorical binary (amenity flags), categorical multi-class (region, type, laundry_options, parking_options), geographic (lat, long, state), and text/URL (excluded from modeling).</a:t>
            </a:r>
            <a:endParaRPr sz="1800"/>
          </a:p>
          <a:p>
            <a:pPr algn="l">
              <a:defRPr/>
            </a:pPr>
            <a:r>
              <a:rPr sz="1800" b="1">
                <a:latin typeface="Calibri"/>
              </a:rPr>
              <a:t>Task 2.3: Exploring Data</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12 May 2026</a:t>
            </a:r>
            <a:endParaRPr sz="1800"/>
          </a:p>
          <a:p>
            <a:pPr lvl="1" algn="l">
              <a:defRPr/>
            </a:pPr>
            <a:r>
              <a:rPr sz="1800" b="0">
                <a:latin typeface="Calibri"/>
              </a:rPr>
              <a:t>Original End:   23 May 2026 | Revised: N/A | Actual: 23 May 2026</a:t>
            </a:r>
            <a:endParaRPr sz="1800"/>
          </a:p>
          <a:p>
            <a:pPr lvl="1" algn="l">
              <a:defRPr/>
            </a:pPr>
            <a:r>
              <a:rPr sz="1800" b="0">
                <a:latin typeface="Calibri"/>
              </a:rPr>
              <a:t>Summary statistics computed; apartments most common listing type; Q3 rental price $1,395, Q3 square footage 1,150 sqft; majority pet-friendly; furnished, EV charging, and wheelchair access represent minority listings.</a:t>
            </a:r>
            <a:endParaRPr sz="1800"/>
          </a:p>
          <a:p>
            <a:pPr algn="l">
              <a:defRPr/>
            </a:pPr>
            <a:r>
              <a:rPr sz="1800" b="1">
                <a:latin typeface="Calibri"/>
              </a:rPr>
              <a:t>Task 2.4: Verifying Data Quality</a:t>
            </a:r>
            <a:endParaRPr sz="1800"/>
          </a:p>
          <a:p>
            <a:pPr lvl="1" algn="l">
              <a:defRPr/>
            </a:pPr>
            <a:r>
              <a:rPr sz="1800" b="0">
                <a:latin typeface="Calibri"/>
              </a:rPr>
              <a:t>Status: </a:t>
            </a:r>
            <a:r>
              <a:rPr sz="1800" b="0">
                <a:solidFill>
                  <a:srgbClr val="00B050"/>
                </a:solidFill>
                <a:latin typeface="Calibri"/>
              </a:rPr>
              <a:t>GREEN </a:t>
            </a:r>
            <a:r>
              <a:rPr sz="1800" b="0">
                <a:latin typeface="Calibri"/>
              </a:rPr>
              <a:t>— 100% complete</a:t>
            </a:r>
            <a:endParaRPr sz="1800"/>
          </a:p>
          <a:p>
            <a:pPr lvl="1" algn="l">
              <a:defRPr/>
            </a:pPr>
            <a:r>
              <a:rPr sz="1800" b="0">
                <a:latin typeface="Calibri"/>
              </a:rPr>
              <a:t>Original Start: 11 May 2026 | Revised: N/A | Actual: 19 May 2026</a:t>
            </a:r>
            <a:endParaRPr sz="1800"/>
          </a:p>
          <a:p>
            <a:pPr lvl="1" algn="l">
              <a:defRPr/>
            </a:pPr>
            <a:r>
              <a:rPr sz="1800" b="0">
                <a:latin typeface="Calibri"/>
              </a:rPr>
              <a:t>Original End:   23 May 2026 | Revised: N/A | Actual: 23 May 2026</a:t>
            </a:r>
            <a:endParaRPr sz="1800"/>
          </a:p>
          <a:p>
            <a:pPr lvl="1" algn="l">
              <a:defRPr/>
            </a:pPr>
            <a:r>
              <a:rPr sz="1800" b="0">
                <a:latin typeface="Calibri"/>
              </a:rPr>
              <a:t>Missing value analysis complete: laundry_options 20.5% missing, parking_options 36.5% missing, lat/long 0.5% missing; anomalies identified including $0 price listings and sub-1 sqft listings; all quality issues documented for remediation in Data Preparation phase.</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7285153" name="Title 1"/>
          <p:cNvSpPr>
            <a:spLocks noGrp="1"/>
          </p:cNvSpPr>
          <p:nvPr>
            <p:ph type="title"/>
          </p:nvPr>
        </p:nvSpPr>
        <p:spPr bwMode="auto"/>
        <p:txBody>
          <a:bodyPr/>
          <a:lstStyle/>
          <a:p>
            <a:pPr>
              <a:defRPr/>
            </a:pPr>
            <a:r>
              <a:rPr lang="en-US"/>
              <a:t>Items In Progress</a:t>
            </a:r>
            <a:endParaRPr/>
          </a:p>
        </p:txBody>
      </p:sp>
      <p:sp>
        <p:nvSpPr>
          <p:cNvPr id="749330035" name="Content Placeholder 2"/>
          <p:cNvSpPr>
            <a:spLocks noGrp="1"/>
          </p:cNvSpPr>
          <p:nvPr>
            <p:ph idx="1"/>
          </p:nvPr>
        </p:nvSpPr>
        <p:spPr bwMode="auto">
          <a:xfrm>
            <a:off x="599089" y="1124608"/>
            <a:ext cx="10993815" cy="4669441"/>
          </a:xfrm>
        </p:spPr>
        <p:txBody>
          <a:bodyPr wrap="square">
            <a:normAutofit/>
          </a:bodyPr>
          <a:lstStyle/>
          <a:p>
            <a:pPr algn="l">
              <a:lnSpc>
                <a:spcPct val="100000"/>
              </a:lnSpc>
              <a:defRPr/>
            </a:pPr>
            <a:r>
              <a:rPr sz="1100" b="1">
                <a:latin typeface="Calibri"/>
              </a:rPr>
              <a:t>Task 3.1: Select Data</a:t>
            </a:r>
            <a:endParaRPr/>
          </a:p>
          <a:p>
            <a:pPr lvl="1" algn="l">
              <a:defRPr/>
            </a:pPr>
            <a:r>
              <a:rPr sz="1000" b="0">
                <a:latin typeface="Calibri"/>
              </a:rPr>
              <a:t>Status: </a:t>
            </a:r>
            <a:r>
              <a:rPr sz="1000" b="0">
                <a:solidFill>
                  <a:srgbClr val="00B050"/>
                </a:solidFill>
                <a:latin typeface="Calibri"/>
              </a:rPr>
              <a:t>GREEN </a:t>
            </a:r>
            <a:r>
              <a:rPr sz="1000" b="0">
                <a:latin typeface="Calibri"/>
              </a:rPr>
              <a:t>— 25% complete</a:t>
            </a:r>
            <a:endParaRPr/>
          </a:p>
          <a:p>
            <a:pPr lvl="1" algn="l">
              <a:defRPr/>
            </a:pPr>
            <a:r>
              <a:rPr sz="900" b="0">
                <a:latin typeface="Calibri"/>
              </a:rPr>
              <a:t>Original Start: 24 May 2026 | Revised: N/A | Actual: N/A</a:t>
            </a:r>
            <a:endParaRPr/>
          </a:p>
          <a:p>
            <a:pPr lvl="1" algn="l">
              <a:defRPr/>
            </a:pPr>
            <a:r>
              <a:rPr sz="900" b="0">
                <a:latin typeface="Calibri"/>
              </a:rPr>
              <a:t>Original End:   6 Jun 2026 | Revised: N/A | Actual: N/A</a:t>
            </a:r>
            <a:endParaRPr/>
          </a:p>
          <a:p>
            <a:pPr lvl="1" algn="l">
              <a:defRPr/>
            </a:pPr>
            <a:r>
              <a:rPr sz="1000" b="0">
                <a:latin typeface="Calibri"/>
              </a:rPr>
              <a:t>Started ahead of schedule; initial column selection in progress (dropping non-predictive columns: id, url, image_url, description).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1137894" name="Title 1"/>
          <p:cNvSpPr>
            <a:spLocks noGrp="1"/>
          </p:cNvSpPr>
          <p:nvPr>
            <p:ph type="title"/>
          </p:nvPr>
        </p:nvSpPr>
        <p:spPr bwMode="auto"/>
        <p:txBody>
          <a:bodyPr/>
          <a:lstStyle/>
          <a:p>
            <a:pPr>
              <a:defRPr/>
            </a:pPr>
            <a:r>
              <a:rPr lang="en-US"/>
              <a:t>Items To Be Started</a:t>
            </a:r>
            <a:endParaRPr/>
          </a:p>
        </p:txBody>
      </p:sp>
      <p:sp>
        <p:nvSpPr>
          <p:cNvPr id="699527889"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100" b="1">
                <a:latin typeface="Calibri"/>
              </a:rPr>
              <a:t>Task 3.2: Clean Data</a:t>
            </a:r>
            <a:endParaRPr/>
          </a:p>
          <a:p>
            <a:pPr lvl="1" algn="l">
              <a:defRPr/>
            </a:pPr>
            <a:r>
              <a:rPr sz="900" b="0">
                <a:latin typeface="Calibri"/>
              </a:rPr>
              <a:t>Original Start: 24 May 2026 | Revised: N/A | Actual: N/A</a:t>
            </a:r>
            <a:endParaRPr/>
          </a:p>
          <a:p>
            <a:pPr lvl="1" algn="l">
              <a:defRPr/>
            </a:pPr>
            <a:r>
              <a:rPr sz="900" b="0">
                <a:latin typeface="Calibri"/>
              </a:rPr>
              <a:t>Original End:   6 Jun 2026 | Revised: N/A | Actual: N/A</a:t>
            </a:r>
            <a:endParaRPr/>
          </a:p>
          <a:p>
            <a:pPr algn="l">
              <a:defRPr/>
            </a:pPr>
            <a:r>
              <a:rPr sz="1100" b="1">
                <a:latin typeface="Calibri"/>
              </a:rPr>
              <a:t>Task 3.3: Construct Data</a:t>
            </a:r>
            <a:endParaRPr/>
          </a:p>
          <a:p>
            <a:pPr lvl="1" algn="l">
              <a:defRPr/>
            </a:pPr>
            <a:r>
              <a:rPr sz="900" b="0">
                <a:latin typeface="Calibri"/>
              </a:rPr>
              <a:t>Original Start: 24 May 2026 | Revised: N/A | Actual: N/A</a:t>
            </a:r>
            <a:endParaRPr/>
          </a:p>
          <a:p>
            <a:pPr lvl="1" algn="l">
              <a:defRPr/>
            </a:pPr>
            <a:r>
              <a:rPr sz="900" b="0">
                <a:latin typeface="Calibri"/>
              </a:rPr>
              <a:t>Original End:   6 Jun 2026 | Revised: N/A | Actual: N/A</a:t>
            </a:r>
            <a:endParaRPr/>
          </a:p>
          <a:p>
            <a:pPr algn="l">
              <a:defRPr/>
            </a:pPr>
            <a:r>
              <a:rPr sz="1100" b="1">
                <a:latin typeface="Calibri"/>
              </a:rPr>
              <a:t>Task 4.1: Select Modeling Technique</a:t>
            </a:r>
            <a:endParaRPr/>
          </a:p>
          <a:p>
            <a:pPr lvl="1" algn="l">
              <a:defRPr/>
            </a:pPr>
            <a:r>
              <a:rPr sz="900" b="0">
                <a:latin typeface="Calibri"/>
              </a:rPr>
              <a:t>Original Start: 7 Jun 2026 | Revised: N/A | Actual: N/A</a:t>
            </a:r>
            <a:endParaRPr/>
          </a:p>
          <a:p>
            <a:pPr lvl="1" algn="l">
              <a:defRPr/>
            </a:pPr>
            <a:r>
              <a:rPr sz="900" b="0">
                <a:latin typeface="Calibri"/>
              </a:rPr>
              <a:t>Original End:   20 Jun 2026 | Revised: N/A | Actual: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8690876" name="Title 1"/>
          <p:cNvSpPr>
            <a:spLocks noGrp="1"/>
          </p:cNvSpPr>
          <p:nvPr>
            <p:ph type="title"/>
          </p:nvPr>
        </p:nvSpPr>
        <p:spPr bwMode="auto"/>
        <p:txBody>
          <a:bodyPr/>
          <a:lstStyle/>
          <a:p>
            <a:pPr>
              <a:defRPr/>
            </a:pPr>
            <a:r>
              <a:rPr lang="en-US"/>
              <a:t>Sample of Items Completed This Week</a:t>
            </a:r>
            <a:endParaRPr/>
          </a:p>
        </p:txBody>
      </p:sp>
      <p:sp>
        <p:nvSpPr>
          <p:cNvPr id="526412752" name="Content Placeholder 2"/>
          <p:cNvSpPr>
            <a:spLocks noGrp="1"/>
          </p:cNvSpPr>
          <p:nvPr>
            <p:ph idx="1"/>
          </p:nvPr>
        </p:nvSpPr>
        <p:spPr bwMode="auto">
          <a:xfrm>
            <a:off x="599089" y="1194216"/>
            <a:ext cx="10993815" cy="4453209"/>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algn="l">
              <a:lnSpc>
                <a:spcPct val="100000"/>
              </a:lnSpc>
              <a:defRPr/>
            </a:pPr>
            <a:r>
              <a:rPr sz="1200" b="1">
                <a:latin typeface="Calibri"/>
              </a:rPr>
              <a:t>What: Dataset Acquisition and Exploratory Distributions — Price and Square Footage</a:t>
            </a:r>
            <a:endParaRPr/>
          </a:p>
          <a:p>
            <a:pPr lvl="1" algn="l">
              <a:defRPr/>
            </a:pPr>
            <a:r>
              <a:rPr sz="1000" b="0">
                <a:latin typeface="Calibri"/>
              </a:rPr>
              <a:t>Why: The Kaggle Craigslist dataset (384,977 rows, 558 MB) is the foundation for all subsequent analysis.</a:t>
            </a:r>
            <a:endParaRPr/>
          </a:p>
          <a:p>
            <a:pPr algn="l">
              <a:defRPr/>
            </a:pPr>
            <a:r>
              <a:rPr sz="1100" b="1">
                <a:latin typeface="Calibri"/>
              </a:rPr>
              <a:t>Code used to assess data quality:</a:t>
            </a:r>
            <a:endParaRPr/>
          </a:p>
          <a:p>
            <a:pPr lvl="1" algn="l">
              <a:defRPr/>
            </a:pPr>
            <a:r>
              <a:rPr sz="800" b="0">
                <a:latin typeface="Consolas"/>
              </a:rPr>
              <a:t>def summary_table(df, categorical_cols=None):</a:t>
            </a:r>
            <a:endParaRPr/>
          </a:p>
          <a:p>
            <a:pPr lvl="1" algn="l">
              <a:defRPr/>
            </a:pPr>
            <a:r>
              <a:rPr sz="800" b="0">
                <a:latin typeface="Consolas"/>
              </a:rPr>
              <a:t>    if categorical_cols is None:</a:t>
            </a:r>
            <a:endParaRPr/>
          </a:p>
          <a:p>
            <a:pPr lvl="1" algn="l">
              <a:defRPr/>
            </a:pPr>
            <a:r>
              <a:rPr sz="800" b="0">
                <a:latin typeface="Consolas"/>
              </a:rPr>
              <a:t>        categorical_cols = []</a:t>
            </a:r>
            <a:endParaRPr/>
          </a:p>
          <a:p>
            <a:pPr lvl="1" algn="l">
              <a:defRPr/>
            </a:pPr>
            <a:r>
              <a:rPr sz="800" b="0">
                <a:latin typeface="Consolas"/>
              </a:rPr>
              <a:t>    summary = pd.DataFrame({</a:t>
            </a:r>
            <a:endParaRPr/>
          </a:p>
          <a:p>
            <a:pPr lvl="1" algn="l">
              <a:defRPr/>
            </a:pPr>
            <a:r>
              <a:rPr sz="800" b="0">
                <a:latin typeface="Consolas"/>
              </a:rPr>
              <a:t>        "Column": df.columns,</a:t>
            </a:r>
            <a:endParaRPr/>
          </a:p>
          <a:p>
            <a:pPr lvl="1" algn="l">
              <a:defRPr/>
            </a:pPr>
            <a:r>
              <a:rPr sz="800" b="0">
                <a:latin typeface="Consolas"/>
              </a:rPr>
              <a:t>        "Data Type": df.dtypes.values,</a:t>
            </a:r>
            <a:endParaRPr/>
          </a:p>
          <a:p>
            <a:pPr lvl="1" algn="l">
              <a:defRPr/>
            </a:pPr>
            <a:r>
              <a:rPr sz="800" b="0">
                <a:latin typeface="Consolas"/>
              </a:rPr>
              <a:t>        "Non-Null Count": df.notnull().sum().values,</a:t>
            </a:r>
            <a:endParaRPr/>
          </a:p>
          <a:p>
            <a:pPr lvl="1" algn="l">
              <a:defRPr/>
            </a:pPr>
            <a:r>
              <a:rPr sz="800" b="0">
                <a:latin typeface="Consolas"/>
              </a:rPr>
              <a:t>        "Missing Values": df.isnull().sum().values,</a:t>
            </a:r>
            <a:endParaRPr/>
          </a:p>
          <a:p>
            <a:pPr lvl="1" algn="l">
              <a:defRPr/>
            </a:pPr>
            <a:r>
              <a:rPr sz="800" b="0">
                <a:latin typeface="Consolas"/>
              </a:rPr>
              <a:t>        "Missing %": ((df.isnull().sum() / len(df)) * 100).values</a:t>
            </a:r>
            <a:endParaRPr/>
          </a:p>
          <a:p>
            <a:pPr lvl="1" algn="l">
              <a:defRPr/>
            </a:pPr>
            <a:r>
              <a:rPr sz="800" b="0">
                <a:latin typeface="Consolas"/>
              </a:rPr>
              <a:t>    })</a:t>
            </a:r>
            <a:endParaRPr/>
          </a:p>
          <a:p>
            <a:pPr lvl="1" algn="l">
              <a:defRPr/>
            </a:pPr>
            <a:r>
              <a:rPr sz="800" b="0">
                <a:latin typeface="Consolas"/>
              </a:rPr>
              <a:t>    if categorical_cols is not None:</a:t>
            </a:r>
            <a:endParaRPr/>
          </a:p>
          <a:p>
            <a:pPr lvl="1" algn="l">
              <a:defRPr/>
            </a:pPr>
            <a:r>
              <a:rPr sz="800" b="0">
                <a:latin typeface="Consolas"/>
              </a:rPr>
              <a:t>        summary["Num Categories"] = [</a:t>
            </a:r>
            <a:endParaRPr/>
          </a:p>
          <a:p>
            <a:pPr lvl="1" algn="l">
              <a:defRPr/>
            </a:pPr>
            <a:r>
              <a:rPr sz="800" b="0">
                <a:latin typeface="Consolas"/>
              </a:rPr>
              <a:t>            df[col].nunique(dropna=False) if col in categorical_cols else None</a:t>
            </a:r>
            <a:endParaRPr/>
          </a:p>
          <a:p>
            <a:pPr lvl="1" algn="l">
              <a:defRPr/>
            </a:pPr>
            <a:r>
              <a:rPr sz="800" b="0">
                <a:latin typeface="Consolas"/>
              </a:rPr>
              <a:t>            for col in df.columns</a:t>
            </a:r>
            <a:endParaRPr/>
          </a:p>
          <a:p>
            <a:pPr lvl="1" algn="l">
              <a:defRPr/>
            </a:pPr>
            <a:r>
              <a:rPr sz="800" b="0">
                <a:latin typeface="Consolas"/>
              </a:rPr>
              <a:t>        ]</a:t>
            </a:r>
            <a:endParaRPr/>
          </a:p>
          <a:p>
            <a:pPr lvl="1" algn="l">
              <a:defRPr/>
            </a:pPr>
            <a:r>
              <a:rPr sz="800" b="0">
                <a:latin typeface="Consolas"/>
              </a:rPr>
              <a:t>    return summary</a:t>
            </a:r>
            <a:endParaRPr/>
          </a:p>
          <a:p>
            <a:pPr lvl="1" algn="l">
              <a:defRPr/>
            </a:pPr>
            <a:endParaRPr/>
          </a:p>
          <a:p>
            <a:pPr lvl="1" algn="l">
              <a:defRPr/>
            </a:pPr>
            <a:r>
              <a:rPr sz="800" b="0">
                <a:latin typeface="Consolas"/>
              </a:rPr>
              <a:t>categorical_cols = ["region","type","cats_allowed", "dogs_allowed",</a:t>
            </a:r>
            <a:endParaRPr/>
          </a:p>
          <a:p>
            <a:pPr lvl="1" algn="l">
              <a:defRPr/>
            </a:pPr>
            <a:r>
              <a:rPr sz="800" b="0">
                <a:latin typeface="Consolas"/>
              </a:rPr>
              <a:t>                    "smoking_allowed", "wheelchair_access",</a:t>
            </a:r>
            <a:endParaRPr/>
          </a:p>
          <a:p>
            <a:pPr lvl="1" algn="l">
              <a:defRPr/>
            </a:pPr>
            <a:r>
              <a:rPr sz="800" b="0">
                <a:latin typeface="Consolas"/>
              </a:rPr>
              <a:t>                    "electric_vehicle_charge", "comes_furnished",</a:t>
            </a:r>
            <a:endParaRPr/>
          </a:p>
          <a:p>
            <a:pPr lvl="1" algn="l">
              <a:defRPr/>
            </a:pPr>
            <a:r>
              <a:rPr sz="800" b="0">
                <a:latin typeface="Consolas"/>
              </a:rPr>
              <a:t>                    "laundry_options", "parking_options", "state"]</a:t>
            </a:r>
            <a:endParaRPr/>
          </a:p>
          <a:p>
            <a:pPr lvl="1" algn="l">
              <a:defRPr/>
            </a:pPr>
            <a:r>
              <a:rPr sz="800" b="0">
                <a:latin typeface="Consolas"/>
              </a:rPr>
              <a:t>display(summary_table(df, categorical_cols))</a:t>
            </a:r>
            <a:endParaRPr/>
          </a:p>
          <a:p>
            <a:pPr lvl="1" algn="l">
              <a:defRPr/>
            </a:pPr>
            <a:r>
              <a:rPr sz="800" b="0">
                <a:latin typeface="Consolas"/>
              </a:rPr>
              <a:t>display(df.describe())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8416478" name="Title 1"/>
          <p:cNvSpPr>
            <a:spLocks noGrp="1"/>
          </p:cNvSpPr>
          <p:nvPr>
            <p:ph type="title"/>
          </p:nvPr>
        </p:nvSpPr>
        <p:spPr bwMode="auto"/>
        <p:txBody>
          <a:bodyPr/>
          <a:lstStyle/>
          <a:p>
            <a:pPr>
              <a:defRPr/>
            </a:pPr>
            <a:r>
              <a:rPr lang="en-US"/>
              <a:t>Issues, Risks, Concerns</a:t>
            </a:r>
            <a:endParaRPr/>
          </a:p>
        </p:txBody>
      </p:sp>
      <p:sp>
        <p:nvSpPr>
          <p:cNvPr id="257068361" name="Content Placeholder 2"/>
          <p:cNvSpPr>
            <a:spLocks noGrp="1"/>
          </p:cNvSpPr>
          <p:nvPr>
            <p:ph idx="1"/>
          </p:nvPr>
        </p:nvSpPr>
        <p:spPr bwMode="auto">
          <a:xfrm>
            <a:off x="599089" y="1124608"/>
            <a:ext cx="10993815" cy="4522817"/>
          </a:xfrm>
        </p:spPr>
        <p:txBody>
          <a:bodyPr wrap="square">
            <a:normAutofit/>
          </a:bodyPr>
          <a:lstStyle/>
          <a:p>
            <a:pPr algn="l">
              <a:lnSpc>
                <a:spcPct val="100000"/>
              </a:lnSpc>
              <a:defRPr/>
            </a:pPr>
            <a:r>
              <a:rPr sz="1200" b="1">
                <a:latin typeface="Calibri"/>
              </a:rPr>
              <a:t>Issues</a:t>
            </a:r>
            <a:endParaRPr/>
          </a:p>
          <a:p>
            <a:pPr lvl="1" algn="l">
              <a:defRPr/>
            </a:pPr>
            <a:r>
              <a:rPr sz="1000" b="0">
                <a:latin typeface="Calibri"/>
              </a:rPr>
              <a:t>None at this time</a:t>
            </a:r>
            <a:endParaRPr/>
          </a:p>
          <a:p>
            <a:pPr algn="l">
              <a:defRPr/>
            </a:pPr>
            <a:endParaRPr/>
          </a:p>
          <a:p>
            <a:pPr algn="l">
              <a:defRPr/>
            </a:pPr>
            <a:r>
              <a:rPr sz="1200" b="1">
                <a:latin typeface="Calibri"/>
              </a:rPr>
              <a:t>Risks</a:t>
            </a:r>
            <a:endParaRPr/>
          </a:p>
          <a:p>
            <a:pPr lvl="1" algn="l">
              <a:defRPr/>
            </a:pPr>
            <a:r>
              <a:rPr sz="1000" b="0">
                <a:latin typeface="Calibri"/>
              </a:rPr>
              <a:t>None at this time</a:t>
            </a:r>
            <a:endParaRPr/>
          </a:p>
          <a:p>
            <a:pPr algn="l">
              <a:defRPr/>
            </a:pPr>
            <a:endParaRPr/>
          </a:p>
          <a:p>
            <a:pPr algn="l">
              <a:defRPr/>
            </a:pPr>
            <a:r>
              <a:rPr sz="1200" b="1">
                <a:latin typeface="Calibri"/>
              </a:rPr>
              <a:t>Concerns</a:t>
            </a:r>
            <a:endParaRPr/>
          </a:p>
          <a:p>
            <a:pPr lvl="1" algn="l">
              <a:defRPr/>
            </a:pPr>
            <a:r>
              <a:rPr sz="1000" b="0">
                <a:latin typeface="Calibri"/>
              </a:rPr>
              <a:t>None at this 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2645033" name="Title 1"/>
          <p:cNvSpPr>
            <a:spLocks noGrp="1"/>
          </p:cNvSpPr>
          <p:nvPr>
            <p:ph type="title"/>
          </p:nvPr>
        </p:nvSpPr>
        <p:spPr bwMode="auto"/>
        <p:txBody>
          <a:bodyPr/>
          <a:lstStyle/>
          <a:p>
            <a:pPr>
              <a:defRPr/>
            </a:pPr>
            <a:r>
              <a:rPr lang="en-US"/>
              <a:t>Next Steps</a:t>
            </a:r>
            <a:endParaRPr/>
          </a:p>
        </p:txBody>
      </p:sp>
      <p:sp>
        <p:nvSpPr>
          <p:cNvPr id="2139714410" name="Content Placeholder 2"/>
          <p:cNvSpPr>
            <a:spLocks noGrp="1"/>
          </p:cNvSpPr>
          <p:nvPr>
            <p:ph idx="1"/>
          </p:nvPr>
        </p:nvSpPr>
        <p:spPr bwMode="auto">
          <a:xfrm>
            <a:off x="599089" y="1049868"/>
            <a:ext cx="10993815" cy="4718543"/>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gn="l">
              <a:lnSpc>
                <a:spcPct val="100000"/>
              </a:lnSpc>
              <a:defRPr/>
            </a:pPr>
            <a:r>
              <a:rPr sz="1800" b="1">
                <a:latin typeface="Calibri"/>
              </a:rPr>
              <a:t>Task 3.1: Select Data (continuing)</a:t>
            </a:r>
            <a:endParaRPr sz="1800"/>
          </a:p>
          <a:p>
            <a:pPr lvl="1" algn="l">
              <a:defRPr/>
            </a:pPr>
            <a:r>
              <a:rPr sz="1800" b="0">
                <a:latin typeface="Calibri"/>
              </a:rPr>
              <a:t>Original Start: 24 May 2026 | Revised: N/A | Actual: 12 May 2026</a:t>
            </a:r>
            <a:endParaRPr sz="1800"/>
          </a:p>
          <a:p>
            <a:pPr lvl="1" algn="l">
              <a:defRPr/>
            </a:pPr>
            <a:r>
              <a:rPr sz="1800" b="0">
                <a:latin typeface="Calibri"/>
              </a:rPr>
              <a:t>Original End:   6 Jun 2026 | Revised: N/A | Actual: N/A</a:t>
            </a:r>
            <a:endParaRPr sz="1800"/>
          </a:p>
          <a:p>
            <a:pPr algn="l">
              <a:defRPr/>
            </a:pPr>
            <a:r>
              <a:rPr sz="1800" b="1">
                <a:latin typeface="Calibri"/>
              </a:rPr>
              <a:t>Task 3.2: Clean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a:p>
            <a:pPr algn="l">
              <a:defRPr/>
            </a:pPr>
            <a:r>
              <a:rPr sz="1800" b="1">
                <a:latin typeface="Calibri"/>
              </a:rPr>
              <a:t>Task 3.3: Construct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a:p>
            <a:pPr algn="l">
              <a:defRPr/>
            </a:pPr>
            <a:r>
              <a:rPr sz="1800" b="1">
                <a:latin typeface="Calibri"/>
              </a:rPr>
              <a:t>Task 3.4: Integrate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a:p>
            <a:pPr algn="l">
              <a:defRPr/>
            </a:pPr>
            <a:r>
              <a:rPr sz="1800" b="1">
                <a:latin typeface="Calibri"/>
              </a:rPr>
              <a:t>Task 3.5: Format Data</a:t>
            </a:r>
            <a:endParaRPr sz="1800"/>
          </a:p>
          <a:p>
            <a:pPr lvl="1" algn="l">
              <a:defRPr/>
            </a:pPr>
            <a:r>
              <a:rPr sz="1800" b="0">
                <a:latin typeface="Calibri"/>
              </a:rPr>
              <a:t>Original Start: 24 May 2026 | Revised: N/A | Actual: N/A</a:t>
            </a:r>
            <a:endParaRPr sz="1800"/>
          </a:p>
          <a:p>
            <a:pPr lvl="1" algn="l">
              <a:defRPr/>
            </a:pPr>
            <a:r>
              <a:rPr sz="1800" b="0">
                <a:latin typeface="Calibri"/>
              </a:rPr>
              <a:t>Original End:   6 Jun 2026 | Revised: N/A | Actual: N/A</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2966598" name="Title 1"/>
          <p:cNvSpPr>
            <a:spLocks noGrp="1"/>
          </p:cNvSpPr>
          <p:nvPr>
            <p:ph type="title"/>
          </p:nvPr>
        </p:nvSpPr>
        <p:spPr bwMode="auto"/>
        <p:txBody>
          <a:bodyPr/>
          <a:lstStyle/>
          <a:p>
            <a:pPr>
              <a:defRPr/>
            </a:pPr>
            <a:r>
              <a:rPr lang="en-US"/>
              <a:t>Personal Reflection</a:t>
            </a:r>
            <a:endParaRPr/>
          </a:p>
        </p:txBody>
      </p:sp>
      <p:sp>
        <p:nvSpPr>
          <p:cNvPr id="1358492567" name="Content Placeholder 2"/>
          <p:cNvSpPr>
            <a:spLocks noGrp="1"/>
          </p:cNvSpPr>
          <p:nvPr>
            <p:ph idx="1"/>
          </p:nvPr>
        </p:nvSpPr>
        <p:spPr bwMode="auto">
          <a:xfrm>
            <a:off x="599089" y="1124608"/>
            <a:ext cx="10993815" cy="4522817"/>
          </a:xfrm>
        </p:spPr>
        <p:txBody>
          <a:bodyPr wrap="square">
            <a:normAutofit/>
          </a:bodyPr>
          <a:lstStyle/>
          <a:p>
            <a:pPr marL="0" indent="0" algn="l">
              <a:lnSpc>
                <a:spcPct val="100000"/>
              </a:lnSpc>
              <a:buNone/>
              <a:defRPr/>
            </a:pPr>
            <a:r>
              <a:rPr sz="2200" b="0">
                <a:latin typeface="Calibri"/>
              </a:rPr>
              <a:t>The Data Understanding phase went better than expected this week;  having all four tasks (2.1 through 2.4) wrapped up on time gave me a real sense of momentum after Task 1.4 running a few days late. What surprised me most was the sheer size of the dataset; nearly 385,000 rows felt overwhelming at first, but once I started working through the distributions and quality checks it became clear there is strong signal in the data. The missing value rates for laundry and parking options (20% and 36%) are higher than I hoped, but finding them now means the Data Preparation phase has a clear plan. I am also slightly ahead of schedule on Task 3.1, which feels good given the midterm presentation is on the horizon. My confidence in the project direction is high.</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7390556"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447664" name="Title 1"/>
          <p:cNvSpPr txBox="1"/>
          <p:nvPr/>
        </p:nvSpPr>
        <p:spPr bwMode="auto">
          <a:xfrm>
            <a:off x="629668" y="661480"/>
            <a:ext cx="10976499" cy="5155659"/>
          </a:xfrm>
          <a:prstGeom prst="rect">
            <a:avLst/>
          </a:prstGeom>
        </p:spPr>
        <p:txBody>
          <a:bodyPr vertOverflow="overflow" horzOverflow="overflow" vert="horz" wrap="square" lIns="91440" tIns="45720" rIns="91440" bIns="45720" numCol="1" spcCol="0" rtlCol="0" fromWordArt="0" anchor="ctr" anchorCtr="0" forceAA="0" upright="0" compatLnSpc="0">
            <a:normAutofit fontScale="65000" lnSpcReduction="7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sz="7700" b="1"/>
              <a:t>Housing Amenities Impact on Apartment Listing Prices in the Southern USA</a:t>
            </a:r>
            <a:endParaRPr sz="7700" b="1"/>
          </a:p>
          <a:p>
            <a:pPr algn="ctr">
              <a:lnSpc>
                <a:spcPct val="120000"/>
              </a:lnSpc>
              <a:defRPr/>
            </a:pPr>
            <a:r>
              <a:rPr sz="7700" b="1"/>
              <a:t>Status Report</a:t>
            </a:r>
            <a:endParaRPr lang="en-US" sz="4800">
              <a:latin typeface="Calibri"/>
            </a:endParaRPr>
          </a:p>
          <a:p>
            <a:pPr algn="ctr">
              <a:defRPr/>
            </a:pPr>
            <a:r>
              <a:rPr sz="6600"/>
              <a:t>Week Ending May 15, 2026</a:t>
            </a:r>
            <a:endParaRPr/>
          </a:p>
          <a:p>
            <a:pPr>
              <a:defRPr/>
            </a:pPr>
            <a:r>
              <a:rPr sz="6000"/>
              <a:t>                                                   </a:t>
            </a:r>
            <a:endParaRPr/>
          </a:p>
          <a:p>
            <a:pPr algn="r">
              <a:defRPr/>
            </a:pPr>
            <a:r>
              <a:rPr sz="6000"/>
              <a:t>Submitted by Gordon Oboh</a:t>
            </a:r>
            <a:r>
              <a:rPr sz="6000"/>
              <a:t>                                                                             May 15,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1605764" name="Title 1"/>
          <p:cNvSpPr>
            <a:spLocks noGrp="1"/>
          </p:cNvSpPr>
          <p:nvPr>
            <p:ph type="title"/>
          </p:nvPr>
        </p:nvSpPr>
        <p:spPr bwMode="auto"/>
        <p:txBody>
          <a:bodyPr/>
          <a:lstStyle/>
          <a:p>
            <a:pPr>
              <a:defRPr/>
            </a:pPr>
            <a:r>
              <a:rPr lang="en-US"/>
              <a:t>Agenda…</a:t>
            </a:r>
            <a:endParaRPr/>
          </a:p>
        </p:txBody>
      </p:sp>
      <p:sp>
        <p:nvSpPr>
          <p:cNvPr id="825424280" name="Content Placeholder 2"/>
          <p:cNvSpPr>
            <a:spLocks noGrp="1"/>
          </p:cNvSpPr>
          <p:nvPr>
            <p:ph idx="1"/>
          </p:nvPr>
        </p:nvSpPr>
        <p:spPr bwMode="auto">
          <a:xfrm>
            <a:off x="599088" y="1166068"/>
            <a:ext cx="10993815" cy="4492302"/>
          </a:xfrm>
        </p:spPr>
        <p:txBody>
          <a:bodyPr>
            <a:normAutofit/>
          </a:bodyPr>
          <a:lstStyle/>
          <a:p>
            <a:pPr>
              <a:lnSpc>
                <a:spcPct val="100000"/>
              </a:lnSpc>
              <a:defRPr/>
            </a:pPr>
            <a:r>
              <a:rPr lang="en-US" sz="2400"/>
              <a:t>Status Overview…</a:t>
            </a:r>
            <a:endParaRPr/>
          </a:p>
          <a:p>
            <a:pPr>
              <a:lnSpc>
                <a:spcPct val="100000"/>
              </a:lnSpc>
              <a:defRPr/>
            </a:pPr>
            <a:r>
              <a:rPr lang="en-US" sz="2400"/>
              <a:t>Items Completed in Current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9550296" name="Title 1"/>
          <p:cNvSpPr>
            <a:spLocks noGrp="1"/>
          </p:cNvSpPr>
          <p:nvPr>
            <p:ph type="title"/>
          </p:nvPr>
        </p:nvSpPr>
        <p:spPr bwMode="auto"/>
        <p:txBody>
          <a:bodyPr/>
          <a:lstStyle/>
          <a:p>
            <a:pPr>
              <a:defRPr/>
            </a:pPr>
            <a:r>
              <a:rPr/>
              <a:t>Status Overview</a:t>
            </a:r>
            <a:endParaRPr/>
          </a:p>
        </p:txBody>
      </p:sp>
      <p:sp>
        <p:nvSpPr>
          <p:cNvPr id="1186737197" name="Content Placeholder 2"/>
          <p:cNvSpPr>
            <a:spLocks noGrp="1"/>
          </p:cNvSpPr>
          <p:nvPr>
            <p:ph idx="1"/>
          </p:nvPr>
        </p:nvSpPr>
        <p:spPr bwMode="auto">
          <a:xfrm>
            <a:off x="599088" y="1124607"/>
            <a:ext cx="10993815" cy="4522816"/>
          </a:xfrm>
        </p:spPr>
        <p:txBody>
          <a:bodyPr vertOverflow="overflow" horzOverflow="overflow" vert="horz" wrap="square" lIns="91440" tIns="45720" rIns="91440" bIns="45720" numCol="1" spcCol="0" rtlCol="0" fromWordArt="0" anchor="t" anchorCtr="0" forceAA="0" upright="0" compatLnSpc="0">
            <a:normAutofit fontScale="45000" lnSpcReduction="11000"/>
          </a:bodyPr>
          <a:lstStyle/>
          <a:p>
            <a:pPr>
              <a:lnSpc>
                <a:spcPct val="100000"/>
              </a:lnSpc>
              <a:defRPr/>
            </a:pPr>
            <a:r>
              <a:rPr sz="2400"/>
              <a:t>Project Status is </a:t>
            </a:r>
            <a:r>
              <a:rPr sz="2400" b="1">
                <a:solidFill>
                  <a:srgbClr val="00B050"/>
                </a:solidFill>
              </a:rPr>
              <a:t>GREEN</a:t>
            </a:r>
            <a:endParaRPr/>
          </a:p>
          <a:p>
            <a:pPr>
              <a:defRPr/>
            </a:pPr>
            <a:r>
              <a:rPr sz="2400"/>
              <a:t>Task 1.4: Produce Project Plan</a:t>
            </a:r>
            <a:endParaRPr/>
          </a:p>
          <a:p>
            <a:pPr lvl="1">
              <a:defRPr/>
            </a:pPr>
            <a:r>
              <a:rPr sz="2000"/>
              <a:t>Task is </a:t>
            </a:r>
            <a:r>
              <a:rPr sz="2000" b="1">
                <a:solidFill>
                  <a:srgbClr val="00B050"/>
                </a:solidFill>
              </a:rPr>
              <a:t>GREEN</a:t>
            </a:r>
            <a:r>
              <a:rPr sz="2000"/>
              <a:t> — 100% complete</a:t>
            </a:r>
            <a:endParaRPr/>
          </a:p>
          <a:p>
            <a:pPr lvl="1">
              <a:defRPr/>
            </a:pPr>
            <a:r>
              <a:rPr sz="2000"/>
              <a:t>Original Start: 2 May 2026 | Revised: N/A | Actual Start: 7 May 2026</a:t>
            </a:r>
            <a:endParaRPr/>
          </a:p>
          <a:p>
            <a:pPr lvl="1">
              <a:defRPr/>
            </a:pPr>
            <a:r>
              <a:rPr sz="2000"/>
              <a:t>Original End: 9 May 2026 | Revised: N/A | Actual End: 13 May 2026</a:t>
            </a:r>
            <a:endParaRPr/>
          </a:p>
          <a:p>
            <a:pPr lvl="1">
              <a:defRPr/>
            </a:pPr>
            <a:r>
              <a:rPr sz="2000"/>
              <a:t>Completed 4 days after original end date</a:t>
            </a:r>
            <a:endParaRPr/>
          </a:p>
          <a:p>
            <a:pPr>
              <a:defRPr/>
            </a:pPr>
            <a:r>
              <a:rPr sz="2400"/>
              <a:t>Task 2.1: Gathering Data</a:t>
            </a:r>
            <a:endParaRPr/>
          </a:p>
          <a:p>
            <a:pPr lvl="1">
              <a:defRPr/>
            </a:pPr>
            <a:r>
              <a:rPr sz="2000"/>
              <a:t>Task is </a:t>
            </a:r>
            <a:r>
              <a:rPr sz="2000" b="1">
                <a:solidFill>
                  <a:srgbClr val="00B050"/>
                </a:solidFill>
              </a:rPr>
              <a:t>GREEN</a:t>
            </a:r>
            <a:r>
              <a:rPr sz="2000"/>
              <a:t> — 100%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a:defRPr/>
            </a:pPr>
            <a:r>
              <a:rPr sz="2400"/>
              <a:t>Task 2.2: Describing Data</a:t>
            </a:r>
            <a:endParaRPr/>
          </a:p>
          <a:p>
            <a:pPr lvl="1">
              <a:defRPr/>
            </a:pPr>
            <a:r>
              <a:rPr sz="2000"/>
              <a:t>Task is </a:t>
            </a:r>
            <a:r>
              <a:rPr sz="2000" b="1">
                <a:solidFill>
                  <a:srgbClr val="00B050"/>
                </a:solidFill>
              </a:rPr>
              <a:t>GREEN</a:t>
            </a:r>
            <a:r>
              <a:rPr sz="2000"/>
              <a:t> — 75%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a:defRPr/>
            </a:pPr>
            <a:r>
              <a:rPr sz="2400"/>
              <a:t>Task 2.3: Exploring Data</a:t>
            </a:r>
            <a:endParaRPr/>
          </a:p>
          <a:p>
            <a:pPr lvl="1">
              <a:defRPr/>
            </a:pPr>
            <a:r>
              <a:rPr sz="2000"/>
              <a:t>Task is </a:t>
            </a:r>
            <a:r>
              <a:rPr sz="2000" b="1">
                <a:solidFill>
                  <a:srgbClr val="00B050"/>
                </a:solidFill>
              </a:rPr>
              <a:t>GREEN</a:t>
            </a:r>
            <a:r>
              <a:rPr sz="2000"/>
              <a:t> — 50%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a:defRPr/>
            </a:pPr>
            <a:r>
              <a:rPr sz="2400"/>
              <a:t>Task 2.4: Verifying Data Quality</a:t>
            </a:r>
            <a:endParaRPr/>
          </a:p>
          <a:p>
            <a:pPr lvl="1">
              <a:defRPr/>
            </a:pPr>
            <a:r>
              <a:rPr sz="2000"/>
              <a:t>Task is </a:t>
            </a:r>
            <a:r>
              <a:rPr sz="2000" b="1">
                <a:solidFill>
                  <a:srgbClr val="00B050"/>
                </a:solidFill>
              </a:rPr>
              <a:t>GREEN</a:t>
            </a:r>
            <a:r>
              <a:rPr sz="2000"/>
              <a:t> — 0% complete</a:t>
            </a:r>
            <a:endParaRPr/>
          </a:p>
          <a:p>
            <a:pPr lvl="1">
              <a:defRPr/>
            </a:pPr>
            <a:r>
              <a:rPr sz="2000"/>
              <a:t>Original Start: 11 May 2026 | Revised: N/A | Actual Start: N/A</a:t>
            </a:r>
            <a:endParaRPr/>
          </a:p>
          <a:p>
            <a:pPr lvl="1">
              <a:defRPr/>
            </a:pPr>
            <a:r>
              <a:rPr sz="2000"/>
              <a:t>Original End: 23 May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9214048" name="Title 1"/>
          <p:cNvSpPr>
            <a:spLocks noGrp="1"/>
          </p:cNvSpPr>
          <p:nvPr>
            <p:ph type="title"/>
          </p:nvPr>
        </p:nvSpPr>
        <p:spPr bwMode="auto"/>
        <p:txBody>
          <a:bodyPr/>
          <a:lstStyle/>
          <a:p>
            <a:pPr>
              <a:defRPr/>
            </a:pPr>
            <a:r>
              <a:rPr/>
              <a:t>Items Completed in Current Week</a:t>
            </a:r>
            <a:endParaRPr/>
          </a:p>
        </p:txBody>
      </p:sp>
      <p:sp>
        <p:nvSpPr>
          <p:cNvPr id="897523502" name="Content Placeholder 2"/>
          <p:cNvSpPr>
            <a:spLocks noGrp="1"/>
          </p:cNvSpPr>
          <p:nvPr>
            <p:ph idx="1"/>
          </p:nvPr>
        </p:nvSpPr>
        <p:spPr bwMode="auto">
          <a:xfrm>
            <a:off x="599088" y="1124607"/>
            <a:ext cx="10993815" cy="4669440"/>
          </a:xfrm>
        </p:spPr>
        <p:txBody>
          <a:bodyPr>
            <a:normAutofit/>
          </a:bodyPr>
          <a:lstStyle/>
          <a:p>
            <a:pPr>
              <a:lnSpc>
                <a:spcPct val="100000"/>
              </a:lnSpc>
              <a:defRPr/>
            </a:pPr>
            <a:r>
              <a:rPr sz="2400"/>
              <a:t>Task 1.4: Produce Project Plan</a:t>
            </a:r>
            <a:endParaRPr/>
          </a:p>
          <a:p>
            <a:pPr lvl="1">
              <a:defRPr/>
            </a:pPr>
            <a:r>
              <a:rPr sz="2000"/>
              <a:t>Task is </a:t>
            </a:r>
            <a:r>
              <a:rPr sz="2000" b="1">
                <a:solidFill>
                  <a:srgbClr val="00B050"/>
                </a:solidFill>
              </a:rPr>
              <a:t>GREEN</a:t>
            </a:r>
            <a:r>
              <a:rPr sz="2000"/>
              <a:t> — 100% complete</a:t>
            </a:r>
            <a:endParaRPr/>
          </a:p>
          <a:p>
            <a:pPr lvl="1">
              <a:defRPr/>
            </a:pPr>
            <a:r>
              <a:rPr sz="2000"/>
              <a:t>Original Start: 2 May 2026 | Revised: N/A | Actual Start: 7 May 2026</a:t>
            </a:r>
            <a:endParaRPr/>
          </a:p>
          <a:p>
            <a:pPr lvl="1">
              <a:defRPr/>
            </a:pPr>
            <a:r>
              <a:rPr sz="2000"/>
              <a:t>Original End: 9 May 2026 | Revised: N/A | Actual End: 13 May 2026</a:t>
            </a:r>
            <a:endParaRPr/>
          </a:p>
          <a:p>
            <a:pPr lvl="1">
              <a:defRPr/>
            </a:pPr>
            <a:r>
              <a:rPr sz="2000"/>
              <a:t>Full CRISP-DM project timeline built out with task dates, deliverables, and resource plan</a:t>
            </a:r>
            <a:endParaRPr/>
          </a:p>
          <a:p>
            <a:pPr lvl="1">
              <a:defRPr/>
            </a:pPr>
            <a:r>
              <a:rPr sz="2000"/>
              <a:t>Completed 4 days after original end; delay due to scope of timeline build-out</a:t>
            </a:r>
            <a:endParaRPr/>
          </a:p>
          <a:p>
            <a:pPr>
              <a:defRPr/>
            </a:pPr>
            <a:r>
              <a:rPr sz="2400"/>
              <a:t>Task 2.1: Gathering Data</a:t>
            </a:r>
            <a:endParaRPr/>
          </a:p>
          <a:p>
            <a:pPr lvl="1">
              <a:defRPr/>
            </a:pPr>
            <a:r>
              <a:rPr sz="2000"/>
              <a:t>Task is </a:t>
            </a:r>
            <a:r>
              <a:rPr sz="2000" b="1">
                <a:solidFill>
                  <a:srgbClr val="00B050"/>
                </a:solidFill>
              </a:rPr>
              <a:t>GREEN</a:t>
            </a:r>
            <a:r>
              <a:rPr sz="2000"/>
              <a:t> — 100% complete</a:t>
            </a:r>
            <a:endParaRPr/>
          </a:p>
          <a:p>
            <a:pPr lvl="1">
              <a:defRPr/>
            </a:pPr>
            <a:r>
              <a:rPr sz="2000"/>
              <a:t>Original Start: 11 May 2026 | Revised: N/A | Actual Start: 12 May 2026</a:t>
            </a:r>
            <a:endParaRPr/>
          </a:p>
          <a:p>
            <a:pPr lvl="1">
              <a:defRPr/>
            </a:pPr>
            <a:r>
              <a:rPr sz="2000"/>
              <a:t>Original End: 23 May 2026 | Revised: N/A | Actual End: 23 May 2026</a:t>
            </a:r>
            <a:endParaRPr/>
          </a:p>
          <a:p>
            <a:pPr lvl="1">
              <a:defRPr/>
            </a:pPr>
            <a:r>
              <a:rPr sz="2000"/>
              <a:t>Dataset sourced from Kaggle: Craigslist housing listings scraped January 2020; 384,977 rows, 22 columns, 558.44 MB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0821263" name="Title 1"/>
          <p:cNvSpPr>
            <a:spLocks noGrp="1"/>
          </p:cNvSpPr>
          <p:nvPr>
            <p:ph type="title"/>
          </p:nvPr>
        </p:nvSpPr>
        <p:spPr bwMode="auto"/>
        <p:txBody>
          <a:bodyPr/>
          <a:lstStyle/>
          <a:p>
            <a:pPr>
              <a:defRPr/>
            </a:pPr>
            <a:r>
              <a:rPr/>
              <a:t>Items In Progress</a:t>
            </a:r>
            <a:endParaRPr/>
          </a:p>
        </p:txBody>
      </p:sp>
      <p:sp>
        <p:nvSpPr>
          <p:cNvPr id="1106247656" name="Content Placeholder 2"/>
          <p:cNvSpPr>
            <a:spLocks noGrp="1"/>
          </p:cNvSpPr>
          <p:nvPr>
            <p:ph idx="1"/>
          </p:nvPr>
        </p:nvSpPr>
        <p:spPr bwMode="auto">
          <a:xfrm>
            <a:off x="599088" y="1124607"/>
            <a:ext cx="10993815" cy="4669440"/>
          </a:xfrm>
        </p:spPr>
        <p:txBody>
          <a:bodyPr>
            <a:normAutofit/>
          </a:bodyPr>
          <a:lstStyle/>
          <a:p>
            <a:pPr>
              <a:lnSpc>
                <a:spcPct val="100000"/>
              </a:lnSpc>
              <a:defRPr/>
            </a:pPr>
            <a:r>
              <a:rPr sz="2400"/>
              <a:t>Task 2.2: Describing Data</a:t>
            </a:r>
            <a:endParaRPr/>
          </a:p>
          <a:p>
            <a:pPr lvl="1">
              <a:defRPr/>
            </a:pPr>
            <a:r>
              <a:rPr sz="2000"/>
              <a:t>Task is </a:t>
            </a:r>
            <a:r>
              <a:rPr sz="2000" b="1">
                <a:solidFill>
                  <a:srgbClr val="00B050"/>
                </a:solidFill>
              </a:rPr>
              <a:t>GREEN</a:t>
            </a:r>
            <a:r>
              <a:rPr sz="2000"/>
              <a:t> — 75% complete</a:t>
            </a:r>
            <a:endParaRPr/>
          </a:p>
          <a:p>
            <a:pPr lvl="1">
              <a:defRPr/>
            </a:pPr>
            <a:r>
              <a:rPr sz="2000"/>
              <a:t>Original Start: 11 May 2026 | Revised: N/A | Actual Start: 12 May 2026</a:t>
            </a:r>
            <a:endParaRPr/>
          </a:p>
          <a:p>
            <a:pPr lvl="1">
              <a:defRPr/>
            </a:pPr>
            <a:r>
              <a:rPr sz="2000"/>
              <a:t>Original End: 23 May 2026 | Revised: N/A | Actual End: N/A</a:t>
            </a:r>
            <a:endParaRPr/>
          </a:p>
          <a:p>
            <a:pPr lvl="1">
              <a:defRPr/>
            </a:pPr>
            <a:r>
              <a:rPr sz="2000"/>
              <a:t>Features classified: numeric (price, sqfeet, beds, baths), categorical binary (amenity flags), multi-class (region, type, laundry, parking), geographic (lat, long, state), text/URL excluded</a:t>
            </a:r>
            <a:endParaRPr/>
          </a:p>
          <a:p>
            <a:pPr>
              <a:defRPr/>
            </a:pPr>
            <a:r>
              <a:rPr sz="2400"/>
              <a:t>Task 2.3: Exploring Data</a:t>
            </a:r>
            <a:endParaRPr/>
          </a:p>
          <a:p>
            <a:pPr lvl="1">
              <a:defRPr/>
            </a:pPr>
            <a:r>
              <a:rPr sz="2000"/>
              <a:t>Task is </a:t>
            </a:r>
            <a:r>
              <a:rPr sz="2000" b="1">
                <a:solidFill>
                  <a:srgbClr val="00B050"/>
                </a:solidFill>
              </a:rPr>
              <a:t>GREEN</a:t>
            </a:r>
            <a:r>
              <a:rPr sz="2000"/>
              <a:t> — 50% complete</a:t>
            </a:r>
            <a:endParaRPr/>
          </a:p>
          <a:p>
            <a:pPr lvl="1">
              <a:defRPr/>
            </a:pPr>
            <a:r>
              <a:rPr sz="2000"/>
              <a:t>Original Start: 11 May 2026 | Revised: N/A | Actual Start: 12 May 2026</a:t>
            </a:r>
            <a:endParaRPr/>
          </a:p>
          <a:p>
            <a:pPr lvl="1">
              <a:defRPr/>
            </a:pPr>
            <a:r>
              <a:rPr sz="2000"/>
              <a:t>Original End: 23 May 2026 | Revised: N/A | Actual End: N/A</a:t>
            </a:r>
            <a:endParaRPr/>
          </a:p>
          <a:p>
            <a:pPr lvl="1">
              <a:defRPr/>
            </a:pPr>
            <a:r>
              <a:rPr sz="2000"/>
              <a:t>Summary statistics computed; Q3 price $1,395, Q3 sqft 1,150; majority pet-friendly; ~25% smoke-friendly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6917335" name="Title 1"/>
          <p:cNvSpPr>
            <a:spLocks noGrp="1"/>
          </p:cNvSpPr>
          <p:nvPr>
            <p:ph type="title"/>
          </p:nvPr>
        </p:nvSpPr>
        <p:spPr bwMode="auto"/>
        <p:txBody>
          <a:bodyPr/>
          <a:lstStyle/>
          <a:p>
            <a:pPr>
              <a:defRPr/>
            </a:pPr>
            <a:r>
              <a:rPr/>
              <a:t>Items To Be Started</a:t>
            </a:r>
            <a:endParaRPr/>
          </a:p>
        </p:txBody>
      </p:sp>
      <p:sp>
        <p:nvSpPr>
          <p:cNvPr id="599396682" name="Content Placeholder 2"/>
          <p:cNvSpPr>
            <a:spLocks noGrp="1"/>
          </p:cNvSpPr>
          <p:nvPr>
            <p:ph idx="1"/>
          </p:nvPr>
        </p:nvSpPr>
        <p:spPr bwMode="auto">
          <a:xfrm>
            <a:off x="599088" y="1124607"/>
            <a:ext cx="10993815" cy="4522816"/>
          </a:xfrm>
        </p:spPr>
        <p:txBody>
          <a:bodyPr>
            <a:normAutofit/>
          </a:bodyPr>
          <a:lstStyle/>
          <a:p>
            <a:pPr>
              <a:lnSpc>
                <a:spcPct val="100000"/>
              </a:lnSpc>
              <a:defRPr/>
            </a:pPr>
            <a:r>
              <a:rPr sz="2400"/>
              <a:t>Task 2.4: Verifying Data Quality</a:t>
            </a:r>
            <a:endParaRPr/>
          </a:p>
          <a:p>
            <a:pPr lvl="1">
              <a:defRPr/>
            </a:pPr>
            <a:r>
              <a:rPr sz="2000"/>
              <a:t>Original Start: 11 May 2026 | Revised: N/A | Actual Start: N/A</a:t>
            </a:r>
            <a:endParaRPr/>
          </a:p>
          <a:p>
            <a:pPr lvl="1">
              <a:defRPr/>
            </a:pPr>
            <a:r>
              <a:rPr sz="2000"/>
              <a:t>Original End: 23 May 2026 | Revised: N/A | Actual End: N/A</a:t>
            </a:r>
            <a:endParaRPr/>
          </a:p>
          <a:p>
            <a:pPr>
              <a:defRPr/>
            </a:pPr>
            <a:r>
              <a:rPr sz="2400"/>
              <a:t>Task 3.1: Select Data</a:t>
            </a:r>
            <a:endParaRPr/>
          </a:p>
          <a:p>
            <a:pPr lvl="1">
              <a:defRPr/>
            </a:pPr>
            <a:r>
              <a:rPr sz="2000"/>
              <a:t>Original Start: 24 May 2026 | Revised: N/A | Actual Start: N/A</a:t>
            </a:r>
            <a:endParaRPr/>
          </a:p>
          <a:p>
            <a:pPr lvl="1">
              <a:defRPr/>
            </a:pPr>
            <a:r>
              <a:rPr sz="2000"/>
              <a:t>Original End: 6 Jun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8818135" name="Title 1"/>
          <p:cNvSpPr>
            <a:spLocks noGrp="1"/>
          </p:cNvSpPr>
          <p:nvPr>
            <p:ph type="title"/>
          </p:nvPr>
        </p:nvSpPr>
        <p:spPr bwMode="auto"/>
        <p:txBody>
          <a:bodyPr/>
          <a:lstStyle/>
          <a:p>
            <a:pPr>
              <a:defRPr/>
            </a:pPr>
            <a:r>
              <a:rPr/>
              <a:t>Sample of Items Completed This Week</a:t>
            </a:r>
            <a:endParaRPr/>
          </a:p>
        </p:txBody>
      </p:sp>
      <p:sp>
        <p:nvSpPr>
          <p:cNvPr id="215003542" name="Content Placeholder 2"/>
          <p:cNvSpPr>
            <a:spLocks noGrp="1"/>
          </p:cNvSpPr>
          <p:nvPr>
            <p:ph idx="1"/>
          </p:nvPr>
        </p:nvSpPr>
        <p:spPr bwMode="auto">
          <a:xfrm>
            <a:off x="599088" y="1194215"/>
            <a:ext cx="10993815" cy="4453209"/>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nSpc>
                <a:spcPct val="100000"/>
              </a:lnSpc>
              <a:defRPr/>
            </a:pPr>
            <a:r>
              <a:rPr sz="2400"/>
              <a:t>Dataset Acquisition and Exploratory Distributions</a:t>
            </a:r>
            <a:endParaRPr/>
          </a:p>
          <a:p>
            <a:pPr lvl="1">
              <a:defRPr/>
            </a:pPr>
            <a:r>
              <a:rPr sz="2000"/>
              <a:t>Price and Square Footage</a:t>
            </a:r>
            <a:endParaRPr/>
          </a:p>
          <a:p>
            <a:pPr>
              <a:defRPr/>
            </a:pPr>
            <a:r>
              <a:rPr sz="2000" b="1"/>
              <a:t>Data Source: Kaggle — Craigslist Housing Listings (Jan 2020)</a:t>
            </a:r>
            <a:endParaRPr/>
          </a:p>
          <a:p>
            <a:pPr lvl="1">
              <a:defRPr/>
            </a:pPr>
            <a:r>
              <a:rPr sz="2000"/>
              <a:t>384,977 rows x 22 columns, 558.44 MB | Target: price (monthly USD)</a:t>
            </a:r>
            <a:endParaRPr/>
          </a:p>
          <a:p>
            <a:pPr>
              <a:defRPr/>
            </a:pPr>
            <a:r>
              <a:rPr sz="2000" b="1"/>
              <a:t>Price Distribution (Southern States):</a:t>
            </a:r>
            <a:endParaRPr/>
          </a:p>
          <a:p>
            <a:pPr lvl="1">
              <a:defRPr/>
            </a:pPr>
            <a:r>
              <a:rPr sz="2000"/>
              <a:t>Right-skewed; majority below $3,000/month; median near $1,100; long upper tail with outliers above $10,000 flagged for removal</a:t>
            </a:r>
            <a:endParaRPr/>
          </a:p>
          <a:p>
            <a:pPr>
              <a:defRPr/>
            </a:pPr>
            <a:r>
              <a:rPr sz="2000" b="1"/>
              <a:t>Square Footage Distribution (Southern States):</a:t>
            </a:r>
            <a:endParaRPr/>
          </a:p>
          <a:p>
            <a:pPr lvl="1">
              <a:defRPr/>
            </a:pPr>
            <a:r>
              <a:rPr sz="2000"/>
              <a:t>Right-skewed; Q3 = 1,150 sqft; extreme outliers flagged as anomalies; IQR-based removal planned per state/region</a:t>
            </a:r>
            <a:endParaRPr/>
          </a:p>
          <a:p>
            <a:pPr>
              <a:defRPr/>
            </a:pPr>
            <a:r>
              <a:rPr sz="2000" b="1"/>
              <a:t>Why shown:</a:t>
            </a:r>
            <a:endParaRPr/>
          </a:p>
          <a:p>
            <a:pPr lvl="1">
              <a:defRPr/>
            </a:pPr>
            <a:r>
              <a:rPr sz="2000"/>
              <a:t>The Kaggle dataset is the foundation for all analysis. Confirming successful acquisition and understanding price/sqft distributions validates that Data Understanding produced a usable dataset.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2438925" name="Title 1"/>
          <p:cNvSpPr>
            <a:spLocks noGrp="1"/>
          </p:cNvSpPr>
          <p:nvPr>
            <p:ph type="title"/>
          </p:nvPr>
        </p:nvSpPr>
        <p:spPr bwMode="auto"/>
        <p:txBody>
          <a:bodyPr/>
          <a:lstStyle/>
          <a:p>
            <a:pPr>
              <a:defRPr/>
            </a:pPr>
            <a:r>
              <a:rPr/>
              <a:t>Project Issues, Risks, Concerns</a:t>
            </a:r>
            <a:endParaRPr/>
          </a:p>
        </p:txBody>
      </p:sp>
      <p:sp>
        <p:nvSpPr>
          <p:cNvPr id="192997154" name="Content Placeholder 2"/>
          <p:cNvSpPr>
            <a:spLocks noGrp="1"/>
          </p:cNvSpPr>
          <p:nvPr>
            <p:ph idx="1"/>
          </p:nvPr>
        </p:nvSpPr>
        <p:spPr bwMode="auto">
          <a:xfrm>
            <a:off x="599088" y="1124607"/>
            <a:ext cx="10993815" cy="4522816"/>
          </a:xfrm>
        </p:spPr>
        <p:txBody>
          <a:bodyPr>
            <a:normAutofit/>
          </a:bodyPr>
          <a:lstStyle/>
          <a:p>
            <a:pPr>
              <a:lnSpc>
                <a:spcPct val="100000"/>
              </a:lnSpc>
              <a:defRPr/>
            </a:pPr>
            <a:r>
              <a:rPr sz="2400"/>
              <a:t>Issues</a:t>
            </a:r>
            <a:endParaRPr/>
          </a:p>
          <a:p>
            <a:pPr lvl="1">
              <a:defRPr/>
            </a:pPr>
            <a:r>
              <a:rPr sz="2000"/>
              <a:t>Missing value concentration: laundry_options (20.5%) and parking_options (36.5%) have substantial missing rates</a:t>
            </a:r>
            <a:endParaRPr/>
          </a:p>
          <a:p>
            <a:pPr lvl="2">
              <a:defRPr/>
            </a:pPr>
            <a:r>
              <a:rPr sz="2000"/>
              <a:t>Impact: imputation strategy will influence model results for two key amenity features</a:t>
            </a:r>
            <a:endParaRPr/>
          </a:p>
          <a:p>
            <a:pPr lvl="2">
              <a:defRPr/>
            </a:pPr>
            <a:r>
              <a:rPr sz="2000"/>
              <a:t>Mitigation: evaluating between removing or encoding them differently</a:t>
            </a:r>
            <a:endParaRPr/>
          </a:p>
          <a:p>
            <a:pPr>
              <a:defRPr/>
            </a:pPr>
            <a:r>
              <a:rPr sz="2400"/>
              <a:t>Risks</a:t>
            </a:r>
            <a:endParaRPr/>
          </a:p>
          <a:p>
            <a:pPr lvl="1">
              <a:defRPr/>
            </a:pPr>
            <a:r>
              <a:rPr sz="2000"/>
              <a:t>None at this time</a:t>
            </a:r>
            <a:endParaRPr/>
          </a:p>
          <a:p>
            <a:pPr>
              <a:defRPr/>
            </a:pPr>
            <a:r>
              <a:rPr sz="2400"/>
              <a:t>Concerns</a:t>
            </a:r>
            <a:endParaRPr/>
          </a:p>
          <a:p>
            <a:pPr lvl="1">
              <a:defRPr/>
            </a:pPr>
            <a:r>
              <a:rPr sz="2000"/>
              <a:t>None at this 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6677638" name="Title 1"/>
          <p:cNvSpPr>
            <a:spLocks noGrp="1"/>
          </p:cNvSpPr>
          <p:nvPr>
            <p:ph type="title"/>
          </p:nvPr>
        </p:nvSpPr>
        <p:spPr bwMode="auto"/>
        <p:txBody>
          <a:bodyPr/>
          <a:lstStyle/>
          <a:p>
            <a:pPr>
              <a:defRPr/>
            </a:pPr>
            <a:r>
              <a:rPr/>
              <a:t>Next Steps</a:t>
            </a:r>
            <a:endParaRPr/>
          </a:p>
        </p:txBody>
      </p:sp>
      <p:sp>
        <p:nvSpPr>
          <p:cNvPr id="1319003929" name="Content Placeholder 2"/>
          <p:cNvSpPr>
            <a:spLocks noGrp="1"/>
          </p:cNvSpPr>
          <p:nvPr>
            <p:ph idx="1"/>
          </p:nvPr>
        </p:nvSpPr>
        <p:spPr bwMode="auto">
          <a:xfrm>
            <a:off x="599088" y="1049868"/>
            <a:ext cx="10993815" cy="4718542"/>
          </a:xfrm>
        </p:spPr>
        <p:txBody>
          <a:bodyPr>
            <a:normAutofit/>
          </a:bodyPr>
          <a:lstStyle/>
          <a:p>
            <a:pPr>
              <a:lnSpc>
                <a:spcPct val="100000"/>
              </a:lnSpc>
              <a:defRPr/>
            </a:pPr>
            <a:r>
              <a:rPr sz="2400"/>
              <a:t>Task 3: Data Preparation</a:t>
            </a:r>
            <a:endParaRPr/>
          </a:p>
          <a:p>
            <a:pPr lvl="1">
              <a:defRPr/>
            </a:pPr>
            <a:r>
              <a:rPr sz="2000"/>
              <a:t>Original Start: 24 May 2026 | Revised: N/A | Actual Start: N/A</a:t>
            </a:r>
            <a:endParaRPr/>
          </a:p>
          <a:p>
            <a:pPr lvl="1">
              <a:defRPr/>
            </a:pPr>
            <a:r>
              <a:rPr sz="2000"/>
              <a:t>Original End: 6 Jun 2026 | Revised: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8852780" name="Title 1"/>
          <p:cNvSpPr>
            <a:spLocks noGrp="1"/>
          </p:cNvSpPr>
          <p:nvPr>
            <p:ph type="title"/>
          </p:nvPr>
        </p:nvSpPr>
        <p:spPr bwMode="auto"/>
        <p:txBody>
          <a:bodyPr/>
          <a:lstStyle/>
          <a:p>
            <a:pPr>
              <a:defRPr/>
            </a:pPr>
            <a:r>
              <a:rPr/>
              <a:t>Personal Reflection</a:t>
            </a:r>
            <a:endParaRPr/>
          </a:p>
        </p:txBody>
      </p:sp>
      <p:sp>
        <p:nvSpPr>
          <p:cNvPr id="1680069107" name="Content Placeholder 2"/>
          <p:cNvSpPr>
            <a:spLocks noGrp="1"/>
          </p:cNvSpPr>
          <p:nvPr>
            <p:ph idx="1"/>
          </p:nvPr>
        </p:nvSpPr>
        <p:spPr bwMode="auto">
          <a:xfrm>
            <a:off x="599088" y="1124607"/>
            <a:ext cx="10993815" cy="4522816"/>
          </a:xfrm>
        </p:spPr>
        <p:txBody>
          <a:bodyPr>
            <a:normAutofit/>
          </a:bodyPr>
          <a:lstStyle/>
          <a:p>
            <a:pPr marL="0" indent="0">
              <a:lnSpc>
                <a:spcPct val="100000"/>
              </a:lnSpc>
              <a:buNone/>
              <a:defRPr/>
            </a:pPr>
            <a:r>
              <a:rPr sz="2400"/>
              <a:t>The Data Understanding phase went better than expected this week; having Task 2.1 (Gathering Data) wrapped up on time gave me momentum after Task 1.4 running a few days late. What surprised me most was the sheer size of the dataset; nearly 385,000 rows felt overwhelming at first, but once I started working through the distributions and quality checks I realized there is a lot of useful information to work with. There is still a lot left to do, but I am making consistent progress.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9085626"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6341464" name="Title 1"/>
          <p:cNvSpPr txBox="1"/>
          <p:nvPr/>
        </p:nvSpPr>
        <p:spPr bwMode="auto">
          <a:xfrm>
            <a:off x="629667" y="661479"/>
            <a:ext cx="10976499" cy="5155659"/>
          </a:xfrm>
          <a:prstGeom prst="rect">
            <a:avLst/>
          </a:prstGeom>
        </p:spPr>
        <p:txBody>
          <a:bodyPr vert="horz" lIns="91440" tIns="45720" rIns="91440" bIns="45720" rtlCol="0" anchor="ctr">
            <a:normAutofit fontScale="55000" lnSpcReduction="20000"/>
          </a:bodyPr>
          <a:lstStyle>
            <a:lvl1pPr algn="l" defTabSz="914400" rtl="0">
              <a:lnSpc>
                <a:spcPct val="90000"/>
              </a:lnSpc>
              <a:spcBef>
                <a:spcPts val="0"/>
              </a:spcBef>
              <a:buNone/>
              <a:defRPr sz="4400" b="1">
                <a:solidFill>
                  <a:schemeClr val="tx1"/>
                </a:solidFill>
                <a:latin typeface="+mj-lt"/>
                <a:ea typeface="+mj-ea"/>
                <a:cs typeface="+mj-cs"/>
              </a:defRPr>
            </a:lvl1pPr>
          </a:lstStyle>
          <a:p>
            <a:pPr algn="ctr">
              <a:lnSpc>
                <a:spcPct val="120000"/>
              </a:lnSpc>
              <a:defRPr/>
            </a:pPr>
            <a:r>
              <a:rPr lang="en-US" sz="7700" b="1"/>
              <a:t>Housing Amenities Impact on Apartment Listing Prices in the Southern USA</a:t>
            </a:r>
            <a:br>
              <a:rPr lang="en-US" sz="7700"/>
            </a:br>
            <a:r>
              <a:rPr lang="en-US" sz="7700" b="1"/>
              <a:t>Status Report</a:t>
            </a:r>
            <a:br>
              <a:rPr lang="en-US" sz="6600"/>
            </a:br>
            <a:r>
              <a:rPr lang="en-US" sz="6600"/>
              <a:t>Week Ending May 09, 2026</a:t>
            </a:r>
            <a:br>
              <a:rPr lang="en-US" sz="6000"/>
            </a:br>
            <a:r>
              <a:rPr lang="en-US" sz="6000"/>
              <a:t>Submitted by Gordon Oboh</a:t>
            </a:r>
            <a:r>
              <a:rPr lang="en-US" sz="6000"/>
              <a:t>    May 09, 2026</a:t>
            </a:r>
            <a:endParaRPr lang="en-US" sz="4800">
              <a:latin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5494496" name="Title 1"/>
          <p:cNvSpPr>
            <a:spLocks noGrp="1"/>
          </p:cNvSpPr>
          <p:nvPr>
            <p:ph type="title"/>
          </p:nvPr>
        </p:nvSpPr>
        <p:spPr bwMode="auto"/>
        <p:txBody>
          <a:bodyPr/>
          <a:lstStyle/>
          <a:p>
            <a:pPr>
              <a:defRPr/>
            </a:pPr>
            <a:r>
              <a:rPr lang="en-US"/>
              <a:t>Agenda…</a:t>
            </a:r>
            <a:endParaRPr/>
          </a:p>
        </p:txBody>
      </p:sp>
      <p:sp>
        <p:nvSpPr>
          <p:cNvPr id="922946850" name="Content Placeholder 2"/>
          <p:cNvSpPr>
            <a:spLocks noGrp="1"/>
          </p:cNvSpPr>
          <p:nvPr>
            <p:ph idx="1"/>
          </p:nvPr>
        </p:nvSpPr>
        <p:spPr bwMode="auto">
          <a:xfrm>
            <a:off x="599087" y="1166067"/>
            <a:ext cx="10993815" cy="4492301"/>
          </a:xfrm>
        </p:spPr>
        <p:txBody>
          <a:bodyPr>
            <a:normAutofit/>
          </a:bodyPr>
          <a:lstStyle/>
          <a:p>
            <a:pPr>
              <a:lnSpc>
                <a:spcPct val="100000"/>
              </a:lnSpc>
              <a:defRPr/>
            </a:pPr>
            <a:r>
              <a:rPr lang="en-US" sz="2400"/>
              <a:t>Status Overview…</a:t>
            </a:r>
            <a:endParaRPr/>
          </a:p>
          <a:p>
            <a:pPr>
              <a:lnSpc>
                <a:spcPct val="100000"/>
              </a:lnSpc>
              <a:defRPr/>
            </a:pPr>
            <a:r>
              <a:rPr lang="en-US" sz="2400"/>
              <a:t>Items Completed in Current Week…</a:t>
            </a:r>
            <a:endParaRPr/>
          </a:p>
          <a:p>
            <a:pPr>
              <a:lnSpc>
                <a:spcPct val="100000"/>
              </a:lnSpc>
              <a:defRPr/>
            </a:pPr>
            <a:r>
              <a:rPr lang="en-US" sz="2400"/>
              <a:t>Items In Progress…</a:t>
            </a:r>
            <a:endParaRPr/>
          </a:p>
          <a:p>
            <a:pPr>
              <a:lnSpc>
                <a:spcPct val="100000"/>
              </a:lnSpc>
              <a:defRPr/>
            </a:pPr>
            <a:r>
              <a:rPr lang="en-US" sz="2400"/>
              <a:t>Items To Be Started…</a:t>
            </a:r>
            <a:endParaRPr/>
          </a:p>
          <a:p>
            <a:pPr>
              <a:lnSpc>
                <a:spcPct val="100000"/>
              </a:lnSpc>
              <a:defRPr/>
            </a:pPr>
            <a:r>
              <a:rPr lang="en-US" sz="2400"/>
              <a:t>Samples of Items Completed This Week…</a:t>
            </a:r>
            <a:endParaRPr/>
          </a:p>
          <a:p>
            <a:pPr>
              <a:lnSpc>
                <a:spcPct val="100000"/>
              </a:lnSpc>
              <a:defRPr/>
            </a:pPr>
            <a:r>
              <a:rPr lang="en-US" sz="2400"/>
              <a:t>Issues, Risks, Concerns…</a:t>
            </a:r>
            <a:endParaRPr/>
          </a:p>
          <a:p>
            <a:pPr>
              <a:lnSpc>
                <a:spcPct val="100000"/>
              </a:lnSpc>
              <a:defRPr/>
            </a:pPr>
            <a:r>
              <a:rPr lang="en-US" sz="2400"/>
              <a:t>Next Steps…</a:t>
            </a:r>
            <a:endParaRPr/>
          </a:p>
          <a:p>
            <a:pPr>
              <a:lnSpc>
                <a:spcPct val="100000"/>
              </a:lnSpc>
              <a:defRPr/>
            </a:pPr>
            <a:r>
              <a:rPr lang="en-US" sz="2400"/>
              <a:t>Personal Reflection…</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2677037" name="Title 1"/>
          <p:cNvSpPr>
            <a:spLocks noGrp="1"/>
          </p:cNvSpPr>
          <p:nvPr>
            <p:ph type="title"/>
          </p:nvPr>
        </p:nvSpPr>
        <p:spPr bwMode="auto"/>
        <p:txBody>
          <a:bodyPr/>
          <a:lstStyle/>
          <a:p>
            <a:pPr>
              <a:defRPr/>
            </a:pPr>
            <a:r>
              <a:rPr lang="en-US"/>
              <a:t>Status Overview…</a:t>
            </a:r>
            <a:endParaRPr/>
          </a:p>
        </p:txBody>
      </p:sp>
      <p:sp>
        <p:nvSpPr>
          <p:cNvPr id="1755838145" name="Content Placeholder 2"/>
          <p:cNvSpPr>
            <a:spLocks noGrp="1"/>
          </p:cNvSpPr>
          <p:nvPr>
            <p:ph idx="1"/>
          </p:nvPr>
        </p:nvSpPr>
        <p:spPr bwMode="auto">
          <a:xfrm>
            <a:off x="599087" y="1124606"/>
            <a:ext cx="10993815" cy="4522815"/>
          </a:xfrm>
        </p:spPr>
        <p:txBody>
          <a:bodyPr>
            <a:normAutofit/>
          </a:bodyPr>
          <a:lstStyle/>
          <a:p>
            <a:pPr lvl="0">
              <a:lnSpc>
                <a:spcPct val="100000"/>
              </a:lnSpc>
              <a:defRPr/>
            </a:pPr>
            <a:r>
              <a:rPr lang="en-US" sz="2200"/>
              <a:t>Project Status is </a:t>
            </a:r>
            <a:r>
              <a:rPr lang="en-US" sz="2200" b="1">
                <a:highlight>
                  <a:srgbClr val="00FF00"/>
                </a:highlight>
              </a:rPr>
              <a:t>GREEN</a:t>
            </a:r>
            <a:endParaRPr sz="2200"/>
          </a:p>
          <a:p>
            <a:pPr lvl="0">
              <a:lnSpc>
                <a:spcPct val="100000"/>
              </a:lnSpc>
              <a:defRPr/>
            </a:pPr>
            <a:r>
              <a:rPr lang="en-US" sz="2200"/>
              <a:t>DS Project Proposal Revision (Tasks 1.1–1.3)</a:t>
            </a:r>
            <a:endParaRPr sz="2200"/>
          </a:p>
          <a:p>
            <a:pPr lvl="1">
              <a:lnSpc>
                <a:spcPct val="100000"/>
              </a:lnSpc>
              <a:defRPr/>
            </a:pPr>
            <a:r>
              <a:rPr lang="en-US" sz="2200"/>
              <a:t>Task is </a:t>
            </a:r>
            <a:r>
              <a:rPr lang="en-US" sz="2200" b="1">
                <a:highlight>
                  <a:srgbClr val="00FF00"/>
                </a:highlight>
              </a:rPr>
              <a:t>GREEN</a:t>
            </a:r>
            <a:r>
              <a:rPr lang="en-US" sz="2200"/>
              <a:t> — content complete, PDF deliverable pending</a:t>
            </a:r>
            <a:endParaRPr sz="2200"/>
          </a:p>
          <a:p>
            <a:pPr lvl="1">
              <a:lnSpc>
                <a:spcPct val="100000"/>
              </a:lnSpc>
              <a:defRPr/>
            </a:pPr>
            <a:r>
              <a:rPr lang="en-US" sz="2200"/>
              <a:t>Original Start: 2 May 2026 | Revised Start: N/A | Actual Start: 2 May 2026</a:t>
            </a:r>
            <a:endParaRPr sz="2200"/>
          </a:p>
          <a:p>
            <a:pPr lvl="1">
              <a:lnSpc>
                <a:spcPct val="100000"/>
              </a:lnSpc>
              <a:defRPr/>
            </a:pPr>
            <a:r>
              <a:rPr lang="en-US" sz="2200"/>
              <a:t>Original End: 9 May 2026 | Revised End: N/A | Actual End: N/A</a:t>
            </a:r>
            <a:endParaRPr sz="2200"/>
          </a:p>
          <a:p>
            <a:pPr lvl="1">
              <a:lnSpc>
                <a:spcPct val="100000"/>
              </a:lnSpc>
              <a:defRPr/>
            </a:pPr>
            <a:r>
              <a:rPr lang="en-US" sz="2200"/>
              <a:t>Professor approved: "Gordon...housing amenities it is!...Mr. N."</a:t>
            </a:r>
            <a:endParaRPr sz="2200"/>
          </a:p>
          <a:p>
            <a:pPr lvl="0">
              <a:lnSpc>
                <a:spcPct val="100000"/>
              </a:lnSpc>
              <a:defRPr/>
            </a:pPr>
            <a:r>
              <a:rPr lang="en-US" sz="2200"/>
              <a:t>Task 1.4: Produce a Project Plan</a:t>
            </a:r>
            <a:endParaRPr sz="2200"/>
          </a:p>
          <a:p>
            <a:pPr lvl="1">
              <a:lnSpc>
                <a:spcPct val="100000"/>
              </a:lnSpc>
              <a:defRPr/>
            </a:pPr>
            <a:r>
              <a:rPr lang="en-US" sz="2200"/>
              <a:t>Task is </a:t>
            </a:r>
            <a:r>
              <a:rPr lang="en-US" sz="2200" b="1">
                <a:highlight>
                  <a:srgbClr val="00FF00"/>
                </a:highlight>
              </a:rPr>
              <a:t>GREEN</a:t>
            </a:r>
            <a:r>
              <a:rPr lang="en-US" sz="2200"/>
              <a:t> — in progress</a:t>
            </a:r>
            <a:endParaRPr sz="2200"/>
          </a:p>
          <a:p>
            <a:pPr lvl="1">
              <a:lnSpc>
                <a:spcPct val="100000"/>
              </a:lnSpc>
              <a:defRPr/>
            </a:pPr>
            <a:r>
              <a:rPr lang="en-US" sz="2200"/>
              <a:t>Original Start: 2 May 2026 | Revised Start: N/A | Actual Start: 7 May 2026</a:t>
            </a:r>
            <a:endParaRPr sz="2200"/>
          </a:p>
          <a:p>
            <a:pPr lvl="1">
              <a:lnSpc>
                <a:spcPct val="100000"/>
              </a:lnSpc>
              <a:defRPr/>
            </a:pPr>
            <a:r>
              <a:rPr lang="en-US" sz="2200"/>
              <a:t>Original End: 9 May 2026 | Revised End: N/A | Actual End: N/A</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0102083" name="Title 1"/>
          <p:cNvSpPr>
            <a:spLocks noGrp="1"/>
          </p:cNvSpPr>
          <p:nvPr>
            <p:ph type="title"/>
          </p:nvPr>
        </p:nvSpPr>
        <p:spPr bwMode="auto"/>
        <p:txBody>
          <a:bodyPr/>
          <a:lstStyle/>
          <a:p>
            <a:pPr>
              <a:defRPr/>
            </a:pPr>
            <a:r>
              <a:rPr lang="en-US"/>
              <a:t>Items Completed in Current Week…</a:t>
            </a:r>
            <a:endParaRPr/>
          </a:p>
        </p:txBody>
      </p:sp>
      <p:sp>
        <p:nvSpPr>
          <p:cNvPr id="11141233" name="Content Placeholder 2"/>
          <p:cNvSpPr>
            <a:spLocks noGrp="1"/>
          </p:cNvSpPr>
          <p:nvPr>
            <p:ph idx="1"/>
          </p:nvPr>
        </p:nvSpPr>
        <p:spPr bwMode="auto">
          <a:xfrm>
            <a:off x="599087" y="1124606"/>
            <a:ext cx="10993815" cy="4669438"/>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lvl="0">
              <a:lnSpc>
                <a:spcPct val="100000"/>
              </a:lnSpc>
              <a:defRPr/>
            </a:pPr>
            <a:r>
              <a:rPr lang="en-US" sz="1200"/>
              <a:t>DS Project Proposal Revision</a:t>
            </a:r>
            <a:endParaRPr sz="1200"/>
          </a:p>
          <a:p>
            <a:pPr lvl="1">
              <a:lnSpc>
                <a:spcPct val="100000"/>
              </a:lnSpc>
              <a:defRPr/>
            </a:pPr>
            <a:r>
              <a:rPr lang="en-US" sz="1200"/>
              <a:t>Task is </a:t>
            </a:r>
            <a:r>
              <a:rPr lang="en-US" sz="1200" b="1">
                <a:highlight>
                  <a:srgbClr val="00FF00"/>
                </a:highlight>
              </a:rPr>
              <a:t>GREEN</a:t>
            </a:r>
            <a:r>
              <a:rPr lang="en-US" sz="1200"/>
              <a:t> — content complete, PDF deliverable pending</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N/A</a:t>
            </a:r>
            <a:endParaRPr sz="1200"/>
          </a:p>
          <a:p>
            <a:pPr lvl="1">
              <a:lnSpc>
                <a:spcPct val="100000"/>
              </a:lnSpc>
              <a:defRPr/>
            </a:pPr>
            <a:r>
              <a:rPr lang="en-US" sz="1200"/>
              <a:t>PDF documentation not yet started</a:t>
            </a:r>
            <a:endParaRPr sz="1200"/>
          </a:p>
          <a:p>
            <a:pPr lvl="0">
              <a:lnSpc>
                <a:spcPct val="100000"/>
              </a:lnSpc>
              <a:defRPr/>
            </a:pPr>
            <a:r>
              <a:rPr lang="en-US" sz="1200"/>
              <a:t>Task 1.1: Determine Business Objectives — Deliverable: Project Scope Document Part 1</a:t>
            </a:r>
            <a:endParaRPr sz="1200"/>
          </a:p>
          <a:p>
            <a:pPr lvl="1">
              <a:lnSpc>
                <a:spcPct val="100000"/>
              </a:lnSpc>
              <a:defRPr/>
            </a:pPr>
            <a:r>
              <a:rPr lang="en-US" sz="1200"/>
              <a:t>Task is </a:t>
            </a:r>
            <a:r>
              <a:rPr lang="en-US" sz="1200" b="1">
                <a:highlight>
                  <a:srgbClr val="00FF00"/>
                </a:highlight>
              </a:rPr>
              <a:t>GREEN</a:t>
            </a:r>
            <a:r>
              <a:rPr lang="en-US" sz="1200"/>
              <a:t> — complete</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7 May 2026</a:t>
            </a:r>
            <a:endParaRPr sz="1200"/>
          </a:p>
          <a:p>
            <a:pPr lvl="1">
              <a:lnSpc>
                <a:spcPct val="100000"/>
              </a:lnSpc>
              <a:defRPr/>
            </a:pPr>
            <a:r>
              <a:rPr lang="en-US" sz="1200"/>
              <a:t>Business objectives defined: analyze amenity impact on Southern USA apartment rental pricing</a:t>
            </a:r>
            <a:endParaRPr sz="1200"/>
          </a:p>
          <a:p>
            <a:pPr lvl="0">
              <a:lnSpc>
                <a:spcPct val="100000"/>
              </a:lnSpc>
              <a:defRPr/>
            </a:pPr>
            <a:r>
              <a:rPr lang="en-US" sz="1200"/>
              <a:t>Task 1.2: Assess the Situation — Deliverable: Project Scope Document Part 2</a:t>
            </a:r>
            <a:endParaRPr sz="1200"/>
          </a:p>
          <a:p>
            <a:pPr lvl="1">
              <a:lnSpc>
                <a:spcPct val="100000"/>
              </a:lnSpc>
              <a:defRPr/>
            </a:pPr>
            <a:r>
              <a:rPr lang="en-US" sz="1200"/>
              <a:t>Task is </a:t>
            </a:r>
            <a:r>
              <a:rPr lang="en-US" sz="1200" b="1">
                <a:highlight>
                  <a:srgbClr val="00FF00"/>
                </a:highlight>
              </a:rPr>
              <a:t>GREEN</a:t>
            </a:r>
            <a:r>
              <a:rPr lang="en-US" sz="1200"/>
              <a:t> — complete</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7 May 2026</a:t>
            </a:r>
            <a:endParaRPr sz="1200"/>
          </a:p>
          <a:p>
            <a:pPr lvl="1">
              <a:lnSpc>
                <a:spcPct val="100000"/>
              </a:lnSpc>
              <a:defRPr/>
            </a:pPr>
            <a:r>
              <a:rPr lang="en-US" sz="1200"/>
              <a:t>Data sources identified; geographic scope set to 6 Southern cities</a:t>
            </a:r>
            <a:endParaRPr sz="1200"/>
          </a:p>
          <a:p>
            <a:pPr lvl="0">
              <a:lnSpc>
                <a:spcPct val="100000"/>
              </a:lnSpc>
              <a:defRPr/>
            </a:pPr>
            <a:r>
              <a:rPr lang="en-US" sz="1200"/>
              <a:t>Task 1.3: Determine Data-Mining Goals — Deliverable: Data-Mining Scope Document</a:t>
            </a:r>
            <a:endParaRPr sz="1200"/>
          </a:p>
          <a:p>
            <a:pPr lvl="1">
              <a:lnSpc>
                <a:spcPct val="100000"/>
              </a:lnSpc>
              <a:defRPr/>
            </a:pPr>
            <a:r>
              <a:rPr lang="en-US" sz="1200"/>
              <a:t>Task is </a:t>
            </a:r>
            <a:r>
              <a:rPr lang="en-US" sz="1200" b="1">
                <a:highlight>
                  <a:srgbClr val="00FF00"/>
                </a:highlight>
              </a:rPr>
              <a:t>GREEN</a:t>
            </a:r>
            <a:r>
              <a:rPr lang="en-US" sz="1200"/>
              <a:t> — complete</a:t>
            </a:r>
            <a:endParaRPr sz="1200"/>
          </a:p>
          <a:p>
            <a:pPr lvl="1">
              <a:lnSpc>
                <a:spcPct val="100000"/>
              </a:lnSpc>
              <a:defRPr/>
            </a:pPr>
            <a:r>
              <a:rPr lang="en-US" sz="1200"/>
              <a:t>Original Start: 2 May 2026 | Revised Start: N/A | Actual Start: 2 May 2026</a:t>
            </a:r>
            <a:endParaRPr sz="1200"/>
          </a:p>
          <a:p>
            <a:pPr lvl="1">
              <a:lnSpc>
                <a:spcPct val="100000"/>
              </a:lnSpc>
              <a:defRPr/>
            </a:pPr>
            <a:r>
              <a:rPr lang="en-US" sz="1200"/>
              <a:t>Original End: 9 May 2026 | Revised End: N/A | Actual End: 7 May 2026</a:t>
            </a:r>
            <a:endParaRPr sz="1200"/>
          </a:p>
          <a:p>
            <a:pPr lvl="1">
              <a:lnSpc>
                <a:spcPct val="100000"/>
              </a:lnSpc>
              <a:defRPr/>
            </a:pPr>
            <a:r>
              <a:rPr lang="en-US" sz="1200"/>
              <a:t>Data-mining goal: identify amenity features with strongest predictive power on rental price</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4479021" name="Title 1"/>
          <p:cNvSpPr>
            <a:spLocks noGrp="1"/>
          </p:cNvSpPr>
          <p:nvPr>
            <p:ph type="title"/>
          </p:nvPr>
        </p:nvSpPr>
        <p:spPr bwMode="auto"/>
        <p:txBody>
          <a:bodyPr/>
          <a:lstStyle/>
          <a:p>
            <a:pPr>
              <a:defRPr/>
            </a:pPr>
            <a:r>
              <a:rPr lang="en-US"/>
              <a:t>Items In Progress…</a:t>
            </a:r>
            <a:endParaRPr/>
          </a:p>
        </p:txBody>
      </p:sp>
      <p:sp>
        <p:nvSpPr>
          <p:cNvPr id="137438962" name="Content Placeholder 2"/>
          <p:cNvSpPr>
            <a:spLocks noGrp="1"/>
          </p:cNvSpPr>
          <p:nvPr>
            <p:ph idx="1"/>
          </p:nvPr>
        </p:nvSpPr>
        <p:spPr bwMode="auto">
          <a:xfrm>
            <a:off x="599087" y="1124606"/>
            <a:ext cx="10993815" cy="4669438"/>
          </a:xfrm>
        </p:spPr>
        <p:txBody>
          <a:bodyPr>
            <a:normAutofit/>
          </a:bodyPr>
          <a:lstStyle/>
          <a:p>
            <a:pPr lvl="0">
              <a:lnSpc>
                <a:spcPct val="100000"/>
              </a:lnSpc>
              <a:defRPr/>
            </a:pPr>
            <a:r>
              <a:rPr lang="en-US"/>
              <a:t>Task 1.4: Produce a Project Plan — Deliverable: Data Mining Project/Resource Plan</a:t>
            </a:r>
            <a:endParaRPr/>
          </a:p>
          <a:p>
            <a:pPr lvl="1">
              <a:lnSpc>
                <a:spcPct val="100000"/>
              </a:lnSpc>
              <a:defRPr/>
            </a:pPr>
            <a:r>
              <a:rPr lang="en-US"/>
              <a:t>Task is </a:t>
            </a:r>
            <a:r>
              <a:rPr lang="en-US" b="1">
                <a:highlight>
                  <a:srgbClr val="00FF00"/>
                </a:highlight>
              </a:rPr>
              <a:t>GREEN</a:t>
            </a:r>
            <a:r>
              <a:rPr lang="en-US"/>
              <a:t> — in progress</a:t>
            </a:r>
            <a:endParaRPr/>
          </a:p>
          <a:p>
            <a:pPr lvl="1">
              <a:lnSpc>
                <a:spcPct val="100000"/>
              </a:lnSpc>
              <a:defRPr/>
            </a:pPr>
            <a:r>
              <a:rPr lang="en-US"/>
              <a:t>Original Start: 2 May 2026 | Revised Start: N/A | Actual Start: 7 May 2026</a:t>
            </a:r>
            <a:endParaRPr/>
          </a:p>
          <a:p>
            <a:pPr lvl="1">
              <a:lnSpc>
                <a:spcPct val="100000"/>
              </a:lnSpc>
              <a:defRPr/>
            </a:pPr>
            <a:r>
              <a:rPr lang="en-US"/>
              <a:t>Original End: 9 May 2026 | Revised End: N/A | Actual End: N/A</a:t>
            </a:r>
            <a:endParaRPr/>
          </a:p>
          <a:p>
            <a:pPr lvl="1">
              <a:lnSpc>
                <a:spcPct val="100000"/>
              </a:lnSpc>
              <a:defRPr/>
            </a:pPr>
            <a:r>
              <a:rPr lang="en-US"/>
              <a:t>Plan requires full CRISP-DM timeline build-out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9510353" name="Title 1"/>
          <p:cNvSpPr>
            <a:spLocks noGrp="1"/>
          </p:cNvSpPr>
          <p:nvPr>
            <p:ph type="title"/>
          </p:nvPr>
        </p:nvSpPr>
        <p:spPr bwMode="auto"/>
        <p:txBody>
          <a:bodyPr/>
          <a:lstStyle/>
          <a:p>
            <a:pPr>
              <a:defRPr/>
            </a:pPr>
            <a:r>
              <a:rPr lang="en-US"/>
              <a:t>Items to Be Started…</a:t>
            </a:r>
            <a:endParaRPr/>
          </a:p>
        </p:txBody>
      </p:sp>
      <p:sp>
        <p:nvSpPr>
          <p:cNvPr id="66076203" name="Content Placeholder 2"/>
          <p:cNvSpPr>
            <a:spLocks noGrp="1"/>
          </p:cNvSpPr>
          <p:nvPr>
            <p:ph idx="1"/>
          </p:nvPr>
        </p:nvSpPr>
        <p:spPr bwMode="auto">
          <a:xfrm>
            <a:off x="599087" y="1124606"/>
            <a:ext cx="10993815" cy="4522815"/>
          </a:xfrm>
        </p:spPr>
        <p:txBody>
          <a:bodyPr>
            <a:normAutofit/>
          </a:bodyPr>
          <a:lstStyle/>
          <a:p>
            <a:pPr lvl="0">
              <a:lnSpc>
                <a:spcPct val="100000"/>
              </a:lnSpc>
              <a:defRPr/>
            </a:pPr>
            <a:r>
              <a:rPr lang="en-US"/>
              <a:t>Task 2.1: Gathering Data — Deliverable: Data Collection Report</a:t>
            </a:r>
            <a:endParaRPr/>
          </a:p>
          <a:p>
            <a:pPr lvl="1">
              <a:lnSpc>
                <a:spcPct val="100000"/>
              </a:lnSpc>
              <a:defRPr/>
            </a:pPr>
            <a:r>
              <a:rPr lang="en-US"/>
              <a:t>Original Start: 12 May 2026 | Revised Start: N/A | Actual Start: N/A</a:t>
            </a:r>
            <a:endParaRPr/>
          </a:p>
          <a:p>
            <a:pPr lvl="1">
              <a:lnSpc>
                <a:spcPct val="100000"/>
              </a:lnSpc>
              <a:defRPr/>
            </a:pPr>
            <a:r>
              <a:rPr lang="en-US"/>
              <a:t>Original End: 23 May 2026 | Revised End: N/A | Actual End: N/A</a:t>
            </a:r>
            <a:endParaRPr/>
          </a:p>
          <a:p>
            <a:pPr lvl="1">
              <a:lnSpc>
                <a:spcPct val="100000"/>
              </a:lnSpc>
              <a:defRPr/>
            </a:pPr>
            <a:r>
              <a:rPr lang="en-US"/>
              <a:t>No schedule change; data sources being evaluated</a:t>
            </a:r>
            <a:endParaRPr/>
          </a:p>
          <a:p>
            <a:pPr lvl="0">
              <a:lnSpc>
                <a:spcPct val="100000"/>
              </a:lnSpc>
              <a:defRPr/>
            </a:pPr>
            <a:r>
              <a:rPr lang="en-US"/>
              <a:t>Task 2.2: Describing Data — Deliverable: Data Description Report</a:t>
            </a:r>
            <a:endParaRPr/>
          </a:p>
          <a:p>
            <a:pPr lvl="1">
              <a:lnSpc>
                <a:spcPct val="100000"/>
              </a:lnSpc>
              <a:defRPr/>
            </a:pPr>
            <a:r>
              <a:rPr lang="en-US"/>
              <a:t>Original Start: 23 May 2026 | Revised Start: N/A | Actual Start: N/A</a:t>
            </a:r>
            <a:endParaRPr/>
          </a:p>
          <a:p>
            <a:pPr lvl="1">
              <a:lnSpc>
                <a:spcPct val="100000"/>
              </a:lnSpc>
              <a:defRPr/>
            </a:pPr>
            <a:r>
              <a:rPr lang="en-US"/>
              <a:t>Original End: 30 May 2026 | Revised End: N/A | Actual End: N/A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7429458" name="Title 1"/>
          <p:cNvSpPr>
            <a:spLocks noGrp="1"/>
          </p:cNvSpPr>
          <p:nvPr>
            <p:ph type="title"/>
          </p:nvPr>
        </p:nvSpPr>
        <p:spPr bwMode="auto"/>
        <p:txBody>
          <a:bodyPr/>
          <a:lstStyle/>
          <a:p>
            <a:pPr>
              <a:defRPr/>
            </a:pPr>
            <a:r>
              <a:rPr lang="en-US"/>
              <a:t>Sample of Items Completed This Week…</a:t>
            </a:r>
            <a:endParaRPr/>
          </a:p>
        </p:txBody>
      </p:sp>
      <p:sp>
        <p:nvSpPr>
          <p:cNvPr id="323285091" name="Content Placeholder 2"/>
          <p:cNvSpPr>
            <a:spLocks noGrp="1"/>
          </p:cNvSpPr>
          <p:nvPr>
            <p:ph idx="1"/>
          </p:nvPr>
        </p:nvSpPr>
        <p:spPr bwMode="auto">
          <a:xfrm>
            <a:off x="599087" y="1194214"/>
            <a:ext cx="10993815" cy="4453209"/>
          </a:xfrm>
        </p:spPr>
        <p:txBody>
          <a:bodyPr>
            <a:normAutofit/>
          </a:bodyPr>
          <a:lstStyle/>
          <a:p>
            <a:pPr lvl="0">
              <a:lnSpc>
                <a:spcPct val="100000"/>
              </a:lnSpc>
              <a:defRPr/>
            </a:pPr>
            <a:r>
              <a:rPr lang="en-US"/>
              <a:t>Project Proposal — Phase 1 (Phase_1.tex)</a:t>
            </a:r>
            <a:endParaRPr/>
          </a:p>
          <a:p>
            <a:pPr lvl="1">
              <a:lnSpc>
                <a:spcPct val="100000"/>
              </a:lnSpc>
              <a:defRPr/>
            </a:pPr>
            <a:r>
              <a:rPr lang="en-US"/>
              <a:t>Defines project scope; received professor approval — foundation for all CRISP-DM phases</a:t>
            </a:r>
            <a:endParaRPr/>
          </a:p>
          <a:p>
            <a:pPr lvl="1">
              <a:lnSpc>
                <a:spcPct val="100000"/>
              </a:lnSpc>
              <a:defRPr/>
            </a:pPr>
            <a:r>
              <a:rPr lang="en-US"/>
              <a:t>Project 1: Housing Amenities Impact on Apartment Listing Prices in the Southern USA</a:t>
            </a:r>
            <a:endParaRPr/>
          </a:p>
          <a:p>
            <a:pPr lvl="1">
              <a:lnSpc>
                <a:spcPct val="100000"/>
              </a:lnSpc>
              <a:defRPr/>
            </a:pPr>
            <a:r>
              <a:rPr lang="en-US"/>
              <a:t>Real estate investors and property managers in the Southern USA lack quantitative evidence on which amenities drive rental pricing. This project analyzes apartment listings to determine which amenities most significantly influence rental prices.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8883757" name="Title 1"/>
          <p:cNvSpPr>
            <a:spLocks noGrp="1"/>
          </p:cNvSpPr>
          <p:nvPr>
            <p:ph type="title"/>
          </p:nvPr>
        </p:nvSpPr>
        <p:spPr bwMode="auto"/>
        <p:txBody>
          <a:bodyPr/>
          <a:lstStyle/>
          <a:p>
            <a:pPr>
              <a:defRPr/>
            </a:pPr>
            <a:r>
              <a:rPr lang="en-US"/>
              <a:t>Project Issues, Risks, Concerns…</a:t>
            </a:r>
            <a:endParaRPr/>
          </a:p>
        </p:txBody>
      </p:sp>
      <p:sp>
        <p:nvSpPr>
          <p:cNvPr id="263214586" name="Content Placeholder 2"/>
          <p:cNvSpPr>
            <a:spLocks noGrp="1"/>
          </p:cNvSpPr>
          <p:nvPr>
            <p:ph idx="1"/>
          </p:nvPr>
        </p:nvSpPr>
        <p:spPr bwMode="auto">
          <a:xfrm>
            <a:off x="599087" y="1124606"/>
            <a:ext cx="10993815" cy="4522815"/>
          </a:xfrm>
        </p:spPr>
        <p:txBody>
          <a:bodyPr>
            <a:normAutofit/>
          </a:bodyPr>
          <a:lstStyle/>
          <a:p>
            <a:pPr lvl="0">
              <a:lnSpc>
                <a:spcPct val="100000"/>
              </a:lnSpc>
              <a:defRPr/>
            </a:pPr>
            <a:r>
              <a:rPr lang="en-US"/>
              <a:t>Issues</a:t>
            </a:r>
            <a:endParaRPr/>
          </a:p>
          <a:p>
            <a:pPr lvl="1">
              <a:lnSpc>
                <a:spcPct val="100000"/>
              </a:lnSpc>
              <a:defRPr/>
            </a:pPr>
            <a:r>
              <a:rPr lang="en-US"/>
              <a:t>None at this time</a:t>
            </a:r>
            <a:endParaRPr/>
          </a:p>
          <a:p>
            <a:pPr lvl="0">
              <a:lnSpc>
                <a:spcPct val="100000"/>
              </a:lnSpc>
              <a:defRPr/>
            </a:pPr>
            <a:r>
              <a:rPr lang="en-US"/>
              <a:t>Risks</a:t>
            </a:r>
            <a:endParaRPr/>
          </a:p>
          <a:p>
            <a:pPr lvl="1">
              <a:lnSpc>
                <a:spcPct val="100000"/>
              </a:lnSpc>
              <a:defRPr/>
            </a:pPr>
            <a:r>
              <a:rPr lang="en-US"/>
              <a:t>Geographic scope initially too broad</a:t>
            </a:r>
            <a:endParaRPr/>
          </a:p>
          <a:p>
            <a:pPr lvl="2">
              <a:lnSpc>
                <a:spcPct val="100000"/>
              </a:lnSpc>
              <a:defRPr/>
            </a:pPr>
            <a:r>
              <a:rPr lang="en-US"/>
              <a:t>Impact: analysis would lack regional specificity, reducing actionability</a:t>
            </a:r>
            <a:endParaRPr/>
          </a:p>
          <a:p>
            <a:pPr lvl="2">
              <a:lnSpc>
                <a:spcPct val="100000"/>
              </a:lnSpc>
              <a:defRPr/>
            </a:pPr>
            <a:r>
              <a:rPr lang="en-US"/>
              <a:t>Mitigation: narrowed focus to 6 Southern cities per professor feedback</a:t>
            </a:r>
            <a:endParaRPr/>
          </a:p>
          <a:p>
            <a:pPr lvl="0">
              <a:lnSpc>
                <a:spcPct val="100000"/>
              </a:lnSpc>
              <a:defRPr/>
            </a:pPr>
            <a:r>
              <a:rPr lang="en-US"/>
              <a:t>Concerns</a:t>
            </a:r>
            <a:endParaRPr/>
          </a:p>
          <a:p>
            <a:pPr lvl="1">
              <a:lnSpc>
                <a:spcPct val="100000"/>
              </a:lnSpc>
              <a:defRPr/>
            </a:pPr>
            <a:r>
              <a:rPr lang="en-US"/>
              <a:t>Identifying suitable data sources for Southern USA apartment listings</a:t>
            </a:r>
            <a:endParaRPr/>
          </a:p>
          <a:p>
            <a:pPr lvl="2">
              <a:lnSpc>
                <a:spcPct val="100000"/>
              </a:lnSpc>
              <a:defRPr/>
            </a:pPr>
            <a:r>
              <a:rPr lang="en-US"/>
              <a:t>Impact: inability to find quality data could delay or limit analysis scope</a:t>
            </a:r>
            <a:endParaRPr/>
          </a:p>
          <a:p>
            <a:pPr lvl="2">
              <a:lnSpc>
                <a:spcPct val="100000"/>
              </a:lnSpc>
              <a:defRPr/>
            </a:pPr>
            <a:r>
              <a:rPr lang="en-US"/>
              <a:t>Mitigation: actively evaluating available options before data collection phase begins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6251432" name="Title 1"/>
          <p:cNvSpPr>
            <a:spLocks noGrp="1"/>
          </p:cNvSpPr>
          <p:nvPr>
            <p:ph type="title"/>
          </p:nvPr>
        </p:nvSpPr>
        <p:spPr bwMode="auto"/>
        <p:txBody>
          <a:bodyPr/>
          <a:lstStyle/>
          <a:p>
            <a:pPr>
              <a:defRPr/>
            </a:pPr>
            <a:r>
              <a:rPr lang="en-US"/>
              <a:t>Next Steps…</a:t>
            </a:r>
            <a:endParaRPr/>
          </a:p>
        </p:txBody>
      </p:sp>
      <p:sp>
        <p:nvSpPr>
          <p:cNvPr id="744171527" name="Content Placeholder 2"/>
          <p:cNvSpPr>
            <a:spLocks noGrp="1"/>
          </p:cNvSpPr>
          <p:nvPr>
            <p:ph idx="1"/>
          </p:nvPr>
        </p:nvSpPr>
        <p:spPr bwMode="auto">
          <a:xfrm>
            <a:off x="599087" y="1049868"/>
            <a:ext cx="10993815" cy="4718541"/>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lvl="0">
              <a:lnSpc>
                <a:spcPct val="100000"/>
              </a:lnSpc>
              <a:defRPr/>
            </a:pPr>
            <a:r>
              <a:rPr lang="en-US" sz="1600"/>
              <a:t>Task 1.4: Produce Project Plan (continuing)</a:t>
            </a:r>
            <a:endParaRPr sz="1600"/>
          </a:p>
          <a:p>
            <a:pPr lvl="1">
              <a:lnSpc>
                <a:spcPct val="100000"/>
              </a:lnSpc>
              <a:defRPr/>
            </a:pPr>
            <a:r>
              <a:rPr lang="en-US" sz="1600"/>
              <a:t>Original Start: 2 May 2026 | Revised: N/A | Actual Start: 7 May 2026</a:t>
            </a:r>
            <a:endParaRPr sz="1600"/>
          </a:p>
          <a:p>
            <a:pPr lvl="1">
              <a:lnSpc>
                <a:spcPct val="100000"/>
              </a:lnSpc>
              <a:defRPr/>
            </a:pPr>
            <a:r>
              <a:rPr lang="en-US" sz="1600"/>
              <a:t>Original End: 9 May 2026 | Revised: N/A | Actual End: N/A</a:t>
            </a:r>
            <a:endParaRPr sz="1600"/>
          </a:p>
          <a:p>
            <a:pPr lvl="0">
              <a:lnSpc>
                <a:spcPct val="100000"/>
              </a:lnSpc>
              <a:defRPr/>
            </a:pPr>
            <a:r>
              <a:rPr lang="en-US" sz="1600"/>
              <a:t>Task 2.1: Gathering Data — Deliverable: Data Collection Report</a:t>
            </a:r>
            <a:endParaRPr sz="1600"/>
          </a:p>
          <a:p>
            <a:pPr lvl="1">
              <a:lnSpc>
                <a:spcPct val="100000"/>
              </a:lnSpc>
              <a:defRPr/>
            </a:pPr>
            <a:r>
              <a:rPr lang="en-US" sz="1600"/>
              <a:t>Original Start: 12 May 2026 | Revised: N/A | Actual Start: N/A</a:t>
            </a:r>
            <a:endParaRPr sz="1600"/>
          </a:p>
          <a:p>
            <a:pPr lvl="1">
              <a:lnSpc>
                <a:spcPct val="100000"/>
              </a:lnSpc>
              <a:defRPr/>
            </a:pPr>
            <a:r>
              <a:rPr lang="en-US" sz="1600"/>
              <a:t>Original End: 23 May 2026 | Revised: N/A | Actual End: N/A</a:t>
            </a:r>
            <a:endParaRPr sz="1600"/>
          </a:p>
          <a:p>
            <a:pPr lvl="0">
              <a:lnSpc>
                <a:spcPct val="100000"/>
              </a:lnSpc>
              <a:defRPr/>
            </a:pPr>
            <a:r>
              <a:rPr lang="en-US" sz="1600"/>
              <a:t>Task 2.2: Describing Data — Deliverable: Data Description Report</a:t>
            </a:r>
            <a:endParaRPr sz="1600"/>
          </a:p>
          <a:p>
            <a:pPr lvl="1">
              <a:lnSpc>
                <a:spcPct val="100000"/>
              </a:lnSpc>
              <a:defRPr/>
            </a:pPr>
            <a:r>
              <a:rPr lang="en-US" sz="1600"/>
              <a:t>Original Start: 23 May 2026 | Revised: N/A | Actual Start: N/A</a:t>
            </a:r>
            <a:endParaRPr sz="1600"/>
          </a:p>
          <a:p>
            <a:pPr lvl="1">
              <a:lnSpc>
                <a:spcPct val="100000"/>
              </a:lnSpc>
              <a:defRPr/>
            </a:pPr>
            <a:r>
              <a:rPr lang="en-US" sz="1600"/>
              <a:t>Original End: 30 May 2026 | Revised: N/A | Actual End: N/A</a:t>
            </a:r>
            <a:endParaRPr sz="1600"/>
          </a:p>
          <a:p>
            <a:pPr lvl="0">
              <a:lnSpc>
                <a:spcPct val="100000"/>
              </a:lnSpc>
              <a:defRPr/>
            </a:pPr>
            <a:r>
              <a:rPr lang="en-US" sz="1600"/>
              <a:t>Task 2.3: Exploring Data — Deliverable: Data Exploration Report</a:t>
            </a:r>
            <a:endParaRPr sz="1600"/>
          </a:p>
          <a:p>
            <a:pPr lvl="1">
              <a:lnSpc>
                <a:spcPct val="100000"/>
              </a:lnSpc>
              <a:defRPr/>
            </a:pPr>
            <a:r>
              <a:rPr lang="en-US" sz="1600"/>
              <a:t>Original Start: 30 May 2026 | Revised: N/A | Actual Start: N/A</a:t>
            </a:r>
            <a:endParaRPr sz="1600"/>
          </a:p>
          <a:p>
            <a:pPr lvl="1">
              <a:lnSpc>
                <a:spcPct val="100000"/>
              </a:lnSpc>
              <a:defRPr/>
            </a:pPr>
            <a:r>
              <a:rPr lang="en-US" sz="1600"/>
              <a:t>Original End: 6 Jun 2026 | Revised: N/A | Actual End: N/A</a:t>
            </a:r>
            <a:endParaRPr sz="1600"/>
          </a:p>
          <a:p>
            <a:pPr lvl="0">
              <a:lnSpc>
                <a:spcPct val="100000"/>
              </a:lnSpc>
              <a:defRPr/>
            </a:pPr>
            <a:r>
              <a:rPr lang="en-US" sz="1600"/>
              <a:t>Task 2.4: Verifying Data Quality</a:t>
            </a:r>
            <a:endParaRPr sz="1600"/>
          </a:p>
          <a:p>
            <a:pPr lvl="1">
              <a:lnSpc>
                <a:spcPct val="100000"/>
              </a:lnSpc>
              <a:defRPr/>
            </a:pPr>
            <a:r>
              <a:rPr lang="en-US" sz="1600"/>
              <a:t>Original Start: 6 Jun 2026 | Revised: N/A | Actual Start: N/A</a:t>
            </a:r>
            <a:endParaRPr sz="1600"/>
          </a:p>
          <a:p>
            <a:pPr lvl="1">
              <a:lnSpc>
                <a:spcPct val="100000"/>
              </a:lnSpc>
              <a:defRPr/>
            </a:pPr>
            <a:r>
              <a:rPr lang="en-US" sz="1600"/>
              <a:t>Original End: 13 Jun 2026 | Revised: N/A | Actual End: N/A</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4025584" name="Title 1"/>
          <p:cNvSpPr>
            <a:spLocks noGrp="1"/>
          </p:cNvSpPr>
          <p:nvPr>
            <p:ph type="title"/>
          </p:nvPr>
        </p:nvSpPr>
        <p:spPr bwMode="auto"/>
        <p:txBody>
          <a:bodyPr/>
          <a:lstStyle/>
          <a:p>
            <a:pPr>
              <a:defRPr/>
            </a:pPr>
            <a:r>
              <a:rPr lang="en-US"/>
              <a:t>Personal Reflection…</a:t>
            </a:r>
            <a:endParaRPr/>
          </a:p>
        </p:txBody>
      </p:sp>
      <p:sp>
        <p:nvSpPr>
          <p:cNvPr id="2144586901" name="Content Placeholder 2"/>
          <p:cNvSpPr>
            <a:spLocks noGrp="1"/>
          </p:cNvSpPr>
          <p:nvPr>
            <p:ph idx="1"/>
          </p:nvPr>
        </p:nvSpPr>
        <p:spPr bwMode="auto">
          <a:xfrm>
            <a:off x="599087" y="1124606"/>
            <a:ext cx="10993815" cy="4522815"/>
          </a:xfrm>
        </p:spPr>
        <p:txBody>
          <a:bodyPr>
            <a:normAutofit/>
          </a:bodyPr>
          <a:lstStyle/>
          <a:p>
            <a:pPr marL="0" lvl="0" indent="0">
              <a:lnSpc>
                <a:spcPct val="100000"/>
              </a:lnSpc>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0494883" name="Title 1"/>
          <p:cNvSpPr>
            <a:spLocks noGrp="1"/>
          </p:cNvSpPr>
          <p:nvPr>
            <p:ph type="title"/>
          </p:nvPr>
        </p:nvSpPr>
        <p:spPr bwMode="auto"/>
        <p:txBody>
          <a:bodyPr/>
          <a:lstStyle/>
          <a:p>
            <a:pPr>
              <a:defRPr/>
            </a:pPr>
            <a:r>
              <a:rPr lang="en-US"/>
              <a:t>Thank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700 Special Projects in Computer Science I Introduction</dc:title>
  <dc:creator>Nicholas Nardi</dc:creator>
  <cp:lastModifiedBy/>
  <cp:revision>46</cp:revision>
  <dcterms:created xsi:type="dcterms:W3CDTF">2022-01-22T15:09:01Z</dcterms:created>
  <dcterms:modified xsi:type="dcterms:W3CDTF">2026-05-02T17:36:28Z</dcterms:modified>
</cp:coreProperties>
</file>