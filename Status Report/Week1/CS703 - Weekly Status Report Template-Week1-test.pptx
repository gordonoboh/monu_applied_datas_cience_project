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76" d="100"/>
          <a:sy n="76" d="100"/>
        </p:scale>
        <p:origin x="1229" y="48"/>
      </p:cViewPr>
      <p:guideLst>
        <p:guide pos="2160" orient="horz"/>
        <p:guide pos="3816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2007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934538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3094FBD-BD12-4CE5-9292-60EAA74DE00F}" type="datetimeFigureOut">
              <a:rPr lang="en-US"/>
              <a:t>4/18/2026</a:t>
            </a:fld>
            <a:endParaRPr lang="en-US"/>
          </a:p>
        </p:txBody>
      </p:sp>
      <p:sp>
        <p:nvSpPr>
          <p:cNvPr id="91115352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4999474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7069589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13009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EE89866-A2D7-4664-9240-D34AE6ACD9E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267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5590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5729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8B15F6-4A0D-E1F6-5B2B-73872F71D1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865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98820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1380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CEF370-7374-9D3E-3A83-5AF041BBC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217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3280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011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A690DC-5E80-7EC6-E812-34F0D6FD7A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6791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36559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209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1D9A5-3BDC-6D72-D2C1-1E10C39DF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56998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820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1098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61FBF0-521A-6C07-3D72-8C2CBE13AC7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3410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18430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743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7E649-7884-32AA-0105-AECFD27731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16429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327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06710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62194E-026B-4AC9-2EDA-57118353C3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18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55032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295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A7A8BA-457C-0956-E0E2-C2045DEC7B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5581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540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2754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34FBC8-57C0-6BCB-ACEC-B9AE75BC71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51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165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7978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E51A25-1CB2-C247-D532-AFE682DD99F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8482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814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5768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DAC605-17FE-523A-6F89-A7DB468926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79602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6237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879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047613-D5A4-878E-D7B2-C030E955249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764481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967619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33751196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7223235" y="6356350"/>
            <a:ext cx="41148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828262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571890" y="6356349"/>
            <a:ext cx="409904" cy="365125"/>
          </a:xfrm>
        </p:spPr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  <p:pic>
        <p:nvPicPr>
          <p:cNvPr id="1006388549" name="Picture 6"/>
          <p:cNvPicPr>
            <a:picLocks noChangeAspect="1"/>
          </p:cNvPicPr>
          <p:nvPr userDrawn="1"/>
        </p:nvPicPr>
        <p:blipFill rotWithShape="1">
          <a:blip r:embed="rId2"/>
          <a:srcRect l="17328" t="18364" r="50000" b="68324"/>
          <a:stretch/>
        </p:blipFill>
        <p:spPr bwMode="auto">
          <a:xfrm>
            <a:off x="210206" y="5920169"/>
            <a:ext cx="3983421" cy="872359"/>
          </a:xfrm>
          <a:prstGeom prst="rect">
            <a:avLst/>
          </a:prstGeom>
        </p:spPr>
      </p:pic>
      <p:pic>
        <p:nvPicPr>
          <p:cNvPr id="721586834" name="Picture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917787" y="6313007"/>
            <a:ext cx="2761727" cy="40846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81124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599090" y="196966"/>
            <a:ext cx="10993816" cy="927642"/>
          </a:xfrm>
        </p:spPr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24744129" name="Content Placeholder 2"/>
          <p:cNvSpPr>
            <a:spLocks noGrp="1"/>
          </p:cNvSpPr>
          <p:nvPr>
            <p:ph idx="1"/>
          </p:nvPr>
        </p:nvSpPr>
        <p:spPr bwMode="auto">
          <a:xfrm>
            <a:off x="599090" y="1471448"/>
            <a:ext cx="10993816" cy="3924575"/>
          </a:xfrm>
        </p:spPr>
        <p:txBody>
          <a:bodyPr/>
          <a:lstStyle>
            <a:lvl2pPr marL="685800" indent="-228600">
              <a:buFont typeface="Courier New"/>
              <a:buChar char="o"/>
              <a:defRPr/>
            </a:lvl2pPr>
            <a:lvl3pPr marL="1143000" indent="-228600">
              <a:buFont typeface="Wingdings"/>
              <a:buChar char="ü"/>
              <a:defRPr/>
            </a:lvl3pPr>
            <a:lvl4pPr marL="1600200" indent="-228600">
              <a:buFont typeface="Wingdings"/>
              <a:buChar char="Ø"/>
              <a:defRPr/>
            </a:lvl4pPr>
            <a:lvl5pPr marL="2057400" indent="-228600">
              <a:buFont typeface="Wingdings"/>
              <a:buChar char="q"/>
              <a:defRPr/>
            </a:lvl5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6085568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7212714" y="6356350"/>
            <a:ext cx="4114800" cy="365125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82077651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1592906" y="6356350"/>
            <a:ext cx="444056" cy="365125"/>
          </a:xfrm>
        </p:spPr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  <p:pic>
        <p:nvPicPr>
          <p:cNvPr id="287576840" name="Picture 6"/>
          <p:cNvPicPr>
            <a:picLocks noChangeAspect="1"/>
          </p:cNvPicPr>
          <p:nvPr userDrawn="1"/>
        </p:nvPicPr>
        <p:blipFill rotWithShape="1">
          <a:blip r:embed="rId2"/>
          <a:srcRect l="17328" t="18364" r="50000" b="68324"/>
          <a:stretch/>
        </p:blipFill>
        <p:spPr bwMode="auto">
          <a:xfrm>
            <a:off x="185268" y="5787165"/>
            <a:ext cx="3983421" cy="872359"/>
          </a:xfrm>
          <a:prstGeom prst="rect">
            <a:avLst/>
          </a:prstGeom>
        </p:spPr>
      </p:pic>
      <p:pic>
        <p:nvPicPr>
          <p:cNvPr id="1750532317" name="Picture 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>
            <a:off x="1917787" y="6263131"/>
            <a:ext cx="2761727" cy="408467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26946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9859914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9088936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85334918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40998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0020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2031372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11690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9691411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17655527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709190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515553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2313679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7048659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655030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123049937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7120641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87895714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65458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274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3504367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33143874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7181151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4626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8714134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53154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32551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6545133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2408209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4541412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5805955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8585525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652971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2810382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83867344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Edit Master text styles</a:t>
            </a:r>
            <a:endParaRPr/>
          </a:p>
        </p:txBody>
      </p:sp>
      <p:sp>
        <p:nvSpPr>
          <p:cNvPr id="204217072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73957430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653047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02997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1687036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20786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7312316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610958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98862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5355583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44138090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110050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59646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61104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279154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520730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3C8E2DE-CE3F-42A9-A718-5D3D4BD14CF9}" type="datetimeFigureOut">
              <a:rPr lang="en-US"/>
              <a:t>4/18/2026</a:t>
            </a:fld>
            <a:endParaRPr lang="en-US"/>
          </a:p>
        </p:txBody>
      </p:sp>
      <p:sp>
        <p:nvSpPr>
          <p:cNvPr id="702029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719658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21F9196-C982-4B01-9384-55A88EC11B8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0034374" name="Picture 4"/>
          <p:cNvPicPr>
            <a:picLocks noChangeAspect="1"/>
          </p:cNvPicPr>
          <p:nvPr/>
        </p:nvPicPr>
        <p:blipFill rotWithShape="1">
          <a:blip r:embed="rId3"/>
          <a:srcRect l="48551" t="18823" r="2858" b="11334"/>
          <a:stretch/>
        </p:blipFill>
        <p:spPr bwMode="auto">
          <a:xfrm>
            <a:off x="7759817" y="2754932"/>
            <a:ext cx="4038973" cy="3870351"/>
          </a:xfrm>
          <a:prstGeom prst="rect">
            <a:avLst/>
          </a:prstGeom>
        </p:spPr>
      </p:pic>
      <p:sp>
        <p:nvSpPr>
          <p:cNvPr id="1182021071" name="Title 1"/>
          <p:cNvSpPr>
            <a:spLocks noGrp="1"/>
          </p:cNvSpPr>
          <p:nvPr>
            <p:ph type="ctrTitle"/>
          </p:nvPr>
        </p:nvSpPr>
        <p:spPr bwMode="auto">
          <a:xfrm>
            <a:off x="612559" y="707108"/>
            <a:ext cx="10963923" cy="276605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>
                <a:latin typeface="+mn-lt"/>
              </a:rPr>
              <a:t>CS 703 Applied Data Science Project</a:t>
            </a:r>
            <a:br>
              <a:rPr lang="en-US" b="1">
                <a:latin typeface="+mn-lt"/>
              </a:rPr>
            </a:br>
            <a:r>
              <a:rPr lang="en-US" b="1">
                <a:latin typeface="+mn-lt"/>
              </a:rPr>
              <a:t>Weekly Status Report</a:t>
            </a:r>
            <a:endParaRPr/>
          </a:p>
        </p:txBody>
      </p:sp>
      <p:sp>
        <p:nvSpPr>
          <p:cNvPr id="502952233" name="Subtitle 2"/>
          <p:cNvSpPr>
            <a:spLocks noGrp="1"/>
          </p:cNvSpPr>
          <p:nvPr>
            <p:ph type="subTitle" idx="1"/>
          </p:nvPr>
        </p:nvSpPr>
        <p:spPr bwMode="auto">
          <a:xfrm>
            <a:off x="3355514" y="5205112"/>
            <a:ext cx="5478011" cy="9457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/>
              <a:t>Professor Nicholas Nardi</a:t>
            </a:r>
            <a:endParaRPr/>
          </a:p>
          <a:p>
            <a:pPr>
              <a:defRPr/>
            </a:pPr>
            <a:r>
              <a:rPr lang="en-US" b="1"/>
              <a:t>Spring 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165547" name="Title 1"/>
          <p:cNvSpPr txBox="1"/>
          <p:nvPr/>
        </p:nvSpPr>
        <p:spPr bwMode="auto">
          <a:xfrm>
            <a:off x="629669" y="661481"/>
            <a:ext cx="10976499" cy="515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  <a:defRPr/>
            </a:pPr>
            <a:r>
              <a:rPr lang="en-US" sz="7700" b="1">
                <a:latin typeface="+mn-lt"/>
              </a:rPr>
              <a:t>Predictive Pricing Analysis for The USA Housing Market</a:t>
            </a:r>
            <a:br>
              <a:rPr lang="en-US" sz="7700" b="1">
                <a:latin typeface="+mn-lt"/>
              </a:rPr>
            </a:br>
            <a:r>
              <a:rPr lang="en-US" sz="7700" b="1">
                <a:latin typeface="+mn-lt"/>
              </a:rPr>
              <a:t>Status Report</a:t>
            </a:r>
            <a:br>
              <a:rPr lang="en-US" sz="7700" b="1">
                <a:latin typeface="+mn-lt"/>
              </a:rPr>
            </a:br>
            <a:r>
              <a:rPr lang="en-US" sz="6600">
                <a:latin typeface="+mn-lt"/>
              </a:rPr>
              <a:t>Week Ending May 9, 2026</a:t>
            </a:r>
            <a:br>
              <a:rPr lang="en-US" sz="6600">
                <a:latin typeface="+mn-lt"/>
              </a:rPr>
            </a:br>
            <a:br>
              <a:rPr lang="en-US" sz="6600">
                <a:latin typeface="+mn-lt"/>
              </a:rPr>
            </a:br>
            <a:br>
              <a:rPr lang="en-US" sz="6600">
                <a:latin typeface="+mn-lt"/>
              </a:rPr>
            </a:br>
            <a:r>
              <a:rPr lang="en-US" sz="6600">
                <a:latin typeface="+mn-lt"/>
              </a:rPr>
              <a:t>                                                   </a:t>
            </a:r>
            <a:r>
              <a:rPr lang="en-US" sz="6000">
                <a:latin typeface="+mn-lt"/>
              </a:rPr>
              <a:t>Submitted by Gordon Oboh</a:t>
            </a:r>
            <a:br>
              <a:rPr lang="en-US" sz="6000">
                <a:latin typeface="+mn-lt"/>
              </a:rPr>
            </a:br>
            <a:r>
              <a:rPr lang="en-US" sz="6000">
                <a:latin typeface="+mn-lt"/>
              </a:rPr>
              <a:t>                                                                             May 10, 2026</a:t>
            </a:r>
            <a:endParaRPr lang="en-US" sz="4800"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0699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Agenda…</a:t>
            </a:r>
            <a:endParaRPr/>
          </a:p>
        </p:txBody>
      </p:sp>
      <p:sp>
        <p:nvSpPr>
          <p:cNvPr id="226911379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66070"/>
            <a:ext cx="10993815" cy="44923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defRPr/>
            </a:pPr>
            <a:r>
              <a:rPr lang="en-US" sz="2400"/>
              <a:t>Status Overview…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Items Completed in Current Week…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Items In Progress…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Items To Be Started…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Samples of Items Completed This Week…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Issues, Risks, Concerns…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Next Steps…</a:t>
            </a:r>
            <a:endParaRPr/>
          </a:p>
          <a:p>
            <a:pPr>
              <a:lnSpc>
                <a:spcPct val="100000"/>
              </a:lnSpc>
              <a:defRPr/>
            </a:pPr>
            <a:r>
              <a:rPr lang="en-US" sz="2400"/>
              <a:t>Personal Reflection…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8382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Status Overview…</a:t>
            </a:r>
            <a:endParaRPr/>
          </a:p>
        </p:txBody>
      </p:sp>
      <p:sp>
        <p:nvSpPr>
          <p:cNvPr id="579924656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24608"/>
            <a:ext cx="10993815" cy="452281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sz="2400"/>
              <a:t>Project Status is Yellow</a:t>
            </a:r>
            <a:r>
              <a:rPr lang="en-US" sz="2400">
                <a:highlight>
                  <a:srgbClr val="FFFF00"/>
                </a:highlight>
              </a:rPr>
              <a:t/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1.0 Business Understanding — in progress; business problem identified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4, 2026 | Revised Start: N/A | Actual Start: May 4,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9, 2026 | Revised End:   N/A | Actual End:   N/A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 sz="2400"/>
              <a:t>Dataset search ongoing; suitable rental listing data not yet confirmed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Phase 1: Project Proposals — completed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4, 2026 | Revised Start: N/A | Actual Start: May 4,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9, 2026 | Revised End:   N/A | Actual End:   May 9,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No other major issues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67847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Items Completed in Current Week…</a:t>
            </a:r>
            <a:endParaRPr/>
          </a:p>
        </p:txBody>
      </p:sp>
      <p:sp>
        <p:nvSpPr>
          <p:cNvPr id="830934307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24608"/>
            <a:ext cx="10993815" cy="4669441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sz="2400"/>
              <a:t>Phase 1: Project Proposals Document</a:t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Task is GREEN — 100% complete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4, 2026 | Revised Start: N/A | Actual Start: May 4,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9, 2026 | Revised End:   N/A | Actual End:   May 9,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Documented two candidate data science projects; primary focus confirmed as housing amenity impact on U.S. rental pricing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 sz="2400"/>
              <a:t>Submitted to Professor Nardi for review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872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Items In Progress…</a:t>
            </a:r>
            <a:endParaRPr/>
          </a:p>
        </p:txBody>
      </p:sp>
      <p:sp>
        <p:nvSpPr>
          <p:cNvPr id="1088353540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24608"/>
            <a:ext cx="10993815" cy="4669441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sz="2400"/>
              <a:t>1.0 Business Understanding</a:t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Task is Yellow — 75% complete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4, 2026 | Revised Start: N/A | Actual Start: May 4,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9, 2026 | Revised End:   N/A | Actual End:   N/A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 sz="2400"/>
              <a:t>Business problem and scope are defined; awaiting dataset confirmation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 sz="2400"/>
              <a:t>Anticipate completing 1.0 Business Understanding once data source is secured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2340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Items to Be Started…</a:t>
            </a:r>
            <a:endParaRPr/>
          </a:p>
        </p:txBody>
      </p:sp>
      <p:sp>
        <p:nvSpPr>
          <p:cNvPr id="1644834767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24608"/>
            <a:ext cx="10993815" cy="452281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sz="2400"/>
              <a:t>1.1 Determine Business Objectives (subsection of current 1.0)</a:t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10, 2026 | Revised Start: N/A | Actual Start: N/A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11, 2026 | Revised End:   N/A | Actual End:   N/A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 sz="2400"/>
              <a:t>1.2 Assess Situation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11, 2026 | Revised Start: N/A | Actual Start: N/A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12, 2026 | Revised End:   N/A | Actual End:   N/A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 sz="2400"/>
              <a:t>2.0 Data Understanding (next CRISP-DM phase)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13, 2026 | Revised Start: N/A | Actual Start: N/A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24, 2026 | Revised End:   N/A | Actual End:   N/A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4167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Sample of Items Completed This Week…</a:t>
            </a:r>
            <a:endParaRPr/>
          </a:p>
        </p:txBody>
      </p:sp>
      <p:sp>
        <p:nvSpPr>
          <p:cNvPr id="1411112550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94216"/>
            <a:ext cx="10993815" cy="4453209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/>
              <a:t>CRISP-DM Methodology — Project Framework</a:t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/>
              <a:t>The diagram below shows the CRISP-DM process model guiding this project.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/>
              <a:t>Phase 1.0 Business Understanding is the current active phase.</a:t>
            </a:r>
          </a:p>
        </p:txBody>
      </p:sp>
      <p:pic>
        <p:nvPicPr>
          <p:cNvPr id="1411112551" name="Picture 1411112550" descr="CRISP-D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0"/>
            <a:ext cx="6400800" cy="63132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9194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Project Issues, Risks, Concerns…</a:t>
            </a:r>
            <a:endParaRPr/>
          </a:p>
        </p:txBody>
      </p:sp>
      <p:sp>
        <p:nvSpPr>
          <p:cNvPr id="1314823118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24608"/>
            <a:ext cx="10993815" cy="452281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/>
              <a:t>Issues</a:t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/>
              <a:t>None at this time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/>
              <a:t>Risks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/>
              <a:t>Dataset availability: a suitable publicly accessible rental listing dataset may not exist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/>
              <a:t>Impact: project scope or direction may need revision</a:t>
            </a:r>
          </a:p>
          <a:p>
            <a:pPr lvl="2">
              <a:lnSpc>
                <a:spcPct val="100000"/>
              </a:lnSpc>
              <a:defRPr/>
            </a:pPr>
            <a:endParaRPr/>
            <a:r>
              <a:rPr lang="en-US"/>
              <a:t>Mitigation: evaluating Kaggle, UCI, and government housing data repositories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/>
              <a:t>Concerns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/>
              <a:t>None at this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7162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Next Steps…</a:t>
            </a:r>
            <a:endParaRPr/>
          </a:p>
        </p:txBody>
      </p:sp>
      <p:sp>
        <p:nvSpPr>
          <p:cNvPr id="2078523410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049868"/>
            <a:ext cx="10993815" cy="4718543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defRPr/>
            </a:pPr>
            <a:r>
              <a:rPr lang="en-US" sz="2400"/>
              <a:t>Complete 1.0 Business Understanding</a:t>
            </a:r>
            <a:endParaRPr/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4, 2026  | Revised: N/A | Actual Start: May 4, 2026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9, 2026  | Revised: N/A | Actual End:   N/A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 sz="2400"/>
              <a:t>1.1 Determine Business Objectives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10, 2026 | Revised: N/A | Actual Start: N/A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11, 2026 | Revised: N/A | Actual End:   N/A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 sz="2400"/>
              <a:t>1.2 Assess Situation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11, 2026 | Revised: N/A | Actual Start: N/A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12, 2026 | Revised: N/A | Actual End:   N/A</a:t>
            </a:r>
          </a:p>
          <a:p>
            <a:pPr lvl="0">
              <a:lnSpc>
                <a:spcPct val="100000"/>
              </a:lnSpc>
              <a:defRPr/>
            </a:pPr>
            <a:endParaRPr/>
            <a:r>
              <a:rPr lang="en-US" sz="2400"/>
              <a:t>Begin 2.0 Data Understanding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Start: May 13, 2026 | Revised: N/A | Actual Start: N/A</a:t>
            </a:r>
          </a:p>
          <a:p>
            <a:pPr lvl="1">
              <a:lnSpc>
                <a:spcPct val="100000"/>
              </a:lnSpc>
              <a:defRPr/>
            </a:pPr>
            <a:endParaRPr/>
            <a:r>
              <a:rPr lang="en-US" sz="2400"/>
              <a:t>Original End:   May 24, 2026 | Revised: N/A | Actual End:   N/A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3633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Personal Reflection…</a:t>
            </a:r>
            <a:endParaRPr/>
          </a:p>
        </p:txBody>
      </p:sp>
      <p:sp>
        <p:nvSpPr>
          <p:cNvPr id="1831976632" name="Content Placeholder 2"/>
          <p:cNvSpPr>
            <a:spLocks noGrp="1"/>
          </p:cNvSpPr>
          <p:nvPr>
            <p:ph idx="1"/>
          </p:nvPr>
        </p:nvSpPr>
        <p:spPr bwMode="auto">
          <a:xfrm>
            <a:off x="599089" y="1124608"/>
            <a:ext cx="10993815" cy="4522817"/>
          </a:xfrm>
        </p:spPr>
        <p:txBody>
          <a:bodyPr>
            <a:normAutofit/>
          </a:bodyPr>
          <a:lstStyle/>
          <a:p>
            <a:pPr marL="0" indent="0" lvl="0">
              <a:lnSpc>
                <a:spcPct val="100000"/>
              </a:lnSpc>
              <a:buNone/>
              <a:defRPr/>
            </a:pPr>
            <a:r>
              <a:rPr lang="en-US" sz="2400"/>
              <a:t>Week 1 has been a grounding experience. Defining the business problem forced me to think beyond just "what can I model" and toward "what question actually matters." That shift in framing took more effort than expected, but it feels like the right foundation.</a:t>
            </a:r>
            <a:endParaRPr/>
          </a:p>
          <a:p>
            <a:pPr marL="0" indent="0" lvl="0">
              <a:lnSpc>
                <a:spcPct val="100000"/>
              </a:lnSpc>
              <a:buNone/>
              <a:defRPr/>
            </a:pPr>
            <a:endParaRPr/>
            <a:r>
              <a:rPr lang="en-US" sz="2400"/>
              <a:t>The main thing on my mind is the data. I know the direction I want to go, but without a confirmed dataset, everything else is provisional. I am cautiously optimistic but aware that this uncertainty needs to resolve early before it affects the rest of the project.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6325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Thank You!...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700 Special Projects in Computer Science I Introduction</dc:title>
  <dc:creator>Nicholas Nardi</dc:creator>
  <cp:lastModifiedBy/>
  <cp:revision>46</cp:revision>
  <dcterms:created xsi:type="dcterms:W3CDTF">2022-01-22T15:09:01Z</dcterms:created>
  <dcterms:modified xsi:type="dcterms:W3CDTF">2026-05-02T17:36:28Z</dcterms:modified>
</cp:coreProperties>
</file>